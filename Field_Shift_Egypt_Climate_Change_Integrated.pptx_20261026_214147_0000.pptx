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18288000" cy="10287000"/>
  <p:notesSz cx="6858000" cy="9144000"/>
  <p:embeddedFontLst>
    <p:embeddedFont>
      <p:font typeface="Aptos Bold" charset="1" panose="020B0004020202020204"/>
      <p:regular r:id="rId31"/>
    </p:embeddedFont>
    <p:embeddedFont>
      <p:font typeface="Aptos" charset="1" panose="020B0004020202020204"/>
      <p:regular r:id="rId32"/>
    </p:embeddedFont>
    <p:embeddedFont>
      <p:font typeface="Calibri (MS)" charset="1" panose="020F0502020204030204"/>
      <p:regular r:id="rId33"/>
    </p:embeddedFont>
    <p:embeddedFont>
      <p:font typeface="Calibri (MS) Bold" charset="1" panose="020F0702030404030204"/>
      <p:regular r:id="rId34"/>
    </p:embeddedFont>
    <p:embeddedFont>
      <p:font typeface="Arial" charset="1" panose="020B0604020202020204"/>
      <p:regular r:id="rId35"/>
    </p:embeddedFont>
    <p:embeddedFont>
      <p:font typeface="Arial Bold" charset="1" panose="020B0704020202020204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power.larc.nasa.gov/docs/services/api/temporal/daily/" TargetMode="External" Type="http://schemas.openxmlformats.org/officeDocument/2006/relationships/hyperlink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www.fao.org/land-water/resources/tools/databases/hwsd/en" TargetMode="External" Type="http://schemas.openxmlformats.org/officeDocument/2006/relationships/hyperlink"/><Relationship Id="rId3" Target="https://www.fao.org/soils-portal/soil-survey/soil-maps-and-databases/harmonized-world-soil-database-v12/en/" TargetMode="External" Type="http://schemas.openxmlformats.org/officeDocument/2006/relationships/hyperlink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nsidc.org/data/smap" TargetMode="External" Type="http://schemas.openxmlformats.org/officeDocument/2006/relationships/hyperlink"/><Relationship Id="rId3" Target="https://earth.gsfc.nasa.gov/hydro/data/nasa-usda-global-soil-moisture-data" TargetMode="External" Type="http://schemas.openxmlformats.org/officeDocument/2006/relationships/hyperlink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cb.apps.fao.org/country.jsp?code=EGY&amp;lang=en" TargetMode="External" Type="http://schemas.openxmlformats.org/officeDocument/2006/relationships/hyperlink"/><Relationship Id="rId3" Target="https://www.fao.org/4/S2022E/s2022e07.htm" TargetMode="External" Type="http://schemas.openxmlformats.org/officeDocument/2006/relationships/hyperlink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ladsweb.modaps.eosdis.nasa.gov/missions-and-measurements/products/MOD13Q1" TargetMode="External" Type="http://schemas.openxmlformats.org/officeDocument/2006/relationships/hyperlink"/><Relationship Id="rId3" Target="https://developers.google.com/earth-engine/datasets/catalog/MODIS_061_MOD13Q1" TargetMode="External" Type="http://schemas.openxmlformats.org/officeDocument/2006/relationships/hyperlink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power.larc.nasa.gov/docs/services/api/temporal/daily/" TargetMode="External" Type="http://schemas.openxmlformats.org/officeDocument/2006/relationships/hyperlink"/><Relationship Id="rId3" Target="https://power.larc.nasa.gov/" TargetMode="External" Type="http://schemas.openxmlformats.org/officeDocument/2006/relationships/hyperlink"/><Relationship Id="rId4" Target="https://www.fao.org/land-water/resources/tools/databases/hwsd/en" TargetMode="External" Type="http://schemas.openxmlformats.org/officeDocument/2006/relationships/hyperlink"/><Relationship Id="rId5" Target="https://www.fao.org/soils-portal/soil-survey/soil-maps-and-databases/harmonized-world-soil-database-v12/en/" TargetMode="External" Type="http://schemas.openxmlformats.org/officeDocument/2006/relationships/hyperlink"/><Relationship Id="rId6" Target="https://nsidc.org/data/smap" TargetMode="External" Type="http://schemas.openxmlformats.org/officeDocument/2006/relationships/hyperlink"/><Relationship Id="rId7" Target="https://earth.gsfc.nasa.gov/hydro/data/nasa-usda-global-soil-moisture-data" TargetMode="External" Type="http://schemas.openxmlformats.org/officeDocument/2006/relationships/hyperlink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cb.apps.fao.org/country.jsp?code=EGY&amp;lang=en" TargetMode="External" Type="http://schemas.openxmlformats.org/officeDocument/2006/relationships/hyperlink"/><Relationship Id="rId3" Target="https://www.fao.org/4/S2022E/s2022e07.htm" TargetMode="External" Type="http://schemas.openxmlformats.org/officeDocument/2006/relationships/hyperlink"/><Relationship Id="rId4" Target="https://www.fao.org/4/s2022e/s2022e02.htm" TargetMode="External" Type="http://schemas.openxmlformats.org/officeDocument/2006/relationships/hyperlink"/><Relationship Id="rId5" Target="https://ladsweb.modaps.eosdis.nasa.gov/missions-and-measurements/products/MOD13Q1" TargetMode="External" Type="http://schemas.openxmlformats.org/officeDocument/2006/relationships/hyperlink"/><Relationship Id="rId6" Target="https://developers.google.com/earth-engine/datasets/catalog/MODIS_061_MOD13Q1" TargetMode="External" Type="http://schemas.openxmlformats.org/officeDocument/2006/relationships/hyperlink"/><Relationship Id="rId7" Target="https://cb.apps.fao.org/country/EGY/pdf/EGY.pdf" TargetMode="External" Type="http://schemas.openxmlformats.org/officeDocument/2006/relationships/hyperlink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C1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491323" y="-823608"/>
            <a:ext cx="6588824" cy="6588824"/>
            <a:chOff x="0" y="0"/>
            <a:chExt cx="8785098" cy="87850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785098" cy="8785098"/>
            </a:xfrm>
            <a:custGeom>
              <a:avLst/>
              <a:gdLst/>
              <a:ahLst/>
              <a:cxnLst/>
              <a:rect r="r" b="b" t="t" l="l"/>
              <a:pathLst>
                <a:path h="8785098" w="8785098">
                  <a:moveTo>
                    <a:pt x="0" y="4392549"/>
                  </a:moveTo>
                  <a:cubicBezTo>
                    <a:pt x="0" y="1966595"/>
                    <a:pt x="1966595" y="0"/>
                    <a:pt x="4392549" y="0"/>
                  </a:cubicBezTo>
                  <a:cubicBezTo>
                    <a:pt x="6818503" y="0"/>
                    <a:pt x="8785098" y="1966595"/>
                    <a:pt x="8785098" y="4392549"/>
                  </a:cubicBezTo>
                  <a:cubicBezTo>
                    <a:pt x="8785098" y="6818503"/>
                    <a:pt x="6818503" y="8785098"/>
                    <a:pt x="4392549" y="8785098"/>
                  </a:cubicBezTo>
                  <a:cubicBezTo>
                    <a:pt x="1966595" y="8785098"/>
                    <a:pt x="0" y="6818503"/>
                    <a:pt x="0" y="4392549"/>
                  </a:cubicBezTo>
                  <a:close/>
                </a:path>
              </a:pathLst>
            </a:custGeom>
            <a:solidFill>
              <a:srgbClr val="14304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383558" y="68637"/>
            <a:ext cx="4804353" cy="4804353"/>
            <a:chOff x="0" y="0"/>
            <a:chExt cx="6405804" cy="64058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405880" cy="6405880"/>
            </a:xfrm>
            <a:custGeom>
              <a:avLst/>
              <a:gdLst/>
              <a:ahLst/>
              <a:cxnLst/>
              <a:rect r="r" b="b" t="t" l="l"/>
              <a:pathLst>
                <a:path h="6405880" w="6405880">
                  <a:moveTo>
                    <a:pt x="0" y="3202940"/>
                  </a:moveTo>
                  <a:cubicBezTo>
                    <a:pt x="0" y="1433957"/>
                    <a:pt x="1433957" y="0"/>
                    <a:pt x="3202940" y="0"/>
                  </a:cubicBezTo>
                  <a:cubicBezTo>
                    <a:pt x="4971923" y="0"/>
                    <a:pt x="6405880" y="1433957"/>
                    <a:pt x="6405880" y="3202940"/>
                  </a:cubicBezTo>
                  <a:cubicBezTo>
                    <a:pt x="6405880" y="4971923"/>
                    <a:pt x="4971923" y="6405880"/>
                    <a:pt x="3202940" y="6405880"/>
                  </a:cubicBezTo>
                  <a:cubicBezTo>
                    <a:pt x="1433957" y="6405880"/>
                    <a:pt x="0" y="4971796"/>
                    <a:pt x="0" y="3202940"/>
                  </a:cubicBezTo>
                  <a:close/>
                </a:path>
              </a:pathLst>
            </a:custGeom>
            <a:solidFill>
              <a:srgbClr val="1FBEA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207157" y="892235"/>
            <a:ext cx="3157147" cy="3157147"/>
            <a:chOff x="0" y="0"/>
            <a:chExt cx="4209529" cy="42095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09542" cy="4209542"/>
            </a:xfrm>
            <a:custGeom>
              <a:avLst/>
              <a:gdLst/>
              <a:ahLst/>
              <a:cxnLst/>
              <a:rect r="r" b="b" t="t" l="l"/>
              <a:pathLst>
                <a:path h="4209542" w="4209542">
                  <a:moveTo>
                    <a:pt x="0" y="2104771"/>
                  </a:moveTo>
                  <a:cubicBezTo>
                    <a:pt x="0" y="942340"/>
                    <a:pt x="942340" y="0"/>
                    <a:pt x="2104771" y="0"/>
                  </a:cubicBezTo>
                  <a:cubicBezTo>
                    <a:pt x="3267202" y="0"/>
                    <a:pt x="4209542" y="942340"/>
                    <a:pt x="4209542" y="2104771"/>
                  </a:cubicBezTo>
                  <a:cubicBezTo>
                    <a:pt x="4209542" y="3267202"/>
                    <a:pt x="3267202" y="4209542"/>
                    <a:pt x="2104771" y="4209542"/>
                  </a:cubicBezTo>
                  <a:cubicBezTo>
                    <a:pt x="942340" y="4209542"/>
                    <a:pt x="0" y="3267202"/>
                    <a:pt x="0" y="2104771"/>
                  </a:cubicBezTo>
                  <a:close/>
                </a:path>
              </a:pathLst>
            </a:custGeom>
            <a:solidFill>
              <a:srgbClr val="0C1D34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53001" y="1125188"/>
            <a:ext cx="10322585" cy="425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1FBEA6"/>
                </a:solidFill>
                <a:latin typeface="Aptos Bold"/>
                <a:ea typeface="Aptos Bold"/>
                <a:cs typeface="Aptos Bold"/>
                <a:sym typeface="Aptos Bold"/>
              </a:rPr>
              <a:t>NASA SPACE APPS CHALLENGE 2026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53001" y="2164223"/>
            <a:ext cx="10185311" cy="1308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FIELD SHIFT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80452" y="3811429"/>
            <a:ext cx="9773517" cy="690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3"/>
              </a:lnSpc>
            </a:pPr>
            <a:r>
              <a:rPr lang="en-US" sz="3752" b="true">
                <a:solidFill>
                  <a:srgbClr val="B4EFDB"/>
                </a:solidFill>
                <a:latin typeface="Aptos Bold"/>
                <a:ea typeface="Aptos Bold"/>
                <a:cs typeface="Aptos Bold"/>
                <a:sym typeface="Aptos Bold"/>
              </a:rPr>
              <a:t>Egypt Data Research Plan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80452" y="4909566"/>
            <a:ext cx="9498978" cy="1308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A practical, source-backed data roadmap for an agricultural decision-support prototype.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125588" y="7206529"/>
            <a:ext cx="6588824" cy="851059"/>
            <a:chOff x="0" y="0"/>
            <a:chExt cx="8785098" cy="113474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785098" cy="1134745"/>
            </a:xfrm>
            <a:custGeom>
              <a:avLst/>
              <a:gdLst/>
              <a:ahLst/>
              <a:cxnLst/>
              <a:rect r="r" b="b" t="t" l="l"/>
              <a:pathLst>
                <a:path h="1134745" w="8785098">
                  <a:moveTo>
                    <a:pt x="0" y="189103"/>
                  </a:moveTo>
                  <a:cubicBezTo>
                    <a:pt x="0" y="84709"/>
                    <a:pt x="84709" y="0"/>
                    <a:pt x="189103" y="0"/>
                  </a:cubicBezTo>
                  <a:lnTo>
                    <a:pt x="8595995" y="0"/>
                  </a:lnTo>
                  <a:cubicBezTo>
                    <a:pt x="8700388" y="0"/>
                    <a:pt x="8785098" y="84709"/>
                    <a:pt x="8785098" y="189103"/>
                  </a:cubicBezTo>
                  <a:lnTo>
                    <a:pt x="8785098" y="945642"/>
                  </a:lnTo>
                  <a:cubicBezTo>
                    <a:pt x="8785098" y="1050036"/>
                    <a:pt x="8700388" y="1134745"/>
                    <a:pt x="8595995" y="1134745"/>
                  </a:cubicBezTo>
                  <a:lnTo>
                    <a:pt x="189103" y="1134745"/>
                  </a:lnTo>
                  <a:cubicBezTo>
                    <a:pt x="84709" y="1134745"/>
                    <a:pt x="0" y="1050036"/>
                    <a:pt x="0" y="945642"/>
                  </a:cubicBezTo>
                  <a:close/>
                </a:path>
              </a:pathLst>
            </a:custGeom>
            <a:solidFill>
              <a:srgbClr val="14304B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454991" y="7449007"/>
            <a:ext cx="5930027" cy="279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F2B74A"/>
                </a:solidFill>
                <a:latin typeface="Aptos Bold"/>
                <a:ea typeface="Aptos Bold"/>
                <a:cs typeface="Aptos Bold"/>
                <a:sym typeface="Aptos Bold"/>
              </a:rPr>
              <a:t>PILOT AREA  •  DAKAHLIA, EGYPT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80452" y="9302115"/>
            <a:ext cx="1059711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9FB4C5"/>
                </a:solidFill>
                <a:latin typeface="Aptos"/>
                <a:ea typeface="Aptos"/>
                <a:cs typeface="Aptos"/>
                <a:sym typeface="Aptos"/>
              </a:rPr>
              <a:t>Prepared for the Field Shift project team  |  kemet Nova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C1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7099" y="517007"/>
            <a:ext cx="16362340" cy="622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3"/>
              </a:lnSpc>
            </a:pPr>
            <a:r>
              <a:rPr lang="en-US" sz="3752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01  |  Executive Summary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33421" y="1345216"/>
            <a:ext cx="1235402" cy="75495"/>
            <a:chOff x="0" y="0"/>
            <a:chExt cx="1647203" cy="1006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47190" cy="100711"/>
            </a:xfrm>
            <a:custGeom>
              <a:avLst/>
              <a:gdLst/>
              <a:ahLst/>
              <a:cxnLst/>
              <a:rect r="r" b="b" t="t" l="l"/>
              <a:pathLst>
                <a:path h="100711" w="1647190">
                  <a:moveTo>
                    <a:pt x="0" y="0"/>
                  </a:moveTo>
                  <a:lnTo>
                    <a:pt x="1647190" y="0"/>
                  </a:lnTo>
                  <a:lnTo>
                    <a:pt x="1647190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1FBEA6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988285" y="1573968"/>
            <a:ext cx="16362340" cy="416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9FB4C5"/>
                </a:solidFill>
                <a:latin typeface="Aptos"/>
                <a:ea typeface="Aptos"/>
                <a:cs typeface="Aptos"/>
                <a:sym typeface="Aptos"/>
              </a:rPr>
              <a:t>Start small: build a usable data pipeline before adding every possible dataset.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664197" y="9800482"/>
            <a:ext cx="645243" cy="220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9FB4C5"/>
                </a:solidFill>
                <a:latin typeface="Aptos"/>
                <a:ea typeface="Aptos"/>
                <a:cs typeface="Aptos"/>
                <a:sym typeface="Aptos"/>
              </a:rPr>
              <a:t>02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60872" y="2402176"/>
            <a:ext cx="5284784" cy="2813980"/>
            <a:chOff x="0" y="0"/>
            <a:chExt cx="7046379" cy="375197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046341" cy="3751961"/>
            </a:xfrm>
            <a:custGeom>
              <a:avLst/>
              <a:gdLst/>
              <a:ahLst/>
              <a:cxnLst/>
              <a:rect r="r" b="b" t="t" l="l"/>
              <a:pathLst>
                <a:path h="3751961" w="7046341">
                  <a:moveTo>
                    <a:pt x="0" y="625348"/>
                  </a:moveTo>
                  <a:cubicBezTo>
                    <a:pt x="0" y="280035"/>
                    <a:pt x="280035" y="0"/>
                    <a:pt x="625348" y="0"/>
                  </a:cubicBezTo>
                  <a:lnTo>
                    <a:pt x="6420993" y="0"/>
                  </a:lnTo>
                  <a:cubicBezTo>
                    <a:pt x="6766306" y="0"/>
                    <a:pt x="7046341" y="280035"/>
                    <a:pt x="7046341" y="625348"/>
                  </a:cubicBezTo>
                  <a:lnTo>
                    <a:pt x="7046341" y="3126613"/>
                  </a:lnTo>
                  <a:cubicBezTo>
                    <a:pt x="7046341" y="3471926"/>
                    <a:pt x="6766306" y="3751961"/>
                    <a:pt x="6420993" y="3751961"/>
                  </a:cubicBezTo>
                  <a:lnTo>
                    <a:pt x="625348" y="3751961"/>
                  </a:lnTo>
                  <a:cubicBezTo>
                    <a:pt x="280035" y="3751961"/>
                    <a:pt x="0" y="3472053"/>
                    <a:pt x="0" y="3126613"/>
                  </a:cubicBezTo>
                  <a:close/>
                </a:path>
              </a:pathLst>
            </a:custGeom>
            <a:solidFill>
              <a:srgbClr val="14304B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960872" y="2566902"/>
            <a:ext cx="75495" cy="2484539"/>
            <a:chOff x="0" y="0"/>
            <a:chExt cx="100660" cy="331271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0711" cy="3312668"/>
            </a:xfrm>
            <a:custGeom>
              <a:avLst/>
              <a:gdLst/>
              <a:ahLst/>
              <a:cxnLst/>
              <a:rect r="r" b="b" t="t" l="l"/>
              <a:pathLst>
                <a:path h="3312668" w="100711">
                  <a:moveTo>
                    <a:pt x="0" y="0"/>
                  </a:moveTo>
                  <a:lnTo>
                    <a:pt x="100711" y="0"/>
                  </a:lnTo>
                  <a:lnTo>
                    <a:pt x="100711" y="3312668"/>
                  </a:lnTo>
                  <a:lnTo>
                    <a:pt x="0" y="3312668"/>
                  </a:lnTo>
                  <a:close/>
                </a:path>
              </a:pathLst>
            </a:custGeom>
            <a:solidFill>
              <a:srgbClr val="1FBEA6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290266" y="2630929"/>
            <a:ext cx="4694625" cy="416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01  Climate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81122" y="3184579"/>
            <a:ext cx="468088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NASA POWER daily temperature, rainfall and solar radiation.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520196" y="2402176"/>
            <a:ext cx="5284784" cy="2813980"/>
            <a:chOff x="0" y="0"/>
            <a:chExt cx="7046379" cy="375197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046341" cy="3751961"/>
            </a:xfrm>
            <a:custGeom>
              <a:avLst/>
              <a:gdLst/>
              <a:ahLst/>
              <a:cxnLst/>
              <a:rect r="r" b="b" t="t" l="l"/>
              <a:pathLst>
                <a:path h="3751961" w="7046341">
                  <a:moveTo>
                    <a:pt x="0" y="625348"/>
                  </a:moveTo>
                  <a:cubicBezTo>
                    <a:pt x="0" y="280035"/>
                    <a:pt x="280035" y="0"/>
                    <a:pt x="625348" y="0"/>
                  </a:cubicBezTo>
                  <a:lnTo>
                    <a:pt x="6420993" y="0"/>
                  </a:lnTo>
                  <a:cubicBezTo>
                    <a:pt x="6766306" y="0"/>
                    <a:pt x="7046341" y="280035"/>
                    <a:pt x="7046341" y="625348"/>
                  </a:cubicBezTo>
                  <a:lnTo>
                    <a:pt x="7046341" y="3126613"/>
                  </a:lnTo>
                  <a:cubicBezTo>
                    <a:pt x="7046341" y="3471926"/>
                    <a:pt x="6766306" y="3751961"/>
                    <a:pt x="6420993" y="3751961"/>
                  </a:cubicBezTo>
                  <a:lnTo>
                    <a:pt x="625348" y="3751961"/>
                  </a:lnTo>
                  <a:cubicBezTo>
                    <a:pt x="280035" y="3751961"/>
                    <a:pt x="0" y="3472053"/>
                    <a:pt x="0" y="3126613"/>
                  </a:cubicBezTo>
                  <a:close/>
                </a:path>
              </a:pathLst>
            </a:custGeom>
            <a:solidFill>
              <a:srgbClr val="14304B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520196" y="2566902"/>
            <a:ext cx="75495" cy="2484539"/>
            <a:chOff x="0" y="0"/>
            <a:chExt cx="100660" cy="331271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0711" cy="3312668"/>
            </a:xfrm>
            <a:custGeom>
              <a:avLst/>
              <a:gdLst/>
              <a:ahLst/>
              <a:cxnLst/>
              <a:rect r="r" b="b" t="t" l="l"/>
              <a:pathLst>
                <a:path h="3312668" w="100711">
                  <a:moveTo>
                    <a:pt x="0" y="0"/>
                  </a:moveTo>
                  <a:lnTo>
                    <a:pt x="100711" y="0"/>
                  </a:lnTo>
                  <a:lnTo>
                    <a:pt x="100711" y="3312668"/>
                  </a:lnTo>
                  <a:lnTo>
                    <a:pt x="0" y="3312668"/>
                  </a:lnTo>
                  <a:close/>
                </a:path>
              </a:pathLst>
            </a:custGeom>
            <a:solidFill>
              <a:srgbClr val="F2B74A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849589" y="2630929"/>
            <a:ext cx="4694625" cy="416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02  Soil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840445" y="3184579"/>
            <a:ext cx="4680880" cy="1917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FAO/IIASA HWSD soil properties.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Regional context, not a substitute for a farm soil test.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079519" y="2402176"/>
            <a:ext cx="5284784" cy="2813980"/>
            <a:chOff x="0" y="0"/>
            <a:chExt cx="7046379" cy="375197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046341" cy="3751961"/>
            </a:xfrm>
            <a:custGeom>
              <a:avLst/>
              <a:gdLst/>
              <a:ahLst/>
              <a:cxnLst/>
              <a:rect r="r" b="b" t="t" l="l"/>
              <a:pathLst>
                <a:path h="3751961" w="7046341">
                  <a:moveTo>
                    <a:pt x="0" y="625348"/>
                  </a:moveTo>
                  <a:cubicBezTo>
                    <a:pt x="0" y="280035"/>
                    <a:pt x="280035" y="0"/>
                    <a:pt x="625348" y="0"/>
                  </a:cubicBezTo>
                  <a:lnTo>
                    <a:pt x="6420993" y="0"/>
                  </a:lnTo>
                  <a:cubicBezTo>
                    <a:pt x="6766306" y="0"/>
                    <a:pt x="7046341" y="280035"/>
                    <a:pt x="7046341" y="625348"/>
                  </a:cubicBezTo>
                  <a:lnTo>
                    <a:pt x="7046341" y="3126613"/>
                  </a:lnTo>
                  <a:cubicBezTo>
                    <a:pt x="7046341" y="3471926"/>
                    <a:pt x="6766306" y="3751961"/>
                    <a:pt x="6420993" y="3751961"/>
                  </a:cubicBezTo>
                  <a:lnTo>
                    <a:pt x="625348" y="3751961"/>
                  </a:lnTo>
                  <a:cubicBezTo>
                    <a:pt x="280035" y="3751961"/>
                    <a:pt x="0" y="3472053"/>
                    <a:pt x="0" y="3126613"/>
                  </a:cubicBezTo>
                  <a:close/>
                </a:path>
              </a:pathLst>
            </a:custGeom>
            <a:solidFill>
              <a:srgbClr val="14304B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2079519" y="2566902"/>
            <a:ext cx="75495" cy="2484539"/>
            <a:chOff x="0" y="0"/>
            <a:chExt cx="100660" cy="331271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0711" cy="3312668"/>
            </a:xfrm>
            <a:custGeom>
              <a:avLst/>
              <a:gdLst/>
              <a:ahLst/>
              <a:cxnLst/>
              <a:rect r="r" b="b" t="t" l="l"/>
              <a:pathLst>
                <a:path h="3312668" w="100711">
                  <a:moveTo>
                    <a:pt x="0" y="0"/>
                  </a:moveTo>
                  <a:lnTo>
                    <a:pt x="100711" y="0"/>
                  </a:lnTo>
                  <a:lnTo>
                    <a:pt x="100711" y="3312668"/>
                  </a:lnTo>
                  <a:lnTo>
                    <a:pt x="0" y="3312668"/>
                  </a:lnTo>
                  <a:close/>
                </a:path>
              </a:pathLst>
            </a:custGeom>
            <a:solidFill>
              <a:srgbClr val="B4EFDB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2408913" y="2630929"/>
            <a:ext cx="4694625" cy="416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03  Crop references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399769" y="3184579"/>
            <a:ext cx="4680880" cy="1917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FAO crop-water guidance + Egypt crop calendar.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Record assumptions, units and source for every value.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21638" y="5801801"/>
            <a:ext cx="15676007" cy="485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</a:pPr>
            <a:r>
              <a:rPr lang="en-US" sz="2852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Recommended prototype output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21638" y="6488135"/>
            <a:ext cx="15676007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Compare two candidate crop-rotation strategies across seasons using climate history, known soil properties, crop requirements and farmer priorities. Explain why each strategy scores differently; do not present it as a guaranteed yield forecast.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C1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7099" y="517007"/>
            <a:ext cx="16362340" cy="622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3"/>
              </a:lnSpc>
            </a:pPr>
            <a:r>
              <a:rPr lang="en-US" sz="3752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02  |  Pilot Area: Dakahlia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33421" y="1345216"/>
            <a:ext cx="1235402" cy="75495"/>
            <a:chOff x="0" y="0"/>
            <a:chExt cx="1647203" cy="1006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47190" cy="100711"/>
            </a:xfrm>
            <a:custGeom>
              <a:avLst/>
              <a:gdLst/>
              <a:ahLst/>
              <a:cxnLst/>
              <a:rect r="r" b="b" t="t" l="l"/>
              <a:pathLst>
                <a:path h="100711" w="1647190">
                  <a:moveTo>
                    <a:pt x="0" y="0"/>
                  </a:moveTo>
                  <a:lnTo>
                    <a:pt x="1647190" y="0"/>
                  </a:lnTo>
                  <a:lnTo>
                    <a:pt x="1647190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1FBEA6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988285" y="1573968"/>
            <a:ext cx="16362340" cy="416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9FB4C5"/>
                </a:solidFill>
                <a:latin typeface="Aptos"/>
                <a:ea typeface="Aptos"/>
                <a:cs typeface="Aptos"/>
                <a:sym typeface="Aptos"/>
              </a:rPr>
              <a:t>A practical first test area in the Nile Delta; exact farm coordinates must be confirmed.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664197" y="9800482"/>
            <a:ext cx="645243" cy="220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9FB4C5"/>
                </a:solidFill>
                <a:latin typeface="Aptos"/>
                <a:ea typeface="Aptos"/>
                <a:cs typeface="Aptos"/>
                <a:sym typeface="Aptos"/>
              </a:rPr>
              <a:t>03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9500" y="2470814"/>
            <a:ext cx="7892863" cy="3019882"/>
            <a:chOff x="0" y="0"/>
            <a:chExt cx="10523817" cy="402651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523855" cy="4026535"/>
            </a:xfrm>
            <a:custGeom>
              <a:avLst/>
              <a:gdLst/>
              <a:ahLst/>
              <a:cxnLst/>
              <a:rect r="r" b="b" t="t" l="l"/>
              <a:pathLst>
                <a:path h="4026535" w="10523855">
                  <a:moveTo>
                    <a:pt x="0" y="671068"/>
                  </a:moveTo>
                  <a:cubicBezTo>
                    <a:pt x="0" y="300482"/>
                    <a:pt x="300482" y="0"/>
                    <a:pt x="671068" y="0"/>
                  </a:cubicBezTo>
                  <a:lnTo>
                    <a:pt x="9852787" y="0"/>
                  </a:lnTo>
                  <a:cubicBezTo>
                    <a:pt x="10223373" y="0"/>
                    <a:pt x="10523855" y="300482"/>
                    <a:pt x="10523855" y="671068"/>
                  </a:cubicBezTo>
                  <a:lnTo>
                    <a:pt x="10523855" y="3355467"/>
                  </a:lnTo>
                  <a:cubicBezTo>
                    <a:pt x="10523855" y="3726053"/>
                    <a:pt x="10223373" y="4026535"/>
                    <a:pt x="9852787" y="4026535"/>
                  </a:cubicBezTo>
                  <a:lnTo>
                    <a:pt x="671068" y="4026535"/>
                  </a:lnTo>
                  <a:cubicBezTo>
                    <a:pt x="300482" y="4026535"/>
                    <a:pt x="0" y="3726053"/>
                    <a:pt x="0" y="3355467"/>
                  </a:cubicBezTo>
                  <a:close/>
                </a:path>
              </a:pathLst>
            </a:custGeom>
            <a:solidFill>
              <a:srgbClr val="14304B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29500" y="2635529"/>
            <a:ext cx="75495" cy="2690441"/>
            <a:chOff x="0" y="0"/>
            <a:chExt cx="100660" cy="358725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0711" cy="3587242"/>
            </a:xfrm>
            <a:custGeom>
              <a:avLst/>
              <a:gdLst/>
              <a:ahLst/>
              <a:cxnLst/>
              <a:rect r="r" b="b" t="t" l="l"/>
              <a:pathLst>
                <a:path h="3587242" w="100711">
                  <a:moveTo>
                    <a:pt x="0" y="0"/>
                  </a:moveTo>
                  <a:lnTo>
                    <a:pt x="100711" y="0"/>
                  </a:lnTo>
                  <a:lnTo>
                    <a:pt x="100711" y="3587242"/>
                  </a:lnTo>
                  <a:lnTo>
                    <a:pt x="0" y="3587242"/>
                  </a:lnTo>
                  <a:close/>
                </a:path>
              </a:pathLst>
            </a:custGeom>
            <a:solidFill>
              <a:srgbClr val="1FBEA6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358903" y="2699556"/>
            <a:ext cx="7302703" cy="416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Pilot location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49759" y="3253216"/>
            <a:ext cx="7288959" cy="2123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Use a representative point near Mansoura only for initial API testing.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Illustrative coordinates: 31.04° N, 31.38° E.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Replace with the actual farm/field point before interpreting results.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334176" y="2470814"/>
            <a:ext cx="7892863" cy="3019882"/>
            <a:chOff x="0" y="0"/>
            <a:chExt cx="10523817" cy="402651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523855" cy="4026535"/>
            </a:xfrm>
            <a:custGeom>
              <a:avLst/>
              <a:gdLst/>
              <a:ahLst/>
              <a:cxnLst/>
              <a:rect r="r" b="b" t="t" l="l"/>
              <a:pathLst>
                <a:path h="4026535" w="10523855">
                  <a:moveTo>
                    <a:pt x="0" y="671068"/>
                  </a:moveTo>
                  <a:cubicBezTo>
                    <a:pt x="0" y="300482"/>
                    <a:pt x="300482" y="0"/>
                    <a:pt x="671068" y="0"/>
                  </a:cubicBezTo>
                  <a:lnTo>
                    <a:pt x="9852787" y="0"/>
                  </a:lnTo>
                  <a:cubicBezTo>
                    <a:pt x="10223373" y="0"/>
                    <a:pt x="10523855" y="300482"/>
                    <a:pt x="10523855" y="671068"/>
                  </a:cubicBezTo>
                  <a:lnTo>
                    <a:pt x="10523855" y="3355467"/>
                  </a:lnTo>
                  <a:cubicBezTo>
                    <a:pt x="10523855" y="3726053"/>
                    <a:pt x="10223373" y="4026535"/>
                    <a:pt x="9852787" y="4026535"/>
                  </a:cubicBezTo>
                  <a:lnTo>
                    <a:pt x="671068" y="4026535"/>
                  </a:lnTo>
                  <a:cubicBezTo>
                    <a:pt x="300482" y="4026535"/>
                    <a:pt x="0" y="3726053"/>
                    <a:pt x="0" y="3355467"/>
                  </a:cubicBezTo>
                  <a:close/>
                </a:path>
              </a:pathLst>
            </a:custGeom>
            <a:solidFill>
              <a:srgbClr val="14304B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334176" y="2635529"/>
            <a:ext cx="75495" cy="2690441"/>
            <a:chOff x="0" y="0"/>
            <a:chExt cx="100660" cy="358725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0711" cy="3587242"/>
            </a:xfrm>
            <a:custGeom>
              <a:avLst/>
              <a:gdLst/>
              <a:ahLst/>
              <a:cxnLst/>
              <a:rect r="r" b="b" t="t" l="l"/>
              <a:pathLst>
                <a:path h="3587242" w="100711">
                  <a:moveTo>
                    <a:pt x="0" y="0"/>
                  </a:moveTo>
                  <a:lnTo>
                    <a:pt x="100711" y="0"/>
                  </a:lnTo>
                  <a:lnTo>
                    <a:pt x="100711" y="3587242"/>
                  </a:lnTo>
                  <a:lnTo>
                    <a:pt x="0" y="3587242"/>
                  </a:lnTo>
                  <a:close/>
                </a:path>
              </a:pathLst>
            </a:custGeom>
            <a:solidFill>
              <a:srgbClr val="F2B74A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663570" y="2699556"/>
            <a:ext cx="7302703" cy="416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Why start here?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654426" y="3253216"/>
            <a:ext cx="7288959" cy="2123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Keeps the prototype grounded in one Egyptian context.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Allows testing of data retrieval, joining and comparison.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One point does not represent every soil or farm in Dakahlia.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21638" y="6144968"/>
            <a:ext cx="15950536" cy="485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Location rules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81122" y="6753530"/>
            <a:ext cx="15977968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Store latitude, longitude, coordinate reference system and selection date.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Use a farm boundary or multiple soil samples if available; one satellite pixel may not represent the whole field.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Record whether each source is point-based, gridded or field-measured.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C1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7099" y="517007"/>
            <a:ext cx="16362340" cy="622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3"/>
              </a:lnSpc>
            </a:pPr>
            <a:r>
              <a:rPr lang="en-US" sz="3752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03  |  Data Architecture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33421" y="1345216"/>
            <a:ext cx="1235402" cy="75495"/>
            <a:chOff x="0" y="0"/>
            <a:chExt cx="1647203" cy="1006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47190" cy="100711"/>
            </a:xfrm>
            <a:custGeom>
              <a:avLst/>
              <a:gdLst/>
              <a:ahLst/>
              <a:cxnLst/>
              <a:rect r="r" b="b" t="t" l="l"/>
              <a:pathLst>
                <a:path h="100711" w="1647190">
                  <a:moveTo>
                    <a:pt x="0" y="0"/>
                  </a:moveTo>
                  <a:lnTo>
                    <a:pt x="1647190" y="0"/>
                  </a:lnTo>
                  <a:lnTo>
                    <a:pt x="1647190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1FBEA6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988285" y="1573968"/>
            <a:ext cx="16362340" cy="416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9FB4C5"/>
                </a:solidFill>
                <a:latin typeface="Aptos"/>
                <a:ea typeface="Aptos"/>
                <a:cs typeface="Aptos"/>
                <a:sym typeface="Aptos"/>
              </a:rPr>
              <a:t>The minimum useful pipeline for a crop-rotation decision-support tool.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664197" y="9800482"/>
            <a:ext cx="645243" cy="220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9FB4C5"/>
                </a:solidFill>
                <a:latin typeface="Aptos"/>
                <a:ea typeface="Aptos"/>
                <a:cs typeface="Aptos"/>
                <a:sym typeface="Aptos"/>
              </a:rPr>
              <a:t>04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54971" y="2882608"/>
            <a:ext cx="3088510" cy="2745343"/>
            <a:chOff x="0" y="0"/>
            <a:chExt cx="4118013" cy="36604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117975" cy="3660521"/>
            </a:xfrm>
            <a:custGeom>
              <a:avLst/>
              <a:gdLst/>
              <a:ahLst/>
              <a:cxnLst/>
              <a:rect r="r" b="b" t="t" l="l"/>
              <a:pathLst>
                <a:path h="3660521" w="4117975">
                  <a:moveTo>
                    <a:pt x="0" y="610108"/>
                  </a:moveTo>
                  <a:cubicBezTo>
                    <a:pt x="0" y="273177"/>
                    <a:pt x="273177" y="0"/>
                    <a:pt x="610108" y="0"/>
                  </a:cubicBezTo>
                  <a:lnTo>
                    <a:pt x="3507867" y="0"/>
                  </a:lnTo>
                  <a:cubicBezTo>
                    <a:pt x="3844798" y="0"/>
                    <a:pt x="4117975" y="273177"/>
                    <a:pt x="4117975" y="610108"/>
                  </a:cubicBezTo>
                  <a:lnTo>
                    <a:pt x="4117975" y="3050413"/>
                  </a:lnTo>
                  <a:cubicBezTo>
                    <a:pt x="4117975" y="3387344"/>
                    <a:pt x="3844798" y="3660521"/>
                    <a:pt x="3507867" y="3660521"/>
                  </a:cubicBezTo>
                  <a:lnTo>
                    <a:pt x="610108" y="3660521"/>
                  </a:lnTo>
                  <a:cubicBezTo>
                    <a:pt x="273177" y="3660521"/>
                    <a:pt x="0" y="3387344"/>
                    <a:pt x="0" y="3050413"/>
                  </a:cubicBezTo>
                  <a:close/>
                </a:path>
              </a:pathLst>
            </a:custGeom>
            <a:solidFill>
              <a:srgbClr val="14304B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947099" y="3252835"/>
            <a:ext cx="2704252" cy="357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 b="true">
                <a:solidFill>
                  <a:srgbClr val="1FBEA6"/>
                </a:solidFill>
                <a:latin typeface="Aptos Bold"/>
                <a:ea typeface="Aptos Bold"/>
                <a:cs typeface="Aptos Bold"/>
                <a:sym typeface="Aptos Bold"/>
              </a:rPr>
              <a:t>1. COLLECT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74550" y="3948694"/>
            <a:ext cx="2635615" cy="1171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F8FAFC"/>
                </a:solidFill>
                <a:latin typeface="Aptos"/>
                <a:ea typeface="Aptos"/>
                <a:cs typeface="Aptos"/>
                <a:sym typeface="Aptos"/>
              </a:rPr>
              <a:t>NASA POWER</a:t>
            </a:r>
          </a:p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F8FAFC"/>
                </a:solidFill>
                <a:latin typeface="Aptos"/>
                <a:ea typeface="Aptos"/>
                <a:cs typeface="Aptos"/>
                <a:sym typeface="Aptos"/>
              </a:rPr>
              <a:t>FAO crop references</a:t>
            </a:r>
          </a:p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F8FAFC"/>
                </a:solidFill>
                <a:latin typeface="Aptos"/>
                <a:ea typeface="Aptos"/>
                <a:cs typeface="Aptos"/>
                <a:sym typeface="Aptos"/>
              </a:rPr>
              <a:t>HWSD soil data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925795" y="3948694"/>
            <a:ext cx="233439" cy="416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3"/>
              </a:lnSpc>
            </a:pPr>
            <a:r>
              <a:rPr lang="en-US" sz="3752" b="true">
                <a:solidFill>
                  <a:srgbClr val="B4EFDB"/>
                </a:solidFill>
                <a:latin typeface="Aptos Bold"/>
                <a:ea typeface="Aptos Bold"/>
                <a:cs typeface="Aptos Bold"/>
                <a:sym typeface="Aptos Bold"/>
              </a:rPr>
              <a:t>›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4255284" y="2882608"/>
            <a:ext cx="3088510" cy="2745343"/>
            <a:chOff x="0" y="0"/>
            <a:chExt cx="4118013" cy="366045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117975" cy="3660521"/>
            </a:xfrm>
            <a:custGeom>
              <a:avLst/>
              <a:gdLst/>
              <a:ahLst/>
              <a:cxnLst/>
              <a:rect r="r" b="b" t="t" l="l"/>
              <a:pathLst>
                <a:path h="3660521" w="4117975">
                  <a:moveTo>
                    <a:pt x="0" y="610108"/>
                  </a:moveTo>
                  <a:cubicBezTo>
                    <a:pt x="0" y="273177"/>
                    <a:pt x="273177" y="0"/>
                    <a:pt x="610108" y="0"/>
                  </a:cubicBezTo>
                  <a:lnTo>
                    <a:pt x="3507867" y="0"/>
                  </a:lnTo>
                  <a:cubicBezTo>
                    <a:pt x="3844798" y="0"/>
                    <a:pt x="4117975" y="273177"/>
                    <a:pt x="4117975" y="610108"/>
                  </a:cubicBezTo>
                  <a:lnTo>
                    <a:pt x="4117975" y="3050413"/>
                  </a:lnTo>
                  <a:cubicBezTo>
                    <a:pt x="4117975" y="3387344"/>
                    <a:pt x="3844798" y="3660521"/>
                    <a:pt x="3507867" y="3660521"/>
                  </a:cubicBezTo>
                  <a:lnTo>
                    <a:pt x="610108" y="3660521"/>
                  </a:lnTo>
                  <a:cubicBezTo>
                    <a:pt x="273177" y="3660521"/>
                    <a:pt x="0" y="3387344"/>
                    <a:pt x="0" y="3050413"/>
                  </a:cubicBezTo>
                  <a:close/>
                </a:path>
              </a:pathLst>
            </a:custGeom>
            <a:solidFill>
              <a:srgbClr val="14304B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4447413" y="3252835"/>
            <a:ext cx="2704252" cy="357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 b="true">
                <a:solidFill>
                  <a:srgbClr val="1FBEA6"/>
                </a:solidFill>
                <a:latin typeface="Aptos Bold"/>
                <a:ea typeface="Aptos Bold"/>
                <a:cs typeface="Aptos Bold"/>
                <a:sym typeface="Aptos Bold"/>
              </a:rPr>
              <a:t>2. VALIDATE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474874" y="3948694"/>
            <a:ext cx="2635615" cy="1171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F8FAFC"/>
                </a:solidFill>
                <a:latin typeface="Aptos"/>
                <a:ea typeface="Aptos"/>
                <a:cs typeface="Aptos"/>
                <a:sym typeface="Aptos"/>
              </a:rPr>
              <a:t>Units and dates</a:t>
            </a:r>
          </a:p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F8FAFC"/>
                </a:solidFill>
                <a:latin typeface="Aptos"/>
                <a:ea typeface="Aptos"/>
                <a:cs typeface="Aptos"/>
                <a:sym typeface="Aptos"/>
              </a:rPr>
              <a:t>Missing values</a:t>
            </a:r>
          </a:p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F8FAFC"/>
                </a:solidFill>
                <a:latin typeface="Aptos"/>
                <a:ea typeface="Aptos"/>
                <a:cs typeface="Aptos"/>
                <a:sym typeface="Aptos"/>
              </a:rPr>
              <a:t>Quality flags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426109" y="3948694"/>
            <a:ext cx="233439" cy="416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3"/>
              </a:lnSpc>
            </a:pPr>
            <a:r>
              <a:rPr lang="en-US" sz="3752" b="true">
                <a:solidFill>
                  <a:srgbClr val="B4EFDB"/>
                </a:solidFill>
                <a:latin typeface="Aptos Bold"/>
                <a:ea typeface="Aptos Bold"/>
                <a:cs typeface="Aptos Bold"/>
                <a:sym typeface="Aptos Bold"/>
              </a:rPr>
              <a:t>›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7755598" y="2882608"/>
            <a:ext cx="3088510" cy="2745343"/>
            <a:chOff x="0" y="0"/>
            <a:chExt cx="4118013" cy="366045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117975" cy="3660521"/>
            </a:xfrm>
            <a:custGeom>
              <a:avLst/>
              <a:gdLst/>
              <a:ahLst/>
              <a:cxnLst/>
              <a:rect r="r" b="b" t="t" l="l"/>
              <a:pathLst>
                <a:path h="3660521" w="4117975">
                  <a:moveTo>
                    <a:pt x="0" y="610108"/>
                  </a:moveTo>
                  <a:cubicBezTo>
                    <a:pt x="0" y="273177"/>
                    <a:pt x="273177" y="0"/>
                    <a:pt x="610108" y="0"/>
                  </a:cubicBezTo>
                  <a:lnTo>
                    <a:pt x="3507867" y="0"/>
                  </a:lnTo>
                  <a:cubicBezTo>
                    <a:pt x="3844798" y="0"/>
                    <a:pt x="4117975" y="273177"/>
                    <a:pt x="4117975" y="610108"/>
                  </a:cubicBezTo>
                  <a:lnTo>
                    <a:pt x="4117975" y="3050413"/>
                  </a:lnTo>
                  <a:cubicBezTo>
                    <a:pt x="4117975" y="3387344"/>
                    <a:pt x="3844798" y="3660521"/>
                    <a:pt x="3507867" y="3660521"/>
                  </a:cubicBezTo>
                  <a:lnTo>
                    <a:pt x="610108" y="3660521"/>
                  </a:lnTo>
                  <a:cubicBezTo>
                    <a:pt x="273177" y="3660521"/>
                    <a:pt x="0" y="3387344"/>
                    <a:pt x="0" y="3050413"/>
                  </a:cubicBezTo>
                  <a:close/>
                </a:path>
              </a:pathLst>
            </a:custGeom>
            <a:solidFill>
              <a:srgbClr val="14304B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7947727" y="3252835"/>
            <a:ext cx="2704252" cy="357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 b="true">
                <a:solidFill>
                  <a:srgbClr val="1FBEA6"/>
                </a:solidFill>
                <a:latin typeface="Aptos Bold"/>
                <a:ea typeface="Aptos Bold"/>
                <a:cs typeface="Aptos Bold"/>
                <a:sym typeface="Aptos Bold"/>
              </a:rPr>
              <a:t>3. JOIN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975187" y="3948694"/>
            <a:ext cx="2635615" cy="1171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F8FAFC"/>
                </a:solidFill>
                <a:latin typeface="Aptos"/>
                <a:ea typeface="Aptos"/>
                <a:cs typeface="Aptos"/>
                <a:sym typeface="Aptos"/>
              </a:rPr>
              <a:t>Location + season</a:t>
            </a:r>
          </a:p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F8FAFC"/>
                </a:solidFill>
                <a:latin typeface="Aptos"/>
                <a:ea typeface="Aptos"/>
                <a:cs typeface="Aptos"/>
                <a:sym typeface="Aptos"/>
              </a:rPr>
              <a:t>Crop requirements</a:t>
            </a:r>
          </a:p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F8FAFC"/>
                </a:solidFill>
                <a:latin typeface="Aptos"/>
                <a:ea typeface="Aptos"/>
                <a:cs typeface="Aptos"/>
                <a:sym typeface="Aptos"/>
              </a:rPr>
              <a:t>Farm history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926432" y="3948694"/>
            <a:ext cx="233439" cy="416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3"/>
              </a:lnSpc>
            </a:pPr>
            <a:r>
              <a:rPr lang="en-US" sz="3752" b="true">
                <a:solidFill>
                  <a:srgbClr val="B4EFDB"/>
                </a:solidFill>
                <a:latin typeface="Aptos Bold"/>
                <a:ea typeface="Aptos Bold"/>
                <a:cs typeface="Aptos Bold"/>
                <a:sym typeface="Aptos Bold"/>
              </a:rPr>
              <a:t>›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1255912" y="2882608"/>
            <a:ext cx="3088510" cy="2745343"/>
            <a:chOff x="0" y="0"/>
            <a:chExt cx="4118013" cy="366045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17975" cy="3660521"/>
            </a:xfrm>
            <a:custGeom>
              <a:avLst/>
              <a:gdLst/>
              <a:ahLst/>
              <a:cxnLst/>
              <a:rect r="r" b="b" t="t" l="l"/>
              <a:pathLst>
                <a:path h="3660521" w="4117975">
                  <a:moveTo>
                    <a:pt x="0" y="610108"/>
                  </a:moveTo>
                  <a:cubicBezTo>
                    <a:pt x="0" y="273177"/>
                    <a:pt x="273177" y="0"/>
                    <a:pt x="610108" y="0"/>
                  </a:cubicBezTo>
                  <a:lnTo>
                    <a:pt x="3507867" y="0"/>
                  </a:lnTo>
                  <a:cubicBezTo>
                    <a:pt x="3844798" y="0"/>
                    <a:pt x="4117975" y="273177"/>
                    <a:pt x="4117975" y="610108"/>
                  </a:cubicBezTo>
                  <a:lnTo>
                    <a:pt x="4117975" y="3050413"/>
                  </a:lnTo>
                  <a:cubicBezTo>
                    <a:pt x="4117975" y="3387344"/>
                    <a:pt x="3844798" y="3660521"/>
                    <a:pt x="3507867" y="3660521"/>
                  </a:cubicBezTo>
                  <a:lnTo>
                    <a:pt x="610108" y="3660521"/>
                  </a:lnTo>
                  <a:cubicBezTo>
                    <a:pt x="273177" y="3660521"/>
                    <a:pt x="0" y="3387344"/>
                    <a:pt x="0" y="3050413"/>
                  </a:cubicBezTo>
                  <a:close/>
                </a:path>
              </a:pathLst>
            </a:custGeom>
            <a:solidFill>
              <a:srgbClr val="14304B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1448040" y="3252835"/>
            <a:ext cx="2704252" cy="357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 b="true">
                <a:solidFill>
                  <a:srgbClr val="F2B74A"/>
                </a:solidFill>
                <a:latin typeface="Aptos Bold"/>
                <a:ea typeface="Aptos Bold"/>
                <a:cs typeface="Aptos Bold"/>
                <a:sym typeface="Aptos Bold"/>
              </a:rPr>
              <a:t>4. COMPARE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475501" y="3948694"/>
            <a:ext cx="2635615" cy="1171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F8FAFC"/>
                </a:solidFill>
                <a:latin typeface="Aptos"/>
                <a:ea typeface="Aptos"/>
                <a:cs typeface="Aptos"/>
                <a:sym typeface="Aptos"/>
              </a:rPr>
              <a:t>Rotation A vs B</a:t>
            </a:r>
          </a:p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F8FAFC"/>
                </a:solidFill>
                <a:latin typeface="Aptos"/>
                <a:ea typeface="Aptos"/>
                <a:cs typeface="Aptos"/>
                <a:sym typeface="Aptos"/>
              </a:rPr>
              <a:t>Water / climate fit</a:t>
            </a:r>
          </a:p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F8FAFC"/>
                </a:solidFill>
                <a:latin typeface="Aptos"/>
                <a:ea typeface="Aptos"/>
                <a:cs typeface="Aptos"/>
                <a:sym typeface="Aptos"/>
              </a:rPr>
              <a:t>Soil constraints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426746" y="3948694"/>
            <a:ext cx="233439" cy="416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3"/>
              </a:lnSpc>
            </a:pPr>
            <a:r>
              <a:rPr lang="en-US" sz="3752" b="true">
                <a:solidFill>
                  <a:srgbClr val="B4EFDB"/>
                </a:solidFill>
                <a:latin typeface="Aptos Bold"/>
                <a:ea typeface="Aptos Bold"/>
                <a:cs typeface="Aptos Bold"/>
                <a:sym typeface="Aptos Bold"/>
              </a:rPr>
              <a:t>›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4756225" y="2882608"/>
            <a:ext cx="3088510" cy="2745343"/>
            <a:chOff x="0" y="0"/>
            <a:chExt cx="4118013" cy="366045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117975" cy="3660521"/>
            </a:xfrm>
            <a:custGeom>
              <a:avLst/>
              <a:gdLst/>
              <a:ahLst/>
              <a:cxnLst/>
              <a:rect r="r" b="b" t="t" l="l"/>
              <a:pathLst>
                <a:path h="3660521" w="4117975">
                  <a:moveTo>
                    <a:pt x="0" y="610108"/>
                  </a:moveTo>
                  <a:cubicBezTo>
                    <a:pt x="0" y="273177"/>
                    <a:pt x="273177" y="0"/>
                    <a:pt x="610108" y="0"/>
                  </a:cubicBezTo>
                  <a:lnTo>
                    <a:pt x="3507867" y="0"/>
                  </a:lnTo>
                  <a:cubicBezTo>
                    <a:pt x="3844798" y="0"/>
                    <a:pt x="4117975" y="273177"/>
                    <a:pt x="4117975" y="610108"/>
                  </a:cubicBezTo>
                  <a:lnTo>
                    <a:pt x="4117975" y="3050413"/>
                  </a:lnTo>
                  <a:cubicBezTo>
                    <a:pt x="4117975" y="3387344"/>
                    <a:pt x="3844798" y="3660521"/>
                    <a:pt x="3507867" y="3660521"/>
                  </a:cubicBezTo>
                  <a:lnTo>
                    <a:pt x="610108" y="3660521"/>
                  </a:lnTo>
                  <a:cubicBezTo>
                    <a:pt x="273177" y="3660521"/>
                    <a:pt x="0" y="3387344"/>
                    <a:pt x="0" y="3050413"/>
                  </a:cubicBezTo>
                  <a:close/>
                </a:path>
              </a:pathLst>
            </a:custGeom>
            <a:solidFill>
              <a:srgbClr val="14304B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4948364" y="3252835"/>
            <a:ext cx="2704252" cy="357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 b="true">
                <a:solidFill>
                  <a:srgbClr val="F2B74A"/>
                </a:solidFill>
                <a:latin typeface="Aptos Bold"/>
                <a:ea typeface="Aptos Bold"/>
                <a:cs typeface="Aptos Bold"/>
                <a:sym typeface="Aptos Bold"/>
              </a:rPr>
              <a:t>5. EXPLAIN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975815" y="3948694"/>
            <a:ext cx="2635615" cy="1171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F8FAFC"/>
                </a:solidFill>
                <a:latin typeface="Aptos"/>
                <a:ea typeface="Aptos"/>
                <a:cs typeface="Aptos"/>
                <a:sym typeface="Aptos"/>
              </a:rPr>
              <a:t>Show evidence</a:t>
            </a:r>
          </a:p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F8FAFC"/>
                </a:solidFill>
                <a:latin typeface="Aptos"/>
                <a:ea typeface="Aptos"/>
                <a:cs typeface="Aptos"/>
                <a:sym typeface="Aptos"/>
              </a:rPr>
              <a:t>List limitations</a:t>
            </a:r>
          </a:p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F8FAFC"/>
                </a:solidFill>
                <a:latin typeface="Aptos"/>
                <a:ea typeface="Aptos"/>
                <a:cs typeface="Aptos"/>
                <a:sym typeface="Aptos"/>
              </a:rPr>
              <a:t>Farmer chooses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21638" y="6556772"/>
            <a:ext cx="15676007" cy="416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Minimum outputs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166774" y="7069264"/>
            <a:ext cx="5010255" cy="1578569"/>
            <a:chOff x="0" y="0"/>
            <a:chExt cx="6680340" cy="210475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680327" cy="2104771"/>
            </a:xfrm>
            <a:custGeom>
              <a:avLst/>
              <a:gdLst/>
              <a:ahLst/>
              <a:cxnLst/>
              <a:rect r="r" b="b" t="t" l="l"/>
              <a:pathLst>
                <a:path h="2104771" w="6680327">
                  <a:moveTo>
                    <a:pt x="0" y="350774"/>
                  </a:moveTo>
                  <a:cubicBezTo>
                    <a:pt x="0" y="157099"/>
                    <a:pt x="157099" y="0"/>
                    <a:pt x="350774" y="0"/>
                  </a:cubicBezTo>
                  <a:lnTo>
                    <a:pt x="6329553" y="0"/>
                  </a:lnTo>
                  <a:cubicBezTo>
                    <a:pt x="6523355" y="0"/>
                    <a:pt x="6680327" y="157099"/>
                    <a:pt x="6680327" y="350774"/>
                  </a:cubicBezTo>
                  <a:lnTo>
                    <a:pt x="6680327" y="1753997"/>
                  </a:lnTo>
                  <a:cubicBezTo>
                    <a:pt x="6680327" y="1947799"/>
                    <a:pt x="6523228" y="2104771"/>
                    <a:pt x="6329553" y="2104771"/>
                  </a:cubicBezTo>
                  <a:lnTo>
                    <a:pt x="350774" y="2104771"/>
                  </a:lnTo>
                  <a:cubicBezTo>
                    <a:pt x="157099" y="2104771"/>
                    <a:pt x="0" y="1947672"/>
                    <a:pt x="0" y="1753997"/>
                  </a:cubicBezTo>
                  <a:close/>
                </a:path>
              </a:pathLst>
            </a:custGeom>
            <a:solidFill>
              <a:srgbClr val="14304B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166774" y="7233980"/>
            <a:ext cx="75495" cy="1249128"/>
            <a:chOff x="0" y="0"/>
            <a:chExt cx="100660" cy="166550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0711" cy="1665478"/>
            </a:xfrm>
            <a:custGeom>
              <a:avLst/>
              <a:gdLst/>
              <a:ahLst/>
              <a:cxnLst/>
              <a:rect r="r" b="b" t="t" l="l"/>
              <a:pathLst>
                <a:path h="1665478" w="100711">
                  <a:moveTo>
                    <a:pt x="0" y="0"/>
                  </a:moveTo>
                  <a:lnTo>
                    <a:pt x="100711" y="0"/>
                  </a:lnTo>
                  <a:lnTo>
                    <a:pt x="100711" y="1665478"/>
                  </a:lnTo>
                  <a:lnTo>
                    <a:pt x="0" y="1665478"/>
                  </a:lnTo>
                  <a:close/>
                </a:path>
              </a:pathLst>
            </a:custGeom>
            <a:solidFill>
              <a:srgbClr val="1FBEA6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496168" y="7298017"/>
            <a:ext cx="4420095" cy="416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Climate summary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87024" y="7851667"/>
            <a:ext cx="4406341" cy="68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Seasonal averages and rainfall totals.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6657461" y="7069264"/>
            <a:ext cx="5010255" cy="1578569"/>
            <a:chOff x="0" y="0"/>
            <a:chExt cx="6680340" cy="210475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680327" cy="2104771"/>
            </a:xfrm>
            <a:custGeom>
              <a:avLst/>
              <a:gdLst/>
              <a:ahLst/>
              <a:cxnLst/>
              <a:rect r="r" b="b" t="t" l="l"/>
              <a:pathLst>
                <a:path h="2104771" w="6680327">
                  <a:moveTo>
                    <a:pt x="0" y="350774"/>
                  </a:moveTo>
                  <a:cubicBezTo>
                    <a:pt x="0" y="157099"/>
                    <a:pt x="157099" y="0"/>
                    <a:pt x="350774" y="0"/>
                  </a:cubicBezTo>
                  <a:lnTo>
                    <a:pt x="6329553" y="0"/>
                  </a:lnTo>
                  <a:cubicBezTo>
                    <a:pt x="6523355" y="0"/>
                    <a:pt x="6680327" y="157099"/>
                    <a:pt x="6680327" y="350774"/>
                  </a:cubicBezTo>
                  <a:lnTo>
                    <a:pt x="6680327" y="1753997"/>
                  </a:lnTo>
                  <a:cubicBezTo>
                    <a:pt x="6680327" y="1947799"/>
                    <a:pt x="6523228" y="2104771"/>
                    <a:pt x="6329553" y="2104771"/>
                  </a:cubicBezTo>
                  <a:lnTo>
                    <a:pt x="350774" y="2104771"/>
                  </a:lnTo>
                  <a:cubicBezTo>
                    <a:pt x="157099" y="2104771"/>
                    <a:pt x="0" y="1947672"/>
                    <a:pt x="0" y="1753997"/>
                  </a:cubicBezTo>
                  <a:close/>
                </a:path>
              </a:pathLst>
            </a:custGeom>
            <a:solidFill>
              <a:srgbClr val="14304B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6657461" y="7233980"/>
            <a:ext cx="75495" cy="1249128"/>
            <a:chOff x="0" y="0"/>
            <a:chExt cx="100660" cy="166550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0711" cy="1665478"/>
            </a:xfrm>
            <a:custGeom>
              <a:avLst/>
              <a:gdLst/>
              <a:ahLst/>
              <a:cxnLst/>
              <a:rect r="r" b="b" t="t" l="l"/>
              <a:pathLst>
                <a:path h="1665478" w="100711">
                  <a:moveTo>
                    <a:pt x="0" y="0"/>
                  </a:moveTo>
                  <a:lnTo>
                    <a:pt x="100711" y="0"/>
                  </a:lnTo>
                  <a:lnTo>
                    <a:pt x="100711" y="1665478"/>
                  </a:lnTo>
                  <a:lnTo>
                    <a:pt x="0" y="1665478"/>
                  </a:lnTo>
                  <a:close/>
                </a:path>
              </a:pathLst>
            </a:custGeom>
            <a:solidFill>
              <a:srgbClr val="F2B74A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6986864" y="7298017"/>
            <a:ext cx="4420095" cy="416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Crop reference table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6977720" y="7851667"/>
            <a:ext cx="4406341" cy="68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Crop season, duration, water needs.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2148147" y="7069264"/>
            <a:ext cx="5010255" cy="1578569"/>
            <a:chOff x="0" y="0"/>
            <a:chExt cx="6680340" cy="210475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680327" cy="2104771"/>
            </a:xfrm>
            <a:custGeom>
              <a:avLst/>
              <a:gdLst/>
              <a:ahLst/>
              <a:cxnLst/>
              <a:rect r="r" b="b" t="t" l="l"/>
              <a:pathLst>
                <a:path h="2104771" w="6680327">
                  <a:moveTo>
                    <a:pt x="0" y="350774"/>
                  </a:moveTo>
                  <a:cubicBezTo>
                    <a:pt x="0" y="157099"/>
                    <a:pt x="157099" y="0"/>
                    <a:pt x="350774" y="0"/>
                  </a:cubicBezTo>
                  <a:lnTo>
                    <a:pt x="6329553" y="0"/>
                  </a:lnTo>
                  <a:cubicBezTo>
                    <a:pt x="6523355" y="0"/>
                    <a:pt x="6680327" y="157099"/>
                    <a:pt x="6680327" y="350774"/>
                  </a:cubicBezTo>
                  <a:lnTo>
                    <a:pt x="6680327" y="1753997"/>
                  </a:lnTo>
                  <a:cubicBezTo>
                    <a:pt x="6680327" y="1947799"/>
                    <a:pt x="6523228" y="2104771"/>
                    <a:pt x="6329553" y="2104771"/>
                  </a:cubicBezTo>
                  <a:lnTo>
                    <a:pt x="350774" y="2104771"/>
                  </a:lnTo>
                  <a:cubicBezTo>
                    <a:pt x="157099" y="2104771"/>
                    <a:pt x="0" y="1947672"/>
                    <a:pt x="0" y="1753997"/>
                  </a:cubicBezTo>
                  <a:close/>
                </a:path>
              </a:pathLst>
            </a:custGeom>
            <a:solidFill>
              <a:srgbClr val="14304B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2148147" y="7233980"/>
            <a:ext cx="75495" cy="1249128"/>
            <a:chOff x="0" y="0"/>
            <a:chExt cx="100660" cy="1665503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0711" cy="1665478"/>
            </a:xfrm>
            <a:custGeom>
              <a:avLst/>
              <a:gdLst/>
              <a:ahLst/>
              <a:cxnLst/>
              <a:rect r="r" b="b" t="t" l="l"/>
              <a:pathLst>
                <a:path h="1665478" w="100711">
                  <a:moveTo>
                    <a:pt x="0" y="0"/>
                  </a:moveTo>
                  <a:lnTo>
                    <a:pt x="100711" y="0"/>
                  </a:lnTo>
                  <a:lnTo>
                    <a:pt x="100711" y="1665478"/>
                  </a:lnTo>
                  <a:lnTo>
                    <a:pt x="0" y="1665478"/>
                  </a:lnTo>
                  <a:close/>
                </a:path>
              </a:pathLst>
            </a:custGeom>
            <a:solidFill>
              <a:srgbClr val="B4EFDB"/>
            </a:solid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12477550" y="7298017"/>
            <a:ext cx="4420095" cy="416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Rotation comparison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468406" y="7851667"/>
            <a:ext cx="4406341" cy="68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Transparent scores with caveats.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1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7099" y="517007"/>
            <a:ext cx="16362340" cy="622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3"/>
              </a:lnSpc>
            </a:pPr>
            <a:r>
              <a:rPr lang="en-US" sz="3752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04  |  Dataset 1 — NASA POWER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33421" y="1345216"/>
            <a:ext cx="1235402" cy="75495"/>
            <a:chOff x="0" y="0"/>
            <a:chExt cx="1647203" cy="1006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47190" cy="100711"/>
            </a:xfrm>
            <a:custGeom>
              <a:avLst/>
              <a:gdLst/>
              <a:ahLst/>
              <a:cxnLst/>
              <a:rect r="r" b="b" t="t" l="l"/>
              <a:pathLst>
                <a:path h="100711" w="1647190">
                  <a:moveTo>
                    <a:pt x="0" y="0"/>
                  </a:moveTo>
                  <a:lnTo>
                    <a:pt x="1647190" y="0"/>
                  </a:lnTo>
                  <a:lnTo>
                    <a:pt x="1647190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1FBEA6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988285" y="1573968"/>
            <a:ext cx="16362340" cy="416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9FB4C5"/>
                </a:solidFill>
                <a:latin typeface="Aptos"/>
                <a:ea typeface="Aptos"/>
                <a:cs typeface="Aptos"/>
                <a:sym typeface="Aptos"/>
              </a:rPr>
              <a:t>Priority 1: easiest real dataset to retrieve for the prototype.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664197" y="9800482"/>
            <a:ext cx="645243" cy="220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9FB4C5"/>
                </a:solidFill>
                <a:latin typeface="Aptos"/>
                <a:ea typeface="Aptos"/>
                <a:cs typeface="Aptos"/>
                <a:sym typeface="Aptos"/>
              </a:rPr>
              <a:t>05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53001" y="2301488"/>
            <a:ext cx="16087811" cy="416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Recommended parameters</a:t>
            </a:r>
          </a:p>
        </p:txBody>
      </p: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1098138" y="2813977"/>
          <a:ext cx="16167030" cy="3431681"/>
        </p:xfrm>
        <a:graphic>
          <a:graphicData uri="http://schemas.openxmlformats.org/drawingml/2006/table">
            <a:tbl>
              <a:tblPr/>
              <a:tblGrid>
                <a:gridCol w="2740175"/>
                <a:gridCol w="5891376"/>
                <a:gridCol w="2329148"/>
                <a:gridCol w="5206332"/>
              </a:tblGrid>
              <a:tr h="68633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1"/>
                        </a:lnSpc>
                        <a:defRPr/>
                      </a:pPr>
                      <a:r>
                        <a:rPr lang="en-US" sz="1651" b="true">
                          <a:solidFill>
                            <a:srgbClr val="0C1D34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API field</a:t>
                      </a:r>
                      <a:endParaRPr lang="en-US" sz="1100"/>
                    </a:p>
                  </a:txBody>
                  <a:tcPr marL="50292" marR="50292" marT="50292" marB="5029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BEA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1"/>
                        </a:lnSpc>
                        <a:defRPr/>
                      </a:pPr>
                      <a:r>
                        <a:rPr lang="en-US" sz="1651" b="true">
                          <a:solidFill>
                            <a:srgbClr val="0C1D34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Meaning</a:t>
                      </a:r>
                      <a:endParaRPr lang="en-US" sz="1100"/>
                    </a:p>
                  </a:txBody>
                  <a:tcPr marL="50292" marR="50292" marT="50292" marB="5029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BEA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1"/>
                        </a:lnSpc>
                        <a:defRPr/>
                      </a:pPr>
                      <a:r>
                        <a:rPr lang="en-US" sz="1651" b="true">
                          <a:solidFill>
                            <a:srgbClr val="0C1D34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Typical unit</a:t>
                      </a:r>
                      <a:endParaRPr lang="en-US" sz="1100"/>
                    </a:p>
                  </a:txBody>
                  <a:tcPr marL="50292" marR="50292" marT="50292" marB="5029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BEA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1"/>
                        </a:lnSpc>
                        <a:defRPr/>
                      </a:pPr>
                      <a:r>
                        <a:rPr lang="en-US" sz="1651" b="true">
                          <a:solidFill>
                            <a:srgbClr val="0C1D34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Prototype use</a:t>
                      </a:r>
                      <a:endParaRPr lang="en-US" sz="1100"/>
                    </a:p>
                  </a:txBody>
                  <a:tcPr marL="50292" marR="50292" marT="50292" marB="5029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BEA6"/>
                    </a:solidFill>
                  </a:tcPr>
                </a:tc>
              </a:tr>
              <a:tr h="68633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F8FAFC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T2M</a:t>
                      </a:r>
                      <a:endParaRPr lang="en-US" sz="1100"/>
                    </a:p>
                  </a:txBody>
                  <a:tcPr marL="50292" marR="50292" marT="50292" marB="5029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F8FAFC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Daily mean air temperature at 2 m</a:t>
                      </a:r>
                      <a:endParaRPr lang="en-US" sz="1100"/>
                    </a:p>
                  </a:txBody>
                  <a:tcPr marL="50292" marR="50292" marT="50292" marB="5029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F8FAF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°C</a:t>
                      </a:r>
                      <a:endParaRPr lang="en-US" sz="1100"/>
                    </a:p>
                  </a:txBody>
                  <a:tcPr marL="50292" marR="50292" marT="50292" marB="5029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F8FAFC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Seasonal climate fit</a:t>
                      </a:r>
                      <a:endParaRPr lang="en-US" sz="1100"/>
                    </a:p>
                  </a:txBody>
                  <a:tcPr marL="50292" marR="50292" marT="50292" marB="5029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B"/>
                    </a:solidFill>
                  </a:tcPr>
                </a:tc>
              </a:tr>
              <a:tr h="68633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F8FAFC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T2M_MAX / T2M_MIN</a:t>
                      </a:r>
                      <a:endParaRPr lang="en-US" sz="1100"/>
                    </a:p>
                  </a:txBody>
                  <a:tcPr marL="50292" marR="50292" marT="50292" marB="5029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A3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F8FAFC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Daily maximum / minimum temperature</a:t>
                      </a:r>
                      <a:endParaRPr lang="en-US" sz="1100"/>
                    </a:p>
                  </a:txBody>
                  <a:tcPr marL="50292" marR="50292" marT="50292" marB="5029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A3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F8FAF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°C</a:t>
                      </a:r>
                      <a:endParaRPr lang="en-US" sz="1100"/>
                    </a:p>
                  </a:txBody>
                  <a:tcPr marL="50292" marR="50292" marT="50292" marB="5029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A3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F8FAFC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Heat/cold context</a:t>
                      </a:r>
                      <a:endParaRPr lang="en-US" sz="1100"/>
                    </a:p>
                  </a:txBody>
                  <a:tcPr marL="50292" marR="50292" marT="50292" marB="5029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A3F"/>
                    </a:solidFill>
                  </a:tcPr>
                </a:tc>
              </a:tr>
              <a:tr h="68633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F8FAFC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PRECTOTCORR</a:t>
                      </a:r>
                      <a:endParaRPr lang="en-US" sz="1100"/>
                    </a:p>
                  </a:txBody>
                  <a:tcPr marL="50292" marR="50292" marT="50292" marB="5029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F8FAFC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Corrected precipitation</a:t>
                      </a:r>
                      <a:endParaRPr lang="en-US" sz="1100"/>
                    </a:p>
                  </a:txBody>
                  <a:tcPr marL="50292" marR="50292" marT="50292" marB="5029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F8FAFC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mm/day</a:t>
                      </a:r>
                      <a:endParaRPr lang="en-US" sz="1100"/>
                    </a:p>
                  </a:txBody>
                  <a:tcPr marL="50292" marR="50292" marT="50292" marB="5029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F8FAFC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Rainfall totals / variability</a:t>
                      </a:r>
                      <a:endParaRPr lang="en-US" sz="1100"/>
                    </a:p>
                  </a:txBody>
                  <a:tcPr marL="50292" marR="50292" marT="50292" marB="5029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B"/>
                    </a:solidFill>
                  </a:tcPr>
                </a:tc>
              </a:tr>
              <a:tr h="68633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F8FAFC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ALLSKY_SFC_SW_DWN</a:t>
                      </a:r>
                      <a:endParaRPr lang="en-US" sz="1100"/>
                    </a:p>
                  </a:txBody>
                  <a:tcPr marL="50292" marR="50292" marT="50292" marB="5029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A3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F8FAFC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All-sky surface shortwave radiation</a:t>
                      </a:r>
                      <a:endParaRPr lang="en-US" sz="1100"/>
                    </a:p>
                  </a:txBody>
                  <a:tcPr marL="50292" marR="50292" marT="50292" marB="5029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A3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F8FAFC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MJ/m²/day</a:t>
                      </a:r>
                      <a:endParaRPr lang="en-US" sz="1100"/>
                    </a:p>
                  </a:txBody>
                  <a:tcPr marL="50292" marR="50292" marT="50292" marB="5029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A3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F8FAFC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Solar-energy context</a:t>
                      </a:r>
                      <a:endParaRPr lang="en-US" sz="1100"/>
                    </a:p>
                  </a:txBody>
                  <a:tcPr marL="50292" marR="50292" marT="50292" marB="5029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A3F"/>
                    </a:solidFill>
                  </a:tcPr>
                </a:tc>
              </a:tr>
            </a:tbl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1221638" y="6694037"/>
            <a:ext cx="15676007" cy="347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Direct API example — daily data, 2020–2025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21638" y="7192404"/>
            <a:ext cx="15950536" cy="837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>
                <a:solidFill>
                  <a:srgbClr val="B4EFDB"/>
                </a:solidFill>
                <a:latin typeface="Aptos"/>
                <a:ea typeface="Aptos"/>
                <a:cs typeface="Aptos"/>
                <a:sym typeface="Aptos"/>
              </a:rPr>
              <a:t><![CDATA[https://power.larc.nasa.gov/api/temporal/daily/point?parameters=T2M%2CT2M_MAX%2CT2M_MIN%2CPRECTOTCORR%2CALLSKY_SFC_SW_DWN&community=AG&longitude=31.38&latitude=31.04&start=20200101&end=20251231&format=CSV]]>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21638" y="8245154"/>
            <a:ext cx="15676007" cy="320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b="true" sz="1651" u="sng">
                <a:solidFill>
                  <a:srgbClr val="0000FF"/>
                </a:solidFill>
                <a:latin typeface="Aptos Bold"/>
                <a:ea typeface="Aptos Bold"/>
                <a:cs typeface="Aptos Bold"/>
                <a:sym typeface="Aptos Bold"/>
                <a:hlinkClick r:id="rId2" tooltip="https://power.larc.nasa.gov/docs/services/api/temporal/daily/"/>
              </a:rPr>
              <a:t>Official API documentation — click to open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21638" y="8849135"/>
            <a:ext cx="15676007" cy="347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F2B74A"/>
                </a:solidFill>
                <a:latin typeface="Aptos"/>
                <a:ea typeface="Aptos"/>
                <a:cs typeface="Aptos"/>
                <a:sym typeface="Aptos"/>
              </a:rPr>
              <a:t>Validate the returned CSV, parameter definitions, units and missing-value codes before use.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1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7099" y="517007"/>
            <a:ext cx="16362340" cy="622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3"/>
              </a:lnSpc>
            </a:pPr>
            <a:r>
              <a:rPr lang="en-US" sz="3752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05  |  Dataset 2 — Soil Properties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33421" y="1345216"/>
            <a:ext cx="1235402" cy="75495"/>
            <a:chOff x="0" y="0"/>
            <a:chExt cx="1647203" cy="1006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47190" cy="100711"/>
            </a:xfrm>
            <a:custGeom>
              <a:avLst/>
              <a:gdLst/>
              <a:ahLst/>
              <a:cxnLst/>
              <a:rect r="r" b="b" t="t" l="l"/>
              <a:pathLst>
                <a:path h="100711" w="1647190">
                  <a:moveTo>
                    <a:pt x="0" y="0"/>
                  </a:moveTo>
                  <a:lnTo>
                    <a:pt x="1647190" y="0"/>
                  </a:lnTo>
                  <a:lnTo>
                    <a:pt x="1647190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1FBEA6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988285" y="1573968"/>
            <a:ext cx="16362340" cy="416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9FB4C5"/>
                </a:solidFill>
                <a:latin typeface="Aptos"/>
                <a:ea typeface="Aptos"/>
                <a:cs typeface="Aptos"/>
                <a:sym typeface="Aptos"/>
              </a:rPr>
              <a:t>Use global soil maps as a starting layer; prefer a local lab test for field-level decisions.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664197" y="9800482"/>
            <a:ext cx="645243" cy="220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9FB4C5"/>
                </a:solidFill>
                <a:latin typeface="Aptos"/>
                <a:ea typeface="Aptos"/>
                <a:cs typeface="Aptos"/>
                <a:sym typeface="Aptos"/>
              </a:rPr>
              <a:t>06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9500" y="2402176"/>
            <a:ext cx="7755598" cy="3088510"/>
            <a:chOff x="0" y="0"/>
            <a:chExt cx="10340797" cy="411801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340721" cy="4117975"/>
            </a:xfrm>
            <a:custGeom>
              <a:avLst/>
              <a:gdLst/>
              <a:ahLst/>
              <a:cxnLst/>
              <a:rect r="r" b="b" t="t" l="l"/>
              <a:pathLst>
                <a:path h="4117975" w="10340721">
                  <a:moveTo>
                    <a:pt x="0" y="686308"/>
                  </a:moveTo>
                  <a:cubicBezTo>
                    <a:pt x="0" y="307340"/>
                    <a:pt x="307340" y="0"/>
                    <a:pt x="686308" y="0"/>
                  </a:cubicBezTo>
                  <a:lnTo>
                    <a:pt x="9654413" y="0"/>
                  </a:lnTo>
                  <a:cubicBezTo>
                    <a:pt x="10033508" y="0"/>
                    <a:pt x="10340721" y="307340"/>
                    <a:pt x="10340721" y="686308"/>
                  </a:cubicBezTo>
                  <a:lnTo>
                    <a:pt x="10340721" y="3431667"/>
                  </a:lnTo>
                  <a:cubicBezTo>
                    <a:pt x="10340721" y="3810762"/>
                    <a:pt x="10033381" y="4117975"/>
                    <a:pt x="9654413" y="4117975"/>
                  </a:cubicBezTo>
                  <a:lnTo>
                    <a:pt x="686308" y="4117975"/>
                  </a:lnTo>
                  <a:cubicBezTo>
                    <a:pt x="307340" y="4117975"/>
                    <a:pt x="0" y="3810762"/>
                    <a:pt x="0" y="3431667"/>
                  </a:cubicBezTo>
                  <a:close/>
                </a:path>
              </a:pathLst>
            </a:custGeom>
            <a:solidFill>
              <a:srgbClr val="14304B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29500" y="2566902"/>
            <a:ext cx="75495" cy="2759069"/>
            <a:chOff x="0" y="0"/>
            <a:chExt cx="100660" cy="36787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0711" cy="3678809"/>
            </a:xfrm>
            <a:custGeom>
              <a:avLst/>
              <a:gdLst/>
              <a:ahLst/>
              <a:cxnLst/>
              <a:rect r="r" b="b" t="t" l="l"/>
              <a:pathLst>
                <a:path h="3678809" w="100711">
                  <a:moveTo>
                    <a:pt x="0" y="0"/>
                  </a:moveTo>
                  <a:lnTo>
                    <a:pt x="100711" y="0"/>
                  </a:lnTo>
                  <a:lnTo>
                    <a:pt x="100711" y="3678809"/>
                  </a:lnTo>
                  <a:lnTo>
                    <a:pt x="0" y="3678809"/>
                  </a:lnTo>
                  <a:close/>
                </a:path>
              </a:pathLst>
            </a:custGeom>
            <a:solidFill>
              <a:srgbClr val="1FBEA6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358903" y="2630929"/>
            <a:ext cx="7165438" cy="416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FAO / IIASA HWSD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49759" y="3184579"/>
            <a:ext cx="7151684" cy="2191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Harmonized World Soil Database v2.0.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May include texture, depth, organic carbon, pH and water-related properties.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Extract the grid cell covering the pilot point using GIS/QGIS.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265539" y="2402176"/>
            <a:ext cx="7755598" cy="3088510"/>
            <a:chOff x="0" y="0"/>
            <a:chExt cx="10340797" cy="411801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340721" cy="4117975"/>
            </a:xfrm>
            <a:custGeom>
              <a:avLst/>
              <a:gdLst/>
              <a:ahLst/>
              <a:cxnLst/>
              <a:rect r="r" b="b" t="t" l="l"/>
              <a:pathLst>
                <a:path h="4117975" w="10340721">
                  <a:moveTo>
                    <a:pt x="0" y="686308"/>
                  </a:moveTo>
                  <a:cubicBezTo>
                    <a:pt x="0" y="307340"/>
                    <a:pt x="307340" y="0"/>
                    <a:pt x="686308" y="0"/>
                  </a:cubicBezTo>
                  <a:lnTo>
                    <a:pt x="9654413" y="0"/>
                  </a:lnTo>
                  <a:cubicBezTo>
                    <a:pt x="10033508" y="0"/>
                    <a:pt x="10340721" y="307340"/>
                    <a:pt x="10340721" y="686308"/>
                  </a:cubicBezTo>
                  <a:lnTo>
                    <a:pt x="10340721" y="3431667"/>
                  </a:lnTo>
                  <a:cubicBezTo>
                    <a:pt x="10340721" y="3810762"/>
                    <a:pt x="10033381" y="4117975"/>
                    <a:pt x="9654413" y="4117975"/>
                  </a:cubicBezTo>
                  <a:lnTo>
                    <a:pt x="686308" y="4117975"/>
                  </a:lnTo>
                  <a:cubicBezTo>
                    <a:pt x="307340" y="4117975"/>
                    <a:pt x="0" y="3810762"/>
                    <a:pt x="0" y="3431667"/>
                  </a:cubicBezTo>
                  <a:close/>
                </a:path>
              </a:pathLst>
            </a:custGeom>
            <a:solidFill>
              <a:srgbClr val="14304B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265539" y="2566902"/>
            <a:ext cx="75495" cy="2759069"/>
            <a:chOff x="0" y="0"/>
            <a:chExt cx="100660" cy="367875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0711" cy="3678809"/>
            </a:xfrm>
            <a:custGeom>
              <a:avLst/>
              <a:gdLst/>
              <a:ahLst/>
              <a:cxnLst/>
              <a:rect r="r" b="b" t="t" l="l"/>
              <a:pathLst>
                <a:path h="3678809" w="100711">
                  <a:moveTo>
                    <a:pt x="0" y="0"/>
                  </a:moveTo>
                  <a:lnTo>
                    <a:pt x="100711" y="0"/>
                  </a:lnTo>
                  <a:lnTo>
                    <a:pt x="100711" y="3678809"/>
                  </a:lnTo>
                  <a:lnTo>
                    <a:pt x="0" y="3678809"/>
                  </a:lnTo>
                  <a:close/>
                </a:path>
              </a:pathLst>
            </a:custGeom>
            <a:solidFill>
              <a:srgbClr val="F2B74A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594933" y="2630929"/>
            <a:ext cx="7165438" cy="416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Proposed fields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85789" y="3184579"/>
            <a:ext cx="7151684" cy="2191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soil_texture — category</a:t>
            </a:r>
          </a:p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soil_depth_cm — cm</a:t>
            </a:r>
          </a:p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soil_ph — unitless</a:t>
            </a:r>
          </a:p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organic_carbon — source-defined unit</a:t>
            </a:r>
          </a:p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available_water_capacity — source-defined unit</a:t>
            </a:r>
          </a:p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salinity — only if a suitable layer exists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90266" y="6144968"/>
            <a:ext cx="15676007" cy="416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Direct sources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90266" y="6762674"/>
            <a:ext cx="15676007" cy="320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b="true" sz="1651" u="sng">
                <a:solidFill>
                  <a:srgbClr val="0000FF"/>
                </a:solidFill>
                <a:latin typeface="Aptos Bold"/>
                <a:ea typeface="Aptos Bold"/>
                <a:cs typeface="Aptos Bold"/>
                <a:sym typeface="Aptos Bold"/>
                <a:hlinkClick r:id="rId2" tooltip="https://www.fao.org/land-water/resources/tools/databases/hwsd/en"/>
              </a:rPr>
              <a:t>FAO HWSD page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90266" y="7380370"/>
            <a:ext cx="15676007" cy="320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b="true" sz="1651" u="sng">
                <a:solidFill>
                  <a:srgbClr val="0000FF"/>
                </a:solidFill>
                <a:latin typeface="Aptos Bold"/>
                <a:ea typeface="Aptos Bold"/>
                <a:cs typeface="Aptos Bold"/>
                <a:sym typeface="Aptos Bold"/>
                <a:hlinkClick r:id="rId3" tooltip="https://www.fao.org/soils-portal/soil-survey/soil-maps-and-databases/harmonized-world-soil-database-v12/en/"/>
              </a:rPr>
              <a:t>FAO Soil Portal — HWSD reference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166774" y="8167402"/>
            <a:ext cx="15923000" cy="892235"/>
            <a:chOff x="0" y="0"/>
            <a:chExt cx="21230666" cy="118964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230589" cy="1189609"/>
            </a:xfrm>
            <a:custGeom>
              <a:avLst/>
              <a:gdLst/>
              <a:ahLst/>
              <a:cxnLst/>
              <a:rect r="r" b="b" t="t" l="l"/>
              <a:pathLst>
                <a:path h="1189609" w="21230589">
                  <a:moveTo>
                    <a:pt x="0" y="198247"/>
                  </a:moveTo>
                  <a:cubicBezTo>
                    <a:pt x="0" y="88773"/>
                    <a:pt x="88773" y="0"/>
                    <a:pt x="198247" y="0"/>
                  </a:cubicBezTo>
                  <a:lnTo>
                    <a:pt x="21032343" y="0"/>
                  </a:lnTo>
                  <a:cubicBezTo>
                    <a:pt x="21141817" y="0"/>
                    <a:pt x="21230589" y="88773"/>
                    <a:pt x="21230589" y="198247"/>
                  </a:cubicBezTo>
                  <a:lnTo>
                    <a:pt x="21230589" y="991362"/>
                  </a:lnTo>
                  <a:cubicBezTo>
                    <a:pt x="21230589" y="1100836"/>
                    <a:pt x="21141817" y="1189609"/>
                    <a:pt x="21032343" y="1189609"/>
                  </a:cubicBezTo>
                  <a:lnTo>
                    <a:pt x="198247" y="1189609"/>
                  </a:lnTo>
                  <a:cubicBezTo>
                    <a:pt x="88773" y="1189609"/>
                    <a:pt x="0" y="1100836"/>
                    <a:pt x="0" y="991362"/>
                  </a:cubicBezTo>
                  <a:close/>
                </a:path>
              </a:pathLst>
            </a:custGeom>
            <a:solidFill>
              <a:srgbClr val="182A3F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496168" y="8409880"/>
            <a:ext cx="15126938" cy="320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F2B74A"/>
                </a:solidFill>
                <a:latin typeface="Aptos Bold"/>
                <a:ea typeface="Aptos Bold"/>
                <a:cs typeface="Aptos Bold"/>
                <a:sym typeface="Aptos Bold"/>
              </a:rPr>
              <a:t>Confirm downloadable version, licensing, resolution and exact variable units in the data dictionary.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1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7099" y="517007"/>
            <a:ext cx="16362340" cy="622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3"/>
              </a:lnSpc>
            </a:pPr>
            <a:r>
              <a:rPr lang="en-US" sz="3752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06  |  Dataset 3 — NASA SMAP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33421" y="1345216"/>
            <a:ext cx="1235402" cy="75495"/>
            <a:chOff x="0" y="0"/>
            <a:chExt cx="1647203" cy="1006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47190" cy="100711"/>
            </a:xfrm>
            <a:custGeom>
              <a:avLst/>
              <a:gdLst/>
              <a:ahLst/>
              <a:cxnLst/>
              <a:rect r="r" b="b" t="t" l="l"/>
              <a:pathLst>
                <a:path h="100711" w="1647190">
                  <a:moveTo>
                    <a:pt x="0" y="0"/>
                  </a:moveTo>
                  <a:lnTo>
                    <a:pt x="1647190" y="0"/>
                  </a:lnTo>
                  <a:lnTo>
                    <a:pt x="1647190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1FBEA6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988285" y="1573968"/>
            <a:ext cx="16362340" cy="416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9FB4C5"/>
                </a:solidFill>
                <a:latin typeface="Aptos"/>
                <a:ea typeface="Aptos"/>
                <a:cs typeface="Aptos"/>
                <a:sym typeface="Aptos"/>
              </a:rPr>
              <a:t>Optional extension: soil-moisture dynamics, not a direct root-zone measurement.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664197" y="9800482"/>
            <a:ext cx="645243" cy="220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9FB4C5"/>
                </a:solidFill>
                <a:latin typeface="Aptos"/>
                <a:ea typeface="Aptos"/>
                <a:cs typeface="Aptos"/>
                <a:sym typeface="Aptos"/>
              </a:rPr>
              <a:t>07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98137" y="2470814"/>
            <a:ext cx="7618333" cy="3088510"/>
            <a:chOff x="0" y="0"/>
            <a:chExt cx="10157778" cy="411801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157714" cy="4117975"/>
            </a:xfrm>
            <a:custGeom>
              <a:avLst/>
              <a:gdLst/>
              <a:ahLst/>
              <a:cxnLst/>
              <a:rect r="r" b="b" t="t" l="l"/>
              <a:pathLst>
                <a:path h="4117975" w="10157714">
                  <a:moveTo>
                    <a:pt x="0" y="686308"/>
                  </a:moveTo>
                  <a:cubicBezTo>
                    <a:pt x="0" y="307340"/>
                    <a:pt x="307340" y="0"/>
                    <a:pt x="686308" y="0"/>
                  </a:cubicBezTo>
                  <a:lnTo>
                    <a:pt x="9471406" y="0"/>
                  </a:lnTo>
                  <a:cubicBezTo>
                    <a:pt x="9850501" y="0"/>
                    <a:pt x="10157714" y="307340"/>
                    <a:pt x="10157714" y="686308"/>
                  </a:cubicBezTo>
                  <a:lnTo>
                    <a:pt x="10157714" y="3431667"/>
                  </a:lnTo>
                  <a:cubicBezTo>
                    <a:pt x="10157714" y="3810762"/>
                    <a:pt x="9850375" y="4117975"/>
                    <a:pt x="9471406" y="4117975"/>
                  </a:cubicBezTo>
                  <a:lnTo>
                    <a:pt x="686308" y="4117975"/>
                  </a:lnTo>
                  <a:cubicBezTo>
                    <a:pt x="307340" y="4117975"/>
                    <a:pt x="0" y="3810762"/>
                    <a:pt x="0" y="3431667"/>
                  </a:cubicBezTo>
                  <a:close/>
                </a:path>
              </a:pathLst>
            </a:custGeom>
            <a:solidFill>
              <a:srgbClr val="14304B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98137" y="2635529"/>
            <a:ext cx="75495" cy="2759069"/>
            <a:chOff x="0" y="0"/>
            <a:chExt cx="100660" cy="36787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0711" cy="3678809"/>
            </a:xfrm>
            <a:custGeom>
              <a:avLst/>
              <a:gdLst/>
              <a:ahLst/>
              <a:cxnLst/>
              <a:rect r="r" b="b" t="t" l="l"/>
              <a:pathLst>
                <a:path h="3678809" w="100711">
                  <a:moveTo>
                    <a:pt x="0" y="0"/>
                  </a:moveTo>
                  <a:lnTo>
                    <a:pt x="100711" y="0"/>
                  </a:lnTo>
                  <a:lnTo>
                    <a:pt x="100711" y="3678809"/>
                  </a:lnTo>
                  <a:lnTo>
                    <a:pt x="0" y="3678809"/>
                  </a:lnTo>
                  <a:close/>
                </a:path>
              </a:pathLst>
            </a:custGeom>
            <a:solidFill>
              <a:srgbClr val="1FBEA6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427540" y="2699556"/>
            <a:ext cx="7028164" cy="416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Useful fields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18396" y="3253216"/>
            <a:ext cx="7014420" cy="2191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soil_moisture — often m³/m³; confirm product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observation_date — YYYY-MM-DD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quality_flag — product-specific code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spatial_resolution_km — actual product resolution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dataset_version — provenance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334176" y="2470814"/>
            <a:ext cx="7618333" cy="3088510"/>
            <a:chOff x="0" y="0"/>
            <a:chExt cx="10157778" cy="411801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157714" cy="4117975"/>
            </a:xfrm>
            <a:custGeom>
              <a:avLst/>
              <a:gdLst/>
              <a:ahLst/>
              <a:cxnLst/>
              <a:rect r="r" b="b" t="t" l="l"/>
              <a:pathLst>
                <a:path h="4117975" w="10157714">
                  <a:moveTo>
                    <a:pt x="0" y="686308"/>
                  </a:moveTo>
                  <a:cubicBezTo>
                    <a:pt x="0" y="307340"/>
                    <a:pt x="307340" y="0"/>
                    <a:pt x="686308" y="0"/>
                  </a:cubicBezTo>
                  <a:lnTo>
                    <a:pt x="9471406" y="0"/>
                  </a:lnTo>
                  <a:cubicBezTo>
                    <a:pt x="9850501" y="0"/>
                    <a:pt x="10157714" y="307340"/>
                    <a:pt x="10157714" y="686308"/>
                  </a:cubicBezTo>
                  <a:lnTo>
                    <a:pt x="10157714" y="3431667"/>
                  </a:lnTo>
                  <a:cubicBezTo>
                    <a:pt x="10157714" y="3810762"/>
                    <a:pt x="9850375" y="4117975"/>
                    <a:pt x="9471406" y="4117975"/>
                  </a:cubicBezTo>
                  <a:lnTo>
                    <a:pt x="686308" y="4117975"/>
                  </a:lnTo>
                  <a:cubicBezTo>
                    <a:pt x="307340" y="4117975"/>
                    <a:pt x="0" y="3810762"/>
                    <a:pt x="0" y="3431667"/>
                  </a:cubicBezTo>
                  <a:close/>
                </a:path>
              </a:pathLst>
            </a:custGeom>
            <a:solidFill>
              <a:srgbClr val="14304B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334176" y="2635529"/>
            <a:ext cx="75495" cy="2759069"/>
            <a:chOff x="0" y="0"/>
            <a:chExt cx="100660" cy="367875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0711" cy="3678809"/>
            </a:xfrm>
            <a:custGeom>
              <a:avLst/>
              <a:gdLst/>
              <a:ahLst/>
              <a:cxnLst/>
              <a:rect r="r" b="b" t="t" l="l"/>
              <a:pathLst>
                <a:path h="3678809" w="100711">
                  <a:moveTo>
                    <a:pt x="0" y="0"/>
                  </a:moveTo>
                  <a:lnTo>
                    <a:pt x="100711" y="0"/>
                  </a:lnTo>
                  <a:lnTo>
                    <a:pt x="100711" y="3678809"/>
                  </a:lnTo>
                  <a:lnTo>
                    <a:pt x="0" y="3678809"/>
                  </a:lnTo>
                  <a:close/>
                </a:path>
              </a:pathLst>
            </a:custGeom>
            <a:solidFill>
              <a:srgbClr val="F2B74A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663570" y="2699556"/>
            <a:ext cx="7028164" cy="416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Interpretation limits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654426" y="3253216"/>
            <a:ext cx="7014420" cy="2191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Some enhanced products are around 9 km resolution.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A pixel may cover multiple fields and land uses.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Surface moisture differs from water available to crop roots.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Use trends and context, not precise irrigation prescriptions.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90266" y="6282233"/>
            <a:ext cx="15676007" cy="320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b="true" sz="1651" u="sng">
                <a:solidFill>
                  <a:srgbClr val="0000FF"/>
                </a:solidFill>
                <a:latin typeface="Aptos Bold"/>
                <a:ea typeface="Aptos Bold"/>
                <a:cs typeface="Aptos Bold"/>
                <a:sym typeface="Aptos Bold"/>
                <a:hlinkClick r:id="rId2" tooltip="https://nsidc.org/data/smap"/>
              </a:rPr>
              <a:t>NSIDC SMAP data portal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90266" y="6899939"/>
            <a:ext cx="15676007" cy="320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b="true" sz="1651" u="sng">
                <a:solidFill>
                  <a:srgbClr val="0000FF"/>
                </a:solidFill>
                <a:latin typeface="Aptos Bold"/>
                <a:ea typeface="Aptos Bold"/>
                <a:cs typeface="Aptos Bold"/>
                <a:sym typeface="Aptos Bold"/>
                <a:hlinkClick r:id="rId3" tooltip="https://earth.gsfc.nasa.gov/hydro/data/nasa-usda-global-soil-moisture-data"/>
              </a:rPr>
              <a:t>NASA-USDA global soil moisture data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90266" y="8066713"/>
            <a:ext cx="15676007" cy="622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B4EFDB"/>
                </a:solidFill>
                <a:latin typeface="Aptos Bold"/>
                <a:ea typeface="Aptos Bold"/>
                <a:cs typeface="Aptos Bold"/>
                <a:sym typeface="Aptos Bold"/>
              </a:rPr>
              <a:t>Recommendation: add SMAP only after the climate + crop-reference pipeline works.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1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7099" y="517007"/>
            <a:ext cx="16362340" cy="622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3"/>
              </a:lnSpc>
            </a:pPr>
            <a:r>
              <a:rPr lang="en-US" sz="3752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07  |  Dataset 4 — Crop Calendar &amp; Requirements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33421" y="1345216"/>
            <a:ext cx="1235402" cy="75495"/>
            <a:chOff x="0" y="0"/>
            <a:chExt cx="1647203" cy="1006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47190" cy="100711"/>
            </a:xfrm>
            <a:custGeom>
              <a:avLst/>
              <a:gdLst/>
              <a:ahLst/>
              <a:cxnLst/>
              <a:rect r="r" b="b" t="t" l="l"/>
              <a:pathLst>
                <a:path h="100711" w="1647190">
                  <a:moveTo>
                    <a:pt x="0" y="0"/>
                  </a:moveTo>
                  <a:lnTo>
                    <a:pt x="1647190" y="0"/>
                  </a:lnTo>
                  <a:lnTo>
                    <a:pt x="1647190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1FBEA6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988285" y="1573968"/>
            <a:ext cx="16362340" cy="416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9FB4C5"/>
                </a:solidFill>
                <a:latin typeface="Aptos"/>
                <a:ea typeface="Aptos"/>
                <a:cs typeface="Aptos"/>
                <a:sym typeface="Aptos"/>
              </a:rPr>
              <a:t>The crop table connects environmental data to rotation strategies.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664197" y="9800482"/>
            <a:ext cx="645243" cy="220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9FB4C5"/>
                </a:solidFill>
                <a:latin typeface="Aptos"/>
                <a:ea typeface="Aptos"/>
                <a:cs typeface="Aptos"/>
                <a:sym typeface="Aptos"/>
              </a:rPr>
              <a:t>08</a:t>
            </a:r>
          </a:p>
        </p:txBody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1166772" y="2539444"/>
          <a:ext cx="15900122" cy="5033132"/>
        </p:xfrm>
        <a:graphic>
          <a:graphicData uri="http://schemas.openxmlformats.org/drawingml/2006/table">
            <a:tbl>
              <a:tblPr/>
              <a:tblGrid>
                <a:gridCol w="3426750"/>
                <a:gridCol w="7812991"/>
                <a:gridCol w="4660381"/>
              </a:tblGrid>
              <a:tr h="62914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1"/>
                        </a:lnSpc>
                        <a:defRPr/>
                      </a:pPr>
                      <a:r>
                        <a:rPr lang="en-US" sz="1651" b="true">
                          <a:solidFill>
                            <a:srgbClr val="0C1D34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Field</a:t>
                      </a:r>
                      <a:endParaRPr lang="en-US" sz="1100"/>
                    </a:p>
                  </a:txBody>
                  <a:tcPr marL="50292" marR="50292" marT="50292" marB="5029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BEA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1"/>
                        </a:lnSpc>
                        <a:defRPr/>
                      </a:pPr>
                      <a:r>
                        <a:rPr lang="en-US" sz="1651" b="true">
                          <a:solidFill>
                            <a:srgbClr val="0C1D34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What to store</a:t>
                      </a:r>
                      <a:endParaRPr lang="en-US" sz="1100"/>
                    </a:p>
                  </a:txBody>
                  <a:tcPr marL="50292" marR="50292" marT="50292" marB="5029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BEA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1"/>
                        </a:lnSpc>
                        <a:defRPr/>
                      </a:pPr>
                      <a:r>
                        <a:rPr lang="en-US" sz="1651" b="true">
                          <a:solidFill>
                            <a:srgbClr val="0C1D34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Unit / format</a:t>
                      </a:r>
                      <a:endParaRPr lang="en-US" sz="1100"/>
                    </a:p>
                  </a:txBody>
                  <a:tcPr marL="50292" marR="50292" marT="50292" marB="5029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BEA6"/>
                    </a:solidFill>
                  </a:tcPr>
                </a:tc>
              </a:tr>
              <a:tr h="62914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F8FAFC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crop_id / crop_name</a:t>
                      </a:r>
                      <a:endParaRPr lang="en-US" sz="1100"/>
                    </a:p>
                  </a:txBody>
                  <a:tcPr marL="50292" marR="50292" marT="50292" marB="5029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F8FAFC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Stable ID and common/scientific name</a:t>
                      </a:r>
                      <a:endParaRPr lang="en-US" sz="1100"/>
                    </a:p>
                  </a:txBody>
                  <a:tcPr marL="50292" marR="50292" marT="50292" marB="5029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F8FAFC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Text</a:t>
                      </a:r>
                      <a:endParaRPr lang="en-US" sz="1100"/>
                    </a:p>
                  </a:txBody>
                  <a:tcPr marL="50292" marR="50292" marT="50292" marB="5029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B"/>
                    </a:solidFill>
                  </a:tcPr>
                </a:tc>
              </a:tr>
              <a:tr h="62914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F8FAFC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sowing_window_start/end</a:t>
                      </a:r>
                      <a:endParaRPr lang="en-US" sz="1100"/>
                    </a:p>
                  </a:txBody>
                  <a:tcPr marL="50292" marR="50292" marT="50292" marB="5029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A3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F8FAFC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Recommended local sowing window</a:t>
                      </a:r>
                      <a:endParaRPr lang="en-US" sz="1100"/>
                    </a:p>
                  </a:txBody>
                  <a:tcPr marL="50292" marR="50292" marT="50292" marB="5029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A3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F8FAFC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Month/date range</a:t>
                      </a:r>
                      <a:endParaRPr lang="en-US" sz="1100"/>
                    </a:p>
                  </a:txBody>
                  <a:tcPr marL="50292" marR="50292" marT="50292" marB="5029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A3F"/>
                    </a:solidFill>
                  </a:tcPr>
                </a:tc>
              </a:tr>
              <a:tr h="62914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F8FAFC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growth_duration_days</a:t>
                      </a:r>
                      <a:endParaRPr lang="en-US" sz="1100"/>
                    </a:p>
                  </a:txBody>
                  <a:tcPr marL="50292" marR="50292" marT="50292" marB="5029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F8FAFC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Typical duration for region/variety</a:t>
                      </a:r>
                      <a:endParaRPr lang="en-US" sz="1100"/>
                    </a:p>
                  </a:txBody>
                  <a:tcPr marL="50292" marR="50292" marT="50292" marB="5029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F8FAFC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Days</a:t>
                      </a:r>
                      <a:endParaRPr lang="en-US" sz="1100"/>
                    </a:p>
                  </a:txBody>
                  <a:tcPr marL="50292" marR="50292" marT="50292" marB="5029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B"/>
                    </a:solidFill>
                  </a:tcPr>
                </a:tc>
              </a:tr>
              <a:tr h="62914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F8FAFC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water_requirement_mm</a:t>
                      </a:r>
                      <a:endParaRPr lang="en-US" sz="1100"/>
                    </a:p>
                  </a:txBody>
                  <a:tcPr marL="50292" marR="50292" marT="50292" marB="5029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A3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F8FAFC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Reference seasonal water need</a:t>
                      </a:r>
                      <a:endParaRPr lang="en-US" sz="1100"/>
                    </a:p>
                  </a:txBody>
                  <a:tcPr marL="50292" marR="50292" marT="50292" marB="5029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A3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F8FAFC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mm/season</a:t>
                      </a:r>
                      <a:endParaRPr lang="en-US" sz="1100"/>
                    </a:p>
                  </a:txBody>
                  <a:tcPr marL="50292" marR="50292" marT="50292" marB="5029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A3F"/>
                    </a:solidFill>
                  </a:tcPr>
                </a:tc>
              </a:tr>
              <a:tr h="62914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F8FAFC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temperature_suitability</a:t>
                      </a:r>
                      <a:endParaRPr lang="en-US" sz="1100"/>
                    </a:p>
                  </a:txBody>
                  <a:tcPr marL="50292" marR="50292" marT="50292" marB="5029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F8FAFC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Documented suitable temperature range</a:t>
                      </a:r>
                      <a:endParaRPr lang="en-US" sz="1100"/>
                    </a:p>
                  </a:txBody>
                  <a:tcPr marL="50292" marR="50292" marT="50292" marB="5029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F8FAF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°C + source</a:t>
                      </a:r>
                      <a:endParaRPr lang="en-US" sz="1100"/>
                    </a:p>
                  </a:txBody>
                  <a:tcPr marL="50292" marR="50292" marT="50292" marB="5029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B"/>
                    </a:solidFill>
                  </a:tcPr>
                </a:tc>
              </a:tr>
              <a:tr h="62914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F8FAFC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drought_sensitivity</a:t>
                      </a:r>
                      <a:endParaRPr lang="en-US" sz="1100"/>
                    </a:p>
                  </a:txBody>
                  <a:tcPr marL="50292" marR="50292" marT="50292" marB="5029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A3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F8FAFC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Qualitative class with evidence</a:t>
                      </a:r>
                      <a:endParaRPr lang="en-US" sz="1100"/>
                    </a:p>
                  </a:txBody>
                  <a:tcPr marL="50292" marR="50292" marT="50292" marB="5029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A3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F8FAFC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Low/medium/high + source</a:t>
                      </a:r>
                      <a:endParaRPr lang="en-US" sz="1100"/>
                    </a:p>
                  </a:txBody>
                  <a:tcPr marL="50292" marR="50292" marT="50292" marB="5029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A3F"/>
                    </a:solidFill>
                  </a:tcPr>
                </a:tc>
              </a:tr>
              <a:tr h="62914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F8FAFC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soil_constraints</a:t>
                      </a:r>
                      <a:endParaRPr lang="en-US" sz="1100"/>
                    </a:p>
                  </a:txBody>
                  <a:tcPr marL="50292" marR="50292" marT="50292" marB="5029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F8FAFC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Known limitations by soil conditions</a:t>
                      </a:r>
                      <a:endParaRPr lang="en-US" sz="1100"/>
                    </a:p>
                  </a:txBody>
                  <a:tcPr marL="50292" marR="50292" marT="50292" marB="5029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F8FAFC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Text/categories</a:t>
                      </a:r>
                      <a:endParaRPr lang="en-US" sz="1100"/>
                    </a:p>
                  </a:txBody>
                  <a:tcPr marL="50292" marR="50292" marT="50292" marB="5029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B"/>
                    </a:solidFill>
                  </a:tcPr>
                </a:tc>
              </a:tr>
            </a:tbl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1290266" y="8135341"/>
            <a:ext cx="15676007" cy="320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b="true" sz="1576" u="sng">
                <a:solidFill>
                  <a:srgbClr val="0000FF"/>
                </a:solidFill>
                <a:latin typeface="Aptos Bold"/>
                <a:ea typeface="Aptos Bold"/>
                <a:cs typeface="Aptos Bold"/>
                <a:sym typeface="Aptos Bold"/>
                <a:hlinkClick r:id="rId2" tooltip="https://cb.apps.fao.org/country.jsp?code=EGY&amp;lang=en"/>
              </a:rPr>
              <a:t>FAO GIEWS — Egypt country brief / crop calendar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90266" y="8684409"/>
            <a:ext cx="15676007" cy="320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b="true" sz="1576" u="sng">
                <a:solidFill>
                  <a:srgbClr val="0000FF"/>
                </a:solidFill>
                <a:latin typeface="Aptos Bold"/>
                <a:ea typeface="Aptos Bold"/>
                <a:cs typeface="Aptos Bold"/>
                <a:sym typeface="Aptos Bold"/>
                <a:hlinkClick r:id="rId3" tooltip="https://www.fao.org/4/S2022E/s2022e07.htm"/>
              </a:rPr>
              <a:t>FAO crop water information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1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7099" y="517007"/>
            <a:ext cx="16362340" cy="622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3"/>
              </a:lnSpc>
            </a:pPr>
            <a:r>
              <a:rPr lang="en-US" sz="3752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08  |  Optional Dataset — MODIS Vegetation Indices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33421" y="1345216"/>
            <a:ext cx="1235402" cy="75495"/>
            <a:chOff x="0" y="0"/>
            <a:chExt cx="1647203" cy="1006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47190" cy="100711"/>
            </a:xfrm>
            <a:custGeom>
              <a:avLst/>
              <a:gdLst/>
              <a:ahLst/>
              <a:cxnLst/>
              <a:rect r="r" b="b" t="t" l="l"/>
              <a:pathLst>
                <a:path h="100711" w="1647190">
                  <a:moveTo>
                    <a:pt x="0" y="0"/>
                  </a:moveTo>
                  <a:lnTo>
                    <a:pt x="1647190" y="0"/>
                  </a:lnTo>
                  <a:lnTo>
                    <a:pt x="1647190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1FBEA6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988285" y="1573968"/>
            <a:ext cx="16362340" cy="416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9FB4C5"/>
                </a:solidFill>
                <a:latin typeface="Aptos"/>
                <a:ea typeface="Aptos"/>
                <a:cs typeface="Aptos"/>
                <a:sym typeface="Aptos"/>
              </a:rPr>
              <a:t>Use NDVI/EVI to monitor seasonal greenness where spatial scale is appropriate.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664197" y="9800482"/>
            <a:ext cx="645243" cy="220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9FB4C5"/>
                </a:solidFill>
                <a:latin typeface="Aptos"/>
                <a:ea typeface="Aptos"/>
                <a:cs typeface="Aptos"/>
                <a:sym typeface="Aptos"/>
              </a:rPr>
              <a:t>09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98137" y="2470814"/>
            <a:ext cx="7549696" cy="2882608"/>
            <a:chOff x="0" y="0"/>
            <a:chExt cx="10066261" cy="384347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066274" cy="3843528"/>
            </a:xfrm>
            <a:custGeom>
              <a:avLst/>
              <a:gdLst/>
              <a:ahLst/>
              <a:cxnLst/>
              <a:rect r="r" b="b" t="t" l="l"/>
              <a:pathLst>
                <a:path h="3843528" w="10066274">
                  <a:moveTo>
                    <a:pt x="0" y="640588"/>
                  </a:moveTo>
                  <a:cubicBezTo>
                    <a:pt x="0" y="286766"/>
                    <a:pt x="286766" y="0"/>
                    <a:pt x="640588" y="0"/>
                  </a:cubicBezTo>
                  <a:lnTo>
                    <a:pt x="9425686" y="0"/>
                  </a:lnTo>
                  <a:cubicBezTo>
                    <a:pt x="9779508" y="0"/>
                    <a:pt x="10066274" y="286766"/>
                    <a:pt x="10066274" y="640588"/>
                  </a:cubicBezTo>
                  <a:lnTo>
                    <a:pt x="10066274" y="3202940"/>
                  </a:lnTo>
                  <a:cubicBezTo>
                    <a:pt x="10066274" y="3556762"/>
                    <a:pt x="9779508" y="3843528"/>
                    <a:pt x="9425686" y="3843528"/>
                  </a:cubicBezTo>
                  <a:lnTo>
                    <a:pt x="640588" y="3843528"/>
                  </a:lnTo>
                  <a:cubicBezTo>
                    <a:pt x="286766" y="3843528"/>
                    <a:pt x="0" y="3556635"/>
                    <a:pt x="0" y="3202940"/>
                  </a:cubicBezTo>
                  <a:close/>
                </a:path>
              </a:pathLst>
            </a:custGeom>
            <a:solidFill>
              <a:srgbClr val="14304B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98137" y="2635529"/>
            <a:ext cx="75495" cy="2553167"/>
            <a:chOff x="0" y="0"/>
            <a:chExt cx="100660" cy="340422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0711" cy="3404235"/>
            </a:xfrm>
            <a:custGeom>
              <a:avLst/>
              <a:gdLst/>
              <a:ahLst/>
              <a:cxnLst/>
              <a:rect r="r" b="b" t="t" l="l"/>
              <a:pathLst>
                <a:path h="3404235" w="100711">
                  <a:moveTo>
                    <a:pt x="0" y="0"/>
                  </a:moveTo>
                  <a:lnTo>
                    <a:pt x="100711" y="0"/>
                  </a:lnTo>
                  <a:lnTo>
                    <a:pt x="100711" y="3404235"/>
                  </a:lnTo>
                  <a:lnTo>
                    <a:pt x="0" y="3404235"/>
                  </a:lnTo>
                  <a:close/>
                </a:path>
              </a:pathLst>
            </a:custGeom>
            <a:solidFill>
              <a:srgbClr val="1FBEA6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427540" y="2699556"/>
            <a:ext cx="6959536" cy="416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MODIS MOD13Q1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18396" y="3253216"/>
            <a:ext cx="6945782" cy="1985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NDVI and EVI at 250 m resolution.</a:t>
            </a:r>
          </a:p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Composite period: 16 days.</a:t>
            </a:r>
          </a:p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Keep product quality flags and scale factor.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334176" y="2470814"/>
            <a:ext cx="7549696" cy="2882608"/>
            <a:chOff x="0" y="0"/>
            <a:chExt cx="10066261" cy="384347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066274" cy="3843528"/>
            </a:xfrm>
            <a:custGeom>
              <a:avLst/>
              <a:gdLst/>
              <a:ahLst/>
              <a:cxnLst/>
              <a:rect r="r" b="b" t="t" l="l"/>
              <a:pathLst>
                <a:path h="3843528" w="10066274">
                  <a:moveTo>
                    <a:pt x="0" y="640588"/>
                  </a:moveTo>
                  <a:cubicBezTo>
                    <a:pt x="0" y="286766"/>
                    <a:pt x="286766" y="0"/>
                    <a:pt x="640588" y="0"/>
                  </a:cubicBezTo>
                  <a:lnTo>
                    <a:pt x="9425686" y="0"/>
                  </a:lnTo>
                  <a:cubicBezTo>
                    <a:pt x="9779508" y="0"/>
                    <a:pt x="10066274" y="286766"/>
                    <a:pt x="10066274" y="640588"/>
                  </a:cubicBezTo>
                  <a:lnTo>
                    <a:pt x="10066274" y="3202940"/>
                  </a:lnTo>
                  <a:cubicBezTo>
                    <a:pt x="10066274" y="3556762"/>
                    <a:pt x="9779508" y="3843528"/>
                    <a:pt x="9425686" y="3843528"/>
                  </a:cubicBezTo>
                  <a:lnTo>
                    <a:pt x="640588" y="3843528"/>
                  </a:lnTo>
                  <a:cubicBezTo>
                    <a:pt x="286766" y="3843528"/>
                    <a:pt x="0" y="3556635"/>
                    <a:pt x="0" y="3202940"/>
                  </a:cubicBezTo>
                  <a:close/>
                </a:path>
              </a:pathLst>
            </a:custGeom>
            <a:solidFill>
              <a:srgbClr val="14304B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334176" y="2635529"/>
            <a:ext cx="75495" cy="2553167"/>
            <a:chOff x="0" y="0"/>
            <a:chExt cx="100660" cy="340422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0711" cy="3404235"/>
            </a:xfrm>
            <a:custGeom>
              <a:avLst/>
              <a:gdLst/>
              <a:ahLst/>
              <a:cxnLst/>
              <a:rect r="r" b="b" t="t" l="l"/>
              <a:pathLst>
                <a:path h="3404235" w="100711">
                  <a:moveTo>
                    <a:pt x="0" y="0"/>
                  </a:moveTo>
                  <a:lnTo>
                    <a:pt x="100711" y="0"/>
                  </a:lnTo>
                  <a:lnTo>
                    <a:pt x="100711" y="3404235"/>
                  </a:lnTo>
                  <a:lnTo>
                    <a:pt x="0" y="3404235"/>
                  </a:lnTo>
                  <a:close/>
                </a:path>
              </a:pathLst>
            </a:custGeom>
            <a:solidFill>
              <a:srgbClr val="F2B74A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663570" y="2699556"/>
            <a:ext cx="6959536" cy="416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Use carefully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654426" y="3253216"/>
            <a:ext cx="6945782" cy="1985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Greenness is not a direct measure of soil health.</a:t>
            </a:r>
          </a:p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Mixed pixels and small fields complicate interpretation.</a:t>
            </a:r>
          </a:p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Supporting context, not the core rotation score.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90266" y="6350870"/>
            <a:ext cx="15676007" cy="320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b="true" sz="1651" u="sng">
                <a:solidFill>
                  <a:srgbClr val="0000FF"/>
                </a:solidFill>
                <a:latin typeface="Aptos Bold"/>
                <a:ea typeface="Aptos Bold"/>
                <a:cs typeface="Aptos Bold"/>
                <a:sym typeface="Aptos Bold"/>
                <a:hlinkClick r:id="rId2" tooltip="https://ladsweb.modaps.eosdis.nasa.gov/missions-and-measurements/products/MOD13Q1"/>
              </a:rPr>
              <a:t>NASA LAADS MOD13Q1 product page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90266" y="6968576"/>
            <a:ext cx="15676007" cy="320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b="true" sz="1651" u="sng">
                <a:solidFill>
                  <a:srgbClr val="0000FF"/>
                </a:solidFill>
                <a:latin typeface="Aptos Bold"/>
                <a:ea typeface="Aptos Bold"/>
                <a:cs typeface="Aptos Bold"/>
                <a:sym typeface="Aptos Bold"/>
                <a:hlinkClick r:id="rId3" tooltip="https://developers.google.com/earth-engine/datasets/catalog/MODIS_061_MOD13Q1"/>
              </a:rPr>
              <a:t>Google Earth Engine MODIS catalog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90266" y="8066713"/>
            <a:ext cx="15676007" cy="553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 b="true">
                <a:solidFill>
                  <a:srgbClr val="B4EFDB"/>
                </a:solidFill>
                <a:latin typeface="Aptos Bold"/>
                <a:ea typeface="Aptos Bold"/>
                <a:cs typeface="Aptos Bold"/>
                <a:sym typeface="Aptos Bold"/>
              </a:rPr>
              <a:t>Fields: ndvi, evi, observation_date, pixel_quality, product_version and scale_factor.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C1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7099" y="517007"/>
            <a:ext cx="16362340" cy="622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3"/>
              </a:lnSpc>
            </a:pPr>
            <a:r>
              <a:rPr lang="en-US" sz="3752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09  |  Farmer Inputs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33421" y="1345216"/>
            <a:ext cx="1235402" cy="75495"/>
            <a:chOff x="0" y="0"/>
            <a:chExt cx="1647203" cy="1006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47190" cy="100711"/>
            </a:xfrm>
            <a:custGeom>
              <a:avLst/>
              <a:gdLst/>
              <a:ahLst/>
              <a:cxnLst/>
              <a:rect r="r" b="b" t="t" l="l"/>
              <a:pathLst>
                <a:path h="100711" w="1647190">
                  <a:moveTo>
                    <a:pt x="0" y="0"/>
                  </a:moveTo>
                  <a:lnTo>
                    <a:pt x="1647190" y="0"/>
                  </a:lnTo>
                  <a:lnTo>
                    <a:pt x="1647190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1FBEA6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988285" y="1573968"/>
            <a:ext cx="16362340" cy="416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9FB4C5"/>
                </a:solidFill>
                <a:latin typeface="Aptos"/>
                <a:ea typeface="Aptos"/>
                <a:cs typeface="Aptos"/>
                <a:sym typeface="Aptos"/>
              </a:rPr>
              <a:t>Satellite and global datasets do not contain a farm’s full history or priorities.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664197" y="9800482"/>
            <a:ext cx="645243" cy="220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9FB4C5"/>
                </a:solidFill>
                <a:latin typeface="Aptos"/>
                <a:ea typeface="Aptos"/>
                <a:cs typeface="Aptos"/>
                <a:sym typeface="Aptos"/>
              </a:rPr>
              <a:t>10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98137" y="2470814"/>
            <a:ext cx="7686961" cy="4461186"/>
            <a:chOff x="0" y="0"/>
            <a:chExt cx="10249281" cy="59482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249281" cy="5948172"/>
            </a:xfrm>
            <a:custGeom>
              <a:avLst/>
              <a:gdLst/>
              <a:ahLst/>
              <a:cxnLst/>
              <a:rect r="r" b="b" t="t" l="l"/>
              <a:pathLst>
                <a:path h="5948172" w="10249281">
                  <a:moveTo>
                    <a:pt x="0" y="991362"/>
                  </a:moveTo>
                  <a:cubicBezTo>
                    <a:pt x="0" y="443865"/>
                    <a:pt x="443865" y="0"/>
                    <a:pt x="991362" y="0"/>
                  </a:cubicBezTo>
                  <a:lnTo>
                    <a:pt x="9257919" y="0"/>
                  </a:lnTo>
                  <a:cubicBezTo>
                    <a:pt x="9805415" y="0"/>
                    <a:pt x="10249281" y="443865"/>
                    <a:pt x="10249281" y="991362"/>
                  </a:cubicBezTo>
                  <a:lnTo>
                    <a:pt x="10249281" y="4956810"/>
                  </a:lnTo>
                  <a:cubicBezTo>
                    <a:pt x="10249281" y="5504307"/>
                    <a:pt x="9805415" y="5948172"/>
                    <a:pt x="9257919" y="5948172"/>
                  </a:cubicBezTo>
                  <a:lnTo>
                    <a:pt x="991362" y="5948172"/>
                  </a:lnTo>
                  <a:cubicBezTo>
                    <a:pt x="443865" y="5948299"/>
                    <a:pt x="0" y="5504434"/>
                    <a:pt x="0" y="4956810"/>
                  </a:cubicBezTo>
                  <a:close/>
                </a:path>
              </a:pathLst>
            </a:custGeom>
            <a:solidFill>
              <a:srgbClr val="14304B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98137" y="2635529"/>
            <a:ext cx="75495" cy="4131745"/>
            <a:chOff x="0" y="0"/>
            <a:chExt cx="100660" cy="550899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0711" cy="5509006"/>
            </a:xfrm>
            <a:custGeom>
              <a:avLst/>
              <a:gdLst/>
              <a:ahLst/>
              <a:cxnLst/>
              <a:rect r="r" b="b" t="t" l="l"/>
              <a:pathLst>
                <a:path h="5509006" w="100711">
                  <a:moveTo>
                    <a:pt x="0" y="0"/>
                  </a:moveTo>
                  <a:lnTo>
                    <a:pt x="100711" y="0"/>
                  </a:lnTo>
                  <a:lnTo>
                    <a:pt x="100711" y="5509006"/>
                  </a:lnTo>
                  <a:lnTo>
                    <a:pt x="0" y="5509006"/>
                  </a:lnTo>
                  <a:close/>
                </a:path>
              </a:pathLst>
            </a:custGeom>
            <a:solidFill>
              <a:srgbClr val="1FBEA6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427540" y="2699556"/>
            <a:ext cx="7096801" cy="416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Farm profile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18396" y="3253216"/>
            <a:ext cx="7083057" cy="3564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farm_location — coordinates or boundary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previous_crop — last season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previous_2_crops — where known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irrigation_source — e.g. canal/well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water_availability — limited / moderate / high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soil_test_available — yes/no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farm_area_ha — optional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334176" y="2470814"/>
            <a:ext cx="7686961" cy="4461186"/>
            <a:chOff x="0" y="0"/>
            <a:chExt cx="10249281" cy="594824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249281" cy="5948172"/>
            </a:xfrm>
            <a:custGeom>
              <a:avLst/>
              <a:gdLst/>
              <a:ahLst/>
              <a:cxnLst/>
              <a:rect r="r" b="b" t="t" l="l"/>
              <a:pathLst>
                <a:path h="5948172" w="10249281">
                  <a:moveTo>
                    <a:pt x="0" y="991362"/>
                  </a:moveTo>
                  <a:cubicBezTo>
                    <a:pt x="0" y="443865"/>
                    <a:pt x="443865" y="0"/>
                    <a:pt x="991362" y="0"/>
                  </a:cubicBezTo>
                  <a:lnTo>
                    <a:pt x="9257919" y="0"/>
                  </a:lnTo>
                  <a:cubicBezTo>
                    <a:pt x="9805415" y="0"/>
                    <a:pt x="10249281" y="443865"/>
                    <a:pt x="10249281" y="991362"/>
                  </a:cubicBezTo>
                  <a:lnTo>
                    <a:pt x="10249281" y="4956810"/>
                  </a:lnTo>
                  <a:cubicBezTo>
                    <a:pt x="10249281" y="5504307"/>
                    <a:pt x="9805415" y="5948172"/>
                    <a:pt x="9257919" y="5948172"/>
                  </a:cubicBezTo>
                  <a:lnTo>
                    <a:pt x="991362" y="5948172"/>
                  </a:lnTo>
                  <a:cubicBezTo>
                    <a:pt x="443865" y="5948299"/>
                    <a:pt x="0" y="5504434"/>
                    <a:pt x="0" y="4956810"/>
                  </a:cubicBezTo>
                  <a:close/>
                </a:path>
              </a:pathLst>
            </a:custGeom>
            <a:solidFill>
              <a:srgbClr val="14304B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334176" y="2635529"/>
            <a:ext cx="75495" cy="4131745"/>
            <a:chOff x="0" y="0"/>
            <a:chExt cx="100660" cy="550899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0711" cy="5509006"/>
            </a:xfrm>
            <a:custGeom>
              <a:avLst/>
              <a:gdLst/>
              <a:ahLst/>
              <a:cxnLst/>
              <a:rect r="r" b="b" t="t" l="l"/>
              <a:pathLst>
                <a:path h="5509006" w="100711">
                  <a:moveTo>
                    <a:pt x="0" y="0"/>
                  </a:moveTo>
                  <a:lnTo>
                    <a:pt x="100711" y="0"/>
                  </a:lnTo>
                  <a:lnTo>
                    <a:pt x="100711" y="5509006"/>
                  </a:lnTo>
                  <a:lnTo>
                    <a:pt x="0" y="5509006"/>
                  </a:lnTo>
                  <a:close/>
                </a:path>
              </a:pathLst>
            </a:custGeom>
            <a:solidFill>
              <a:srgbClr val="F2B74A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663570" y="2699556"/>
            <a:ext cx="7096801" cy="416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Farmer priorities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654426" y="3253216"/>
            <a:ext cx="7083057" cy="3564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Reduce water use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Support soil health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Improve climate resilience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Maintain productivity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Budget / market constraints (optional)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Let users rank priorities rather than assuming one goal fits everyone.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90266" y="7792174"/>
            <a:ext cx="15676007" cy="690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B4EFDB"/>
                </a:solidFill>
                <a:latin typeface="Aptos Bold"/>
                <a:ea typeface="Aptos Bold"/>
                <a:cs typeface="Aptos Bold"/>
                <a:sym typeface="Aptos Bold"/>
              </a:rPr>
              <a:t>Collect only what the prototype needs; avoid identifiable farmer information unless necessary and consented.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C1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7099" y="517007"/>
            <a:ext cx="16362340" cy="622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3"/>
              </a:lnSpc>
            </a:pPr>
            <a:r>
              <a:rPr lang="en-US" sz="3752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10  |  From Data to Rotation Comparison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33421" y="1345216"/>
            <a:ext cx="1235402" cy="75495"/>
            <a:chOff x="0" y="0"/>
            <a:chExt cx="1647203" cy="1006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47190" cy="100711"/>
            </a:xfrm>
            <a:custGeom>
              <a:avLst/>
              <a:gdLst/>
              <a:ahLst/>
              <a:cxnLst/>
              <a:rect r="r" b="b" t="t" l="l"/>
              <a:pathLst>
                <a:path h="100711" w="1647190">
                  <a:moveTo>
                    <a:pt x="0" y="0"/>
                  </a:moveTo>
                  <a:lnTo>
                    <a:pt x="1647190" y="0"/>
                  </a:lnTo>
                  <a:lnTo>
                    <a:pt x="1647190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1FBEA6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988285" y="1573968"/>
            <a:ext cx="16362340" cy="416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9FB4C5"/>
                </a:solidFill>
                <a:latin typeface="Aptos"/>
                <a:ea typeface="Aptos"/>
                <a:cs typeface="Aptos"/>
                <a:sym typeface="Aptos"/>
              </a:rPr>
              <a:t>Make scoring transparent and evidence-based; avoid false precision.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664197" y="9800482"/>
            <a:ext cx="645243" cy="220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9FB4C5"/>
                </a:solidFill>
                <a:latin typeface="Aptos"/>
                <a:ea typeface="Aptos"/>
                <a:cs typeface="Aptos"/>
                <a:sym typeface="Aptos"/>
              </a:rPr>
              <a:t>11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98137" y="2470814"/>
            <a:ext cx="5147520" cy="3019882"/>
            <a:chOff x="0" y="0"/>
            <a:chExt cx="6863359" cy="402651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863334" cy="4026535"/>
            </a:xfrm>
            <a:custGeom>
              <a:avLst/>
              <a:gdLst/>
              <a:ahLst/>
              <a:cxnLst/>
              <a:rect r="r" b="b" t="t" l="l"/>
              <a:pathLst>
                <a:path h="4026535" w="6863334">
                  <a:moveTo>
                    <a:pt x="0" y="671068"/>
                  </a:moveTo>
                  <a:cubicBezTo>
                    <a:pt x="0" y="300482"/>
                    <a:pt x="300482" y="0"/>
                    <a:pt x="671068" y="0"/>
                  </a:cubicBezTo>
                  <a:lnTo>
                    <a:pt x="6192266" y="0"/>
                  </a:lnTo>
                  <a:cubicBezTo>
                    <a:pt x="6562852" y="0"/>
                    <a:pt x="6863334" y="300482"/>
                    <a:pt x="6863334" y="671068"/>
                  </a:cubicBezTo>
                  <a:lnTo>
                    <a:pt x="6863334" y="3355467"/>
                  </a:lnTo>
                  <a:cubicBezTo>
                    <a:pt x="6863334" y="3726053"/>
                    <a:pt x="6562852" y="4026535"/>
                    <a:pt x="6192266" y="4026535"/>
                  </a:cubicBezTo>
                  <a:lnTo>
                    <a:pt x="671068" y="4026535"/>
                  </a:lnTo>
                  <a:cubicBezTo>
                    <a:pt x="300482" y="4026535"/>
                    <a:pt x="0" y="3726053"/>
                    <a:pt x="0" y="3355467"/>
                  </a:cubicBezTo>
                  <a:close/>
                </a:path>
              </a:pathLst>
            </a:custGeom>
            <a:solidFill>
              <a:srgbClr val="14304B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98137" y="2635529"/>
            <a:ext cx="75495" cy="2690441"/>
            <a:chOff x="0" y="0"/>
            <a:chExt cx="100660" cy="358725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0711" cy="3587242"/>
            </a:xfrm>
            <a:custGeom>
              <a:avLst/>
              <a:gdLst/>
              <a:ahLst/>
              <a:cxnLst/>
              <a:rect r="r" b="b" t="t" l="l"/>
              <a:pathLst>
                <a:path h="3587242" w="100711">
                  <a:moveTo>
                    <a:pt x="0" y="0"/>
                  </a:moveTo>
                  <a:lnTo>
                    <a:pt x="100711" y="0"/>
                  </a:lnTo>
                  <a:lnTo>
                    <a:pt x="100711" y="3587242"/>
                  </a:lnTo>
                  <a:lnTo>
                    <a:pt x="0" y="3587242"/>
                  </a:lnTo>
                  <a:close/>
                </a:path>
              </a:pathLst>
            </a:custGeom>
            <a:solidFill>
              <a:srgbClr val="1FBEA6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427540" y="2699556"/>
            <a:ext cx="4557360" cy="416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Climate fit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18396" y="3253216"/>
            <a:ext cx="4543606" cy="2123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Compare historical conditions with documented crop ranges.</a:t>
            </a:r>
          </a:p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Flag extreme or out-of-range conditions.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588824" y="2470814"/>
            <a:ext cx="5147520" cy="3019882"/>
            <a:chOff x="0" y="0"/>
            <a:chExt cx="6863359" cy="402651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863334" cy="4026535"/>
            </a:xfrm>
            <a:custGeom>
              <a:avLst/>
              <a:gdLst/>
              <a:ahLst/>
              <a:cxnLst/>
              <a:rect r="r" b="b" t="t" l="l"/>
              <a:pathLst>
                <a:path h="4026535" w="6863334">
                  <a:moveTo>
                    <a:pt x="0" y="671068"/>
                  </a:moveTo>
                  <a:cubicBezTo>
                    <a:pt x="0" y="300482"/>
                    <a:pt x="300482" y="0"/>
                    <a:pt x="671068" y="0"/>
                  </a:cubicBezTo>
                  <a:lnTo>
                    <a:pt x="6192266" y="0"/>
                  </a:lnTo>
                  <a:cubicBezTo>
                    <a:pt x="6562852" y="0"/>
                    <a:pt x="6863334" y="300482"/>
                    <a:pt x="6863334" y="671068"/>
                  </a:cubicBezTo>
                  <a:lnTo>
                    <a:pt x="6863334" y="3355467"/>
                  </a:lnTo>
                  <a:cubicBezTo>
                    <a:pt x="6863334" y="3726053"/>
                    <a:pt x="6562852" y="4026535"/>
                    <a:pt x="6192266" y="4026535"/>
                  </a:cubicBezTo>
                  <a:lnTo>
                    <a:pt x="671068" y="4026535"/>
                  </a:lnTo>
                  <a:cubicBezTo>
                    <a:pt x="300482" y="4026535"/>
                    <a:pt x="0" y="3726053"/>
                    <a:pt x="0" y="3355467"/>
                  </a:cubicBezTo>
                  <a:close/>
                </a:path>
              </a:pathLst>
            </a:custGeom>
            <a:solidFill>
              <a:srgbClr val="14304B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588824" y="2635529"/>
            <a:ext cx="75495" cy="2690441"/>
            <a:chOff x="0" y="0"/>
            <a:chExt cx="100660" cy="358725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0711" cy="3587242"/>
            </a:xfrm>
            <a:custGeom>
              <a:avLst/>
              <a:gdLst/>
              <a:ahLst/>
              <a:cxnLst/>
              <a:rect r="r" b="b" t="t" l="l"/>
              <a:pathLst>
                <a:path h="3587242" w="100711">
                  <a:moveTo>
                    <a:pt x="0" y="0"/>
                  </a:moveTo>
                  <a:lnTo>
                    <a:pt x="100711" y="0"/>
                  </a:lnTo>
                  <a:lnTo>
                    <a:pt x="100711" y="3587242"/>
                  </a:lnTo>
                  <a:lnTo>
                    <a:pt x="0" y="3587242"/>
                  </a:lnTo>
                  <a:close/>
                </a:path>
              </a:pathLst>
            </a:custGeom>
            <a:solidFill>
              <a:srgbClr val="F2B74A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918227" y="2699556"/>
            <a:ext cx="4557360" cy="416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Water context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909083" y="3253216"/>
            <a:ext cx="4543606" cy="2123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Compare reference crop-water needs and rainfall context.</a:t>
            </a:r>
          </a:p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Rainfall is not the same as irrigation availability.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079519" y="2470814"/>
            <a:ext cx="5147520" cy="3019882"/>
            <a:chOff x="0" y="0"/>
            <a:chExt cx="6863359" cy="402651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863334" cy="4026535"/>
            </a:xfrm>
            <a:custGeom>
              <a:avLst/>
              <a:gdLst/>
              <a:ahLst/>
              <a:cxnLst/>
              <a:rect r="r" b="b" t="t" l="l"/>
              <a:pathLst>
                <a:path h="4026535" w="6863334">
                  <a:moveTo>
                    <a:pt x="0" y="671068"/>
                  </a:moveTo>
                  <a:cubicBezTo>
                    <a:pt x="0" y="300482"/>
                    <a:pt x="300482" y="0"/>
                    <a:pt x="671068" y="0"/>
                  </a:cubicBezTo>
                  <a:lnTo>
                    <a:pt x="6192266" y="0"/>
                  </a:lnTo>
                  <a:cubicBezTo>
                    <a:pt x="6562852" y="0"/>
                    <a:pt x="6863334" y="300482"/>
                    <a:pt x="6863334" y="671068"/>
                  </a:cubicBezTo>
                  <a:lnTo>
                    <a:pt x="6863334" y="3355467"/>
                  </a:lnTo>
                  <a:cubicBezTo>
                    <a:pt x="6863334" y="3726053"/>
                    <a:pt x="6562852" y="4026535"/>
                    <a:pt x="6192266" y="4026535"/>
                  </a:cubicBezTo>
                  <a:lnTo>
                    <a:pt x="671068" y="4026535"/>
                  </a:lnTo>
                  <a:cubicBezTo>
                    <a:pt x="300482" y="4026535"/>
                    <a:pt x="0" y="3726053"/>
                    <a:pt x="0" y="3355467"/>
                  </a:cubicBezTo>
                  <a:close/>
                </a:path>
              </a:pathLst>
            </a:custGeom>
            <a:solidFill>
              <a:srgbClr val="14304B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2079519" y="2635529"/>
            <a:ext cx="75495" cy="2690441"/>
            <a:chOff x="0" y="0"/>
            <a:chExt cx="100660" cy="358725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0711" cy="3587242"/>
            </a:xfrm>
            <a:custGeom>
              <a:avLst/>
              <a:gdLst/>
              <a:ahLst/>
              <a:cxnLst/>
              <a:rect r="r" b="b" t="t" l="l"/>
              <a:pathLst>
                <a:path h="3587242" w="100711">
                  <a:moveTo>
                    <a:pt x="0" y="0"/>
                  </a:moveTo>
                  <a:lnTo>
                    <a:pt x="100711" y="0"/>
                  </a:lnTo>
                  <a:lnTo>
                    <a:pt x="100711" y="3587242"/>
                  </a:lnTo>
                  <a:lnTo>
                    <a:pt x="0" y="3587242"/>
                  </a:lnTo>
                  <a:close/>
                </a:path>
              </a:pathLst>
            </a:custGeom>
            <a:solidFill>
              <a:srgbClr val="B4EFDB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2408913" y="2699556"/>
            <a:ext cx="4557360" cy="416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Soil &amp; rotation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399769" y="3253216"/>
            <a:ext cx="4543606" cy="2123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Apply soil constraints and rotation rules only where supported.</a:t>
            </a:r>
          </a:p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Show missing or uncertain inputs.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90266" y="6144968"/>
            <a:ext cx="15676007" cy="416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Suggested output per strategy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49759" y="6753530"/>
            <a:ext cx="15703439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Strategy name and crop sequence by season.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Evidence used: climate period, soil dataset and crop reference sources.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Comparison indicators with units and definitions.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Limitations and reasons results may change with local field data.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235402" y="8647833"/>
            <a:ext cx="15648470" cy="617706"/>
            <a:chOff x="0" y="0"/>
            <a:chExt cx="20864627" cy="82360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0864576" cy="823595"/>
            </a:xfrm>
            <a:custGeom>
              <a:avLst/>
              <a:gdLst/>
              <a:ahLst/>
              <a:cxnLst/>
              <a:rect r="r" b="b" t="t" l="l"/>
              <a:pathLst>
                <a:path h="823595" w="20864576">
                  <a:moveTo>
                    <a:pt x="0" y="137287"/>
                  </a:moveTo>
                  <a:cubicBezTo>
                    <a:pt x="0" y="61468"/>
                    <a:pt x="61468" y="0"/>
                    <a:pt x="137287" y="0"/>
                  </a:cubicBezTo>
                  <a:lnTo>
                    <a:pt x="20727288" y="0"/>
                  </a:lnTo>
                  <a:cubicBezTo>
                    <a:pt x="20803107" y="0"/>
                    <a:pt x="20864576" y="61468"/>
                    <a:pt x="20864576" y="137287"/>
                  </a:cubicBezTo>
                  <a:lnTo>
                    <a:pt x="20864576" y="686308"/>
                  </a:lnTo>
                  <a:cubicBezTo>
                    <a:pt x="20864576" y="762127"/>
                    <a:pt x="20803107" y="823595"/>
                    <a:pt x="20727288" y="823595"/>
                  </a:cubicBezTo>
                  <a:lnTo>
                    <a:pt x="137287" y="823595"/>
                  </a:lnTo>
                  <a:cubicBezTo>
                    <a:pt x="61468" y="823595"/>
                    <a:pt x="0" y="762127"/>
                    <a:pt x="0" y="686308"/>
                  </a:cubicBezTo>
                  <a:close/>
                </a:path>
              </a:pathLst>
            </a:custGeom>
            <a:solidFill>
              <a:srgbClr val="182A3F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496168" y="8821684"/>
            <a:ext cx="15126938" cy="210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F2B74A"/>
                </a:solidFill>
                <a:latin typeface="Aptos Bold"/>
                <a:ea typeface="Aptos Bold"/>
                <a:cs typeface="Aptos Bold"/>
                <a:sym typeface="Aptos Bold"/>
              </a:rPr>
              <a:t>Do not promise yield gains, exact irrigation amounts or a universally “best” rotation without validation.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C1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7099" y="517007"/>
            <a:ext cx="16362340" cy="622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3"/>
              </a:lnSpc>
            </a:pPr>
            <a:r>
              <a:rPr lang="en-US" sz="3752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11  |  Data Quality &amp; Metadata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33421" y="1345216"/>
            <a:ext cx="1235402" cy="75495"/>
            <a:chOff x="0" y="0"/>
            <a:chExt cx="1647203" cy="1006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47190" cy="100711"/>
            </a:xfrm>
            <a:custGeom>
              <a:avLst/>
              <a:gdLst/>
              <a:ahLst/>
              <a:cxnLst/>
              <a:rect r="r" b="b" t="t" l="l"/>
              <a:pathLst>
                <a:path h="100711" w="1647190">
                  <a:moveTo>
                    <a:pt x="0" y="0"/>
                  </a:moveTo>
                  <a:lnTo>
                    <a:pt x="1647190" y="0"/>
                  </a:lnTo>
                  <a:lnTo>
                    <a:pt x="1647190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1FBEA6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988285" y="1573968"/>
            <a:ext cx="16362340" cy="416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9FB4C5"/>
                </a:solidFill>
                <a:latin typeface="Aptos"/>
                <a:ea typeface="Aptos"/>
                <a:cs typeface="Aptos"/>
                <a:sym typeface="Aptos"/>
              </a:rPr>
              <a:t>Every dataset must carry its provenance into the prototype.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664197" y="9800482"/>
            <a:ext cx="645243" cy="220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9FB4C5"/>
                </a:solidFill>
                <a:latin typeface="Aptos"/>
                <a:ea typeface="Aptos"/>
                <a:cs typeface="Aptos"/>
                <a:sym typeface="Aptos"/>
              </a:rPr>
              <a:t>12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98137" y="2470814"/>
            <a:ext cx="7686961" cy="3088510"/>
            <a:chOff x="0" y="0"/>
            <a:chExt cx="10249281" cy="411801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249281" cy="4117975"/>
            </a:xfrm>
            <a:custGeom>
              <a:avLst/>
              <a:gdLst/>
              <a:ahLst/>
              <a:cxnLst/>
              <a:rect r="r" b="b" t="t" l="l"/>
              <a:pathLst>
                <a:path h="4117975" w="10249281">
                  <a:moveTo>
                    <a:pt x="0" y="686308"/>
                  </a:moveTo>
                  <a:cubicBezTo>
                    <a:pt x="0" y="307340"/>
                    <a:pt x="307340" y="0"/>
                    <a:pt x="686308" y="0"/>
                  </a:cubicBezTo>
                  <a:lnTo>
                    <a:pt x="9562973" y="0"/>
                  </a:lnTo>
                  <a:cubicBezTo>
                    <a:pt x="9942068" y="0"/>
                    <a:pt x="10249281" y="307340"/>
                    <a:pt x="10249281" y="686308"/>
                  </a:cubicBezTo>
                  <a:lnTo>
                    <a:pt x="10249281" y="3431667"/>
                  </a:lnTo>
                  <a:cubicBezTo>
                    <a:pt x="10249281" y="3810762"/>
                    <a:pt x="9941941" y="4117975"/>
                    <a:pt x="9562973" y="4117975"/>
                  </a:cubicBezTo>
                  <a:lnTo>
                    <a:pt x="686308" y="4117975"/>
                  </a:lnTo>
                  <a:cubicBezTo>
                    <a:pt x="307340" y="4117975"/>
                    <a:pt x="0" y="3810762"/>
                    <a:pt x="0" y="3431667"/>
                  </a:cubicBezTo>
                  <a:close/>
                </a:path>
              </a:pathLst>
            </a:custGeom>
            <a:solidFill>
              <a:srgbClr val="14304B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98137" y="2635529"/>
            <a:ext cx="75495" cy="2759069"/>
            <a:chOff x="0" y="0"/>
            <a:chExt cx="100660" cy="36787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0711" cy="3678809"/>
            </a:xfrm>
            <a:custGeom>
              <a:avLst/>
              <a:gdLst/>
              <a:ahLst/>
              <a:cxnLst/>
              <a:rect r="r" b="b" t="t" l="l"/>
              <a:pathLst>
                <a:path h="3678809" w="100711">
                  <a:moveTo>
                    <a:pt x="0" y="0"/>
                  </a:moveTo>
                  <a:lnTo>
                    <a:pt x="100711" y="0"/>
                  </a:lnTo>
                  <a:lnTo>
                    <a:pt x="100711" y="3678809"/>
                  </a:lnTo>
                  <a:lnTo>
                    <a:pt x="0" y="3678809"/>
                  </a:lnTo>
                  <a:close/>
                </a:path>
              </a:pathLst>
            </a:custGeom>
            <a:solidFill>
              <a:srgbClr val="1FBEA6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427540" y="2699556"/>
            <a:ext cx="7096801" cy="416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Required metadata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18396" y="3253216"/>
            <a:ext cx="7083057" cy="2191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source_name and URL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dataset/product version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retrieval date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time coverage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spatial resolution / grid cell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units and missing-value codes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334176" y="2470814"/>
            <a:ext cx="7686961" cy="3088510"/>
            <a:chOff x="0" y="0"/>
            <a:chExt cx="10249281" cy="411801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249281" cy="4117975"/>
            </a:xfrm>
            <a:custGeom>
              <a:avLst/>
              <a:gdLst/>
              <a:ahLst/>
              <a:cxnLst/>
              <a:rect r="r" b="b" t="t" l="l"/>
              <a:pathLst>
                <a:path h="4117975" w="10249281">
                  <a:moveTo>
                    <a:pt x="0" y="686308"/>
                  </a:moveTo>
                  <a:cubicBezTo>
                    <a:pt x="0" y="307340"/>
                    <a:pt x="307340" y="0"/>
                    <a:pt x="686308" y="0"/>
                  </a:cubicBezTo>
                  <a:lnTo>
                    <a:pt x="9562973" y="0"/>
                  </a:lnTo>
                  <a:cubicBezTo>
                    <a:pt x="9942068" y="0"/>
                    <a:pt x="10249281" y="307340"/>
                    <a:pt x="10249281" y="686308"/>
                  </a:cubicBezTo>
                  <a:lnTo>
                    <a:pt x="10249281" y="3431667"/>
                  </a:lnTo>
                  <a:cubicBezTo>
                    <a:pt x="10249281" y="3810762"/>
                    <a:pt x="9941941" y="4117975"/>
                    <a:pt x="9562973" y="4117975"/>
                  </a:cubicBezTo>
                  <a:lnTo>
                    <a:pt x="686308" y="4117975"/>
                  </a:lnTo>
                  <a:cubicBezTo>
                    <a:pt x="307340" y="4117975"/>
                    <a:pt x="0" y="3810762"/>
                    <a:pt x="0" y="3431667"/>
                  </a:cubicBezTo>
                  <a:close/>
                </a:path>
              </a:pathLst>
            </a:custGeom>
            <a:solidFill>
              <a:srgbClr val="14304B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334176" y="2635529"/>
            <a:ext cx="75495" cy="2759069"/>
            <a:chOff x="0" y="0"/>
            <a:chExt cx="100660" cy="367875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0711" cy="3678809"/>
            </a:xfrm>
            <a:custGeom>
              <a:avLst/>
              <a:gdLst/>
              <a:ahLst/>
              <a:cxnLst/>
              <a:rect r="r" b="b" t="t" l="l"/>
              <a:pathLst>
                <a:path h="3678809" w="100711">
                  <a:moveTo>
                    <a:pt x="0" y="0"/>
                  </a:moveTo>
                  <a:lnTo>
                    <a:pt x="100711" y="0"/>
                  </a:lnTo>
                  <a:lnTo>
                    <a:pt x="100711" y="3678809"/>
                  </a:lnTo>
                  <a:lnTo>
                    <a:pt x="0" y="3678809"/>
                  </a:lnTo>
                  <a:close/>
                </a:path>
              </a:pathLst>
            </a:custGeom>
            <a:solidFill>
              <a:srgbClr val="F2B74A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663570" y="2699556"/>
            <a:ext cx="7096801" cy="416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Validation checks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654426" y="3253216"/>
            <a:ext cx="7083057" cy="2191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Check API status and CSV headers.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Check missing values and outliers.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Keep quality flags; do not silently fill gaps.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Do not mix incompatible units or resolutions.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90266" y="6350870"/>
            <a:ext cx="15676007" cy="416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Recommended data dictionary columns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58903" y="7027678"/>
            <a:ext cx="15538742" cy="1180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B4EFDB"/>
                </a:solidFill>
                <a:latin typeface="Aptos"/>
                <a:ea typeface="Aptos"/>
                <a:cs typeface="Aptos"/>
                <a:sym typeface="Aptos"/>
              </a:rPr>
              <a:t>field_name | definition | unit | source_url | dataset_version | spatial_resolution | time_resolution | coverage_start | coverage_end | missing_value_rule | limitations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90266" y="8753046"/>
            <a:ext cx="15676007" cy="347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Store raw downloads separately from cleaned data to keep results reproducible.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1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7099" y="517007"/>
            <a:ext cx="16362340" cy="622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3"/>
              </a:lnSpc>
            </a:pPr>
            <a:r>
              <a:rPr lang="en-US" sz="3752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12  |  Source Directory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33421" y="1345216"/>
            <a:ext cx="1235402" cy="75495"/>
            <a:chOff x="0" y="0"/>
            <a:chExt cx="1647203" cy="1006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47190" cy="100711"/>
            </a:xfrm>
            <a:custGeom>
              <a:avLst/>
              <a:gdLst/>
              <a:ahLst/>
              <a:cxnLst/>
              <a:rect r="r" b="b" t="t" l="l"/>
              <a:pathLst>
                <a:path h="100711" w="1647190">
                  <a:moveTo>
                    <a:pt x="0" y="0"/>
                  </a:moveTo>
                  <a:lnTo>
                    <a:pt x="1647190" y="0"/>
                  </a:lnTo>
                  <a:lnTo>
                    <a:pt x="1647190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1FBEA6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988285" y="1573968"/>
            <a:ext cx="16362340" cy="416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9FB4C5"/>
                </a:solidFill>
                <a:latin typeface="Aptos"/>
                <a:ea typeface="Aptos"/>
                <a:cs typeface="Aptos"/>
                <a:sym typeface="Aptos"/>
              </a:rPr>
              <a:t>Primary sources for the first prototype.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664197" y="9800482"/>
            <a:ext cx="645243" cy="220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9FB4C5"/>
                </a:solidFill>
                <a:latin typeface="Aptos"/>
                <a:ea typeface="Aptos"/>
                <a:cs typeface="Aptos"/>
                <a:sym typeface="Aptos"/>
              </a:rPr>
              <a:t>13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166774" y="2402176"/>
            <a:ext cx="15785735" cy="796147"/>
            <a:chOff x="0" y="0"/>
            <a:chExt cx="21047646" cy="106153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047583" cy="1061466"/>
            </a:xfrm>
            <a:custGeom>
              <a:avLst/>
              <a:gdLst/>
              <a:ahLst/>
              <a:cxnLst/>
              <a:rect r="r" b="b" t="t" l="l"/>
              <a:pathLst>
                <a:path h="1061466" w="21047583">
                  <a:moveTo>
                    <a:pt x="0" y="176911"/>
                  </a:moveTo>
                  <a:cubicBezTo>
                    <a:pt x="0" y="79248"/>
                    <a:pt x="79248" y="0"/>
                    <a:pt x="176911" y="0"/>
                  </a:cubicBezTo>
                  <a:lnTo>
                    <a:pt x="20870672" y="0"/>
                  </a:lnTo>
                  <a:cubicBezTo>
                    <a:pt x="20968336" y="0"/>
                    <a:pt x="21047583" y="79248"/>
                    <a:pt x="21047583" y="176911"/>
                  </a:cubicBezTo>
                  <a:lnTo>
                    <a:pt x="21047583" y="884555"/>
                  </a:lnTo>
                  <a:cubicBezTo>
                    <a:pt x="21047583" y="982218"/>
                    <a:pt x="20968336" y="1061466"/>
                    <a:pt x="20870672" y="1061466"/>
                  </a:cubicBezTo>
                  <a:lnTo>
                    <a:pt x="176911" y="1061466"/>
                  </a:lnTo>
                  <a:cubicBezTo>
                    <a:pt x="79248" y="1061593"/>
                    <a:pt x="0" y="982345"/>
                    <a:pt x="0" y="884555"/>
                  </a:cubicBezTo>
                  <a:close/>
                </a:path>
              </a:pathLst>
            </a:custGeom>
            <a:solidFill>
              <a:srgbClr val="14304B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496168" y="2630929"/>
            <a:ext cx="11283448" cy="279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NASA POWER daily API documentation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026619" y="2644654"/>
            <a:ext cx="3459223" cy="320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b="true" sz="1426" u="sng">
                <a:solidFill>
                  <a:srgbClr val="0000FF"/>
                </a:solidFill>
                <a:latin typeface="Aptos Bold"/>
                <a:ea typeface="Aptos Bold"/>
                <a:cs typeface="Aptos Bold"/>
                <a:sym typeface="Aptos Bold"/>
                <a:hlinkClick r:id="rId2" tooltip="https://power.larc.nasa.gov/docs/services/api/temporal/daily/"/>
              </a:rPr>
              <a:t>Open source ↗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166774" y="3472863"/>
            <a:ext cx="15785735" cy="796147"/>
            <a:chOff x="0" y="0"/>
            <a:chExt cx="21047646" cy="106153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047583" cy="1061466"/>
            </a:xfrm>
            <a:custGeom>
              <a:avLst/>
              <a:gdLst/>
              <a:ahLst/>
              <a:cxnLst/>
              <a:rect r="r" b="b" t="t" l="l"/>
              <a:pathLst>
                <a:path h="1061466" w="21047583">
                  <a:moveTo>
                    <a:pt x="0" y="176911"/>
                  </a:moveTo>
                  <a:cubicBezTo>
                    <a:pt x="0" y="79248"/>
                    <a:pt x="79248" y="0"/>
                    <a:pt x="176911" y="0"/>
                  </a:cubicBezTo>
                  <a:lnTo>
                    <a:pt x="20870672" y="0"/>
                  </a:lnTo>
                  <a:cubicBezTo>
                    <a:pt x="20968336" y="0"/>
                    <a:pt x="21047583" y="79248"/>
                    <a:pt x="21047583" y="176911"/>
                  </a:cubicBezTo>
                  <a:lnTo>
                    <a:pt x="21047583" y="884555"/>
                  </a:lnTo>
                  <a:cubicBezTo>
                    <a:pt x="21047583" y="982218"/>
                    <a:pt x="20968336" y="1061466"/>
                    <a:pt x="20870672" y="1061466"/>
                  </a:cubicBezTo>
                  <a:lnTo>
                    <a:pt x="176911" y="1061466"/>
                  </a:lnTo>
                  <a:cubicBezTo>
                    <a:pt x="79248" y="1061593"/>
                    <a:pt x="0" y="982345"/>
                    <a:pt x="0" y="884555"/>
                  </a:cubicBezTo>
                  <a:close/>
                </a:path>
              </a:pathLst>
            </a:custGeom>
            <a:solidFill>
              <a:srgbClr val="14304B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496168" y="3701615"/>
            <a:ext cx="11283448" cy="279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NASA POWER portal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026619" y="3715341"/>
            <a:ext cx="3459223" cy="320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b="true" sz="1426" u="sng">
                <a:solidFill>
                  <a:srgbClr val="0000FF"/>
                </a:solidFill>
                <a:latin typeface="Aptos Bold"/>
                <a:ea typeface="Aptos Bold"/>
                <a:cs typeface="Aptos Bold"/>
                <a:sym typeface="Aptos Bold"/>
                <a:hlinkClick r:id="rId3" tooltip="https://power.larc.nasa.gov/"/>
              </a:rPr>
              <a:t>Open source ↗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166774" y="4543549"/>
            <a:ext cx="15785735" cy="796147"/>
            <a:chOff x="0" y="0"/>
            <a:chExt cx="21047646" cy="106153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047583" cy="1061466"/>
            </a:xfrm>
            <a:custGeom>
              <a:avLst/>
              <a:gdLst/>
              <a:ahLst/>
              <a:cxnLst/>
              <a:rect r="r" b="b" t="t" l="l"/>
              <a:pathLst>
                <a:path h="1061466" w="21047583">
                  <a:moveTo>
                    <a:pt x="0" y="176911"/>
                  </a:moveTo>
                  <a:cubicBezTo>
                    <a:pt x="0" y="79248"/>
                    <a:pt x="79248" y="0"/>
                    <a:pt x="176911" y="0"/>
                  </a:cubicBezTo>
                  <a:lnTo>
                    <a:pt x="20870672" y="0"/>
                  </a:lnTo>
                  <a:cubicBezTo>
                    <a:pt x="20968336" y="0"/>
                    <a:pt x="21047583" y="79248"/>
                    <a:pt x="21047583" y="176911"/>
                  </a:cubicBezTo>
                  <a:lnTo>
                    <a:pt x="21047583" y="884555"/>
                  </a:lnTo>
                  <a:cubicBezTo>
                    <a:pt x="21047583" y="982218"/>
                    <a:pt x="20968336" y="1061466"/>
                    <a:pt x="20870672" y="1061466"/>
                  </a:cubicBezTo>
                  <a:lnTo>
                    <a:pt x="176911" y="1061466"/>
                  </a:lnTo>
                  <a:cubicBezTo>
                    <a:pt x="79248" y="1061593"/>
                    <a:pt x="0" y="982345"/>
                    <a:pt x="0" y="884555"/>
                  </a:cubicBezTo>
                  <a:close/>
                </a:path>
              </a:pathLst>
            </a:custGeom>
            <a:solidFill>
              <a:srgbClr val="14304B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496168" y="4772292"/>
            <a:ext cx="11283448" cy="279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FAO / IIASA Harmonized World Soil Database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026619" y="4786027"/>
            <a:ext cx="3459223" cy="320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b="true" sz="1426" u="sng">
                <a:solidFill>
                  <a:srgbClr val="0000FF"/>
                </a:solidFill>
                <a:latin typeface="Aptos Bold"/>
                <a:ea typeface="Aptos Bold"/>
                <a:cs typeface="Aptos Bold"/>
                <a:sym typeface="Aptos Bold"/>
                <a:hlinkClick r:id="rId4" tooltip="https://www.fao.org/land-water/resources/tools/databases/hwsd/en"/>
              </a:rPr>
              <a:t>Open source ↗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166774" y="5614225"/>
            <a:ext cx="15785735" cy="796147"/>
            <a:chOff x="0" y="0"/>
            <a:chExt cx="21047646" cy="106153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047583" cy="1061466"/>
            </a:xfrm>
            <a:custGeom>
              <a:avLst/>
              <a:gdLst/>
              <a:ahLst/>
              <a:cxnLst/>
              <a:rect r="r" b="b" t="t" l="l"/>
              <a:pathLst>
                <a:path h="1061466" w="21047583">
                  <a:moveTo>
                    <a:pt x="0" y="176911"/>
                  </a:moveTo>
                  <a:cubicBezTo>
                    <a:pt x="0" y="79248"/>
                    <a:pt x="79248" y="0"/>
                    <a:pt x="176911" y="0"/>
                  </a:cubicBezTo>
                  <a:lnTo>
                    <a:pt x="20870672" y="0"/>
                  </a:lnTo>
                  <a:cubicBezTo>
                    <a:pt x="20968336" y="0"/>
                    <a:pt x="21047583" y="79248"/>
                    <a:pt x="21047583" y="176911"/>
                  </a:cubicBezTo>
                  <a:lnTo>
                    <a:pt x="21047583" y="884555"/>
                  </a:lnTo>
                  <a:cubicBezTo>
                    <a:pt x="21047583" y="982218"/>
                    <a:pt x="20968336" y="1061466"/>
                    <a:pt x="20870672" y="1061466"/>
                  </a:cubicBezTo>
                  <a:lnTo>
                    <a:pt x="176911" y="1061466"/>
                  </a:lnTo>
                  <a:cubicBezTo>
                    <a:pt x="79248" y="1061593"/>
                    <a:pt x="0" y="982345"/>
                    <a:pt x="0" y="884555"/>
                  </a:cubicBezTo>
                  <a:close/>
                </a:path>
              </a:pathLst>
            </a:custGeom>
            <a:solidFill>
              <a:srgbClr val="14304B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496168" y="5842978"/>
            <a:ext cx="11283448" cy="279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FAO Soil Portal — HWSD reference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026619" y="5856703"/>
            <a:ext cx="3459223" cy="320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b="true" sz="1426" u="sng">
                <a:solidFill>
                  <a:srgbClr val="0000FF"/>
                </a:solidFill>
                <a:latin typeface="Aptos Bold"/>
                <a:ea typeface="Aptos Bold"/>
                <a:cs typeface="Aptos Bold"/>
                <a:sym typeface="Aptos Bold"/>
                <a:hlinkClick r:id="rId5" tooltip="https://www.fao.org/soils-portal/soil-survey/soil-maps-and-databases/harmonized-world-soil-database-v12/en/"/>
              </a:rPr>
              <a:t>Open source ↗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166774" y="6684912"/>
            <a:ext cx="15785735" cy="796147"/>
            <a:chOff x="0" y="0"/>
            <a:chExt cx="21047646" cy="106153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047583" cy="1061466"/>
            </a:xfrm>
            <a:custGeom>
              <a:avLst/>
              <a:gdLst/>
              <a:ahLst/>
              <a:cxnLst/>
              <a:rect r="r" b="b" t="t" l="l"/>
              <a:pathLst>
                <a:path h="1061466" w="21047583">
                  <a:moveTo>
                    <a:pt x="0" y="176911"/>
                  </a:moveTo>
                  <a:cubicBezTo>
                    <a:pt x="0" y="79248"/>
                    <a:pt x="79248" y="0"/>
                    <a:pt x="176911" y="0"/>
                  </a:cubicBezTo>
                  <a:lnTo>
                    <a:pt x="20870672" y="0"/>
                  </a:lnTo>
                  <a:cubicBezTo>
                    <a:pt x="20968336" y="0"/>
                    <a:pt x="21047583" y="79248"/>
                    <a:pt x="21047583" y="176911"/>
                  </a:cubicBezTo>
                  <a:lnTo>
                    <a:pt x="21047583" y="884555"/>
                  </a:lnTo>
                  <a:cubicBezTo>
                    <a:pt x="21047583" y="982218"/>
                    <a:pt x="20968336" y="1061466"/>
                    <a:pt x="20870672" y="1061466"/>
                  </a:cubicBezTo>
                  <a:lnTo>
                    <a:pt x="176911" y="1061466"/>
                  </a:lnTo>
                  <a:cubicBezTo>
                    <a:pt x="79248" y="1061593"/>
                    <a:pt x="0" y="982345"/>
                    <a:pt x="0" y="884555"/>
                  </a:cubicBezTo>
                  <a:close/>
                </a:path>
              </a:pathLst>
            </a:custGeom>
            <a:solidFill>
              <a:srgbClr val="14304B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496168" y="6913664"/>
            <a:ext cx="11283448" cy="279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NSIDC SMAP data portal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026619" y="6927390"/>
            <a:ext cx="3459223" cy="320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b="true" sz="1426" u="sng">
                <a:solidFill>
                  <a:srgbClr val="0000FF"/>
                </a:solidFill>
                <a:latin typeface="Aptos Bold"/>
                <a:ea typeface="Aptos Bold"/>
                <a:cs typeface="Aptos Bold"/>
                <a:sym typeface="Aptos Bold"/>
                <a:hlinkClick r:id="rId6" tooltip="https://nsidc.org/data/smap"/>
              </a:rPr>
              <a:t>Open source ↗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166774" y="7755598"/>
            <a:ext cx="15785735" cy="796147"/>
            <a:chOff x="0" y="0"/>
            <a:chExt cx="21047646" cy="106153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047583" cy="1061466"/>
            </a:xfrm>
            <a:custGeom>
              <a:avLst/>
              <a:gdLst/>
              <a:ahLst/>
              <a:cxnLst/>
              <a:rect r="r" b="b" t="t" l="l"/>
              <a:pathLst>
                <a:path h="1061466" w="21047583">
                  <a:moveTo>
                    <a:pt x="0" y="176911"/>
                  </a:moveTo>
                  <a:cubicBezTo>
                    <a:pt x="0" y="79248"/>
                    <a:pt x="79248" y="0"/>
                    <a:pt x="176911" y="0"/>
                  </a:cubicBezTo>
                  <a:lnTo>
                    <a:pt x="20870672" y="0"/>
                  </a:lnTo>
                  <a:cubicBezTo>
                    <a:pt x="20968336" y="0"/>
                    <a:pt x="21047583" y="79248"/>
                    <a:pt x="21047583" y="176911"/>
                  </a:cubicBezTo>
                  <a:lnTo>
                    <a:pt x="21047583" y="884555"/>
                  </a:lnTo>
                  <a:cubicBezTo>
                    <a:pt x="21047583" y="982218"/>
                    <a:pt x="20968336" y="1061466"/>
                    <a:pt x="20870672" y="1061466"/>
                  </a:cubicBezTo>
                  <a:lnTo>
                    <a:pt x="176911" y="1061466"/>
                  </a:lnTo>
                  <a:cubicBezTo>
                    <a:pt x="79248" y="1061593"/>
                    <a:pt x="0" y="982345"/>
                    <a:pt x="0" y="884555"/>
                  </a:cubicBezTo>
                  <a:close/>
                </a:path>
              </a:pathLst>
            </a:custGeom>
            <a:solidFill>
              <a:srgbClr val="14304B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496168" y="7984350"/>
            <a:ext cx="11283448" cy="279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NASA-USDA global soil moisture data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026619" y="7998076"/>
            <a:ext cx="3459223" cy="320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b="true" sz="1426" u="sng">
                <a:solidFill>
                  <a:srgbClr val="0000FF"/>
                </a:solidFill>
                <a:latin typeface="Aptos Bold"/>
                <a:ea typeface="Aptos Bold"/>
                <a:cs typeface="Aptos Bold"/>
                <a:sym typeface="Aptos Bold"/>
                <a:hlinkClick r:id="rId7" tooltip="https://earth.gsfc.nasa.gov/hydro/data/nasa-usda-global-soil-moisture-data"/>
              </a:rPr>
              <a:t>Open source ↗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1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7099" y="517007"/>
            <a:ext cx="16362340" cy="622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3"/>
              </a:lnSpc>
            </a:pPr>
            <a:r>
              <a:rPr lang="en-US" sz="3752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13  |  Source Directory — Continued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33421" y="1345216"/>
            <a:ext cx="1235402" cy="75495"/>
            <a:chOff x="0" y="0"/>
            <a:chExt cx="1647203" cy="1006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47190" cy="100711"/>
            </a:xfrm>
            <a:custGeom>
              <a:avLst/>
              <a:gdLst/>
              <a:ahLst/>
              <a:cxnLst/>
              <a:rect r="r" b="b" t="t" l="l"/>
              <a:pathLst>
                <a:path h="100711" w="1647190">
                  <a:moveTo>
                    <a:pt x="0" y="0"/>
                  </a:moveTo>
                  <a:lnTo>
                    <a:pt x="1647190" y="0"/>
                  </a:lnTo>
                  <a:lnTo>
                    <a:pt x="1647190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1FBEA6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988285" y="1573968"/>
            <a:ext cx="16362340" cy="416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9FB4C5"/>
                </a:solidFill>
                <a:latin typeface="Aptos"/>
                <a:ea typeface="Aptos"/>
                <a:cs typeface="Aptos"/>
                <a:sym typeface="Aptos"/>
              </a:rPr>
              <a:t>Crop references and optional vegetation data.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664197" y="9800482"/>
            <a:ext cx="645243" cy="220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9FB4C5"/>
                </a:solidFill>
                <a:latin typeface="Aptos"/>
                <a:ea typeface="Aptos"/>
                <a:cs typeface="Aptos"/>
                <a:sym typeface="Aptos"/>
              </a:rPr>
              <a:t>14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166774" y="2402176"/>
            <a:ext cx="15785735" cy="796147"/>
            <a:chOff x="0" y="0"/>
            <a:chExt cx="21047646" cy="106153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047583" cy="1061466"/>
            </a:xfrm>
            <a:custGeom>
              <a:avLst/>
              <a:gdLst/>
              <a:ahLst/>
              <a:cxnLst/>
              <a:rect r="r" b="b" t="t" l="l"/>
              <a:pathLst>
                <a:path h="1061466" w="21047583">
                  <a:moveTo>
                    <a:pt x="0" y="176911"/>
                  </a:moveTo>
                  <a:cubicBezTo>
                    <a:pt x="0" y="79248"/>
                    <a:pt x="79248" y="0"/>
                    <a:pt x="176911" y="0"/>
                  </a:cubicBezTo>
                  <a:lnTo>
                    <a:pt x="20870672" y="0"/>
                  </a:lnTo>
                  <a:cubicBezTo>
                    <a:pt x="20968336" y="0"/>
                    <a:pt x="21047583" y="79248"/>
                    <a:pt x="21047583" y="176911"/>
                  </a:cubicBezTo>
                  <a:lnTo>
                    <a:pt x="21047583" y="884555"/>
                  </a:lnTo>
                  <a:cubicBezTo>
                    <a:pt x="21047583" y="982218"/>
                    <a:pt x="20968336" y="1061466"/>
                    <a:pt x="20870672" y="1061466"/>
                  </a:cubicBezTo>
                  <a:lnTo>
                    <a:pt x="176911" y="1061466"/>
                  </a:lnTo>
                  <a:cubicBezTo>
                    <a:pt x="79248" y="1061593"/>
                    <a:pt x="0" y="982345"/>
                    <a:pt x="0" y="884555"/>
                  </a:cubicBezTo>
                  <a:close/>
                </a:path>
              </a:pathLst>
            </a:custGeom>
            <a:solidFill>
              <a:srgbClr val="14304B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496168" y="2630929"/>
            <a:ext cx="11283448" cy="279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FAO GIEWS — Egypt country brief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026619" y="2644654"/>
            <a:ext cx="3459223" cy="320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b="true" sz="1426" u="sng">
                <a:solidFill>
                  <a:srgbClr val="0000FF"/>
                </a:solidFill>
                <a:latin typeface="Aptos Bold"/>
                <a:ea typeface="Aptos Bold"/>
                <a:cs typeface="Aptos Bold"/>
                <a:sym typeface="Aptos Bold"/>
                <a:hlinkClick r:id="rId2" tooltip="https://cb.apps.fao.org/country.jsp?code=EGY&amp;lang=en"/>
              </a:rPr>
              <a:t>Open source ↗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166774" y="3472863"/>
            <a:ext cx="15785735" cy="796147"/>
            <a:chOff x="0" y="0"/>
            <a:chExt cx="21047646" cy="106153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047583" cy="1061466"/>
            </a:xfrm>
            <a:custGeom>
              <a:avLst/>
              <a:gdLst/>
              <a:ahLst/>
              <a:cxnLst/>
              <a:rect r="r" b="b" t="t" l="l"/>
              <a:pathLst>
                <a:path h="1061466" w="21047583">
                  <a:moveTo>
                    <a:pt x="0" y="176911"/>
                  </a:moveTo>
                  <a:cubicBezTo>
                    <a:pt x="0" y="79248"/>
                    <a:pt x="79248" y="0"/>
                    <a:pt x="176911" y="0"/>
                  </a:cubicBezTo>
                  <a:lnTo>
                    <a:pt x="20870672" y="0"/>
                  </a:lnTo>
                  <a:cubicBezTo>
                    <a:pt x="20968336" y="0"/>
                    <a:pt x="21047583" y="79248"/>
                    <a:pt x="21047583" y="176911"/>
                  </a:cubicBezTo>
                  <a:lnTo>
                    <a:pt x="21047583" y="884555"/>
                  </a:lnTo>
                  <a:cubicBezTo>
                    <a:pt x="21047583" y="982218"/>
                    <a:pt x="20968336" y="1061466"/>
                    <a:pt x="20870672" y="1061466"/>
                  </a:cubicBezTo>
                  <a:lnTo>
                    <a:pt x="176911" y="1061466"/>
                  </a:lnTo>
                  <a:cubicBezTo>
                    <a:pt x="79248" y="1061593"/>
                    <a:pt x="0" y="982345"/>
                    <a:pt x="0" y="884555"/>
                  </a:cubicBezTo>
                  <a:close/>
                </a:path>
              </a:pathLst>
            </a:custGeom>
            <a:solidFill>
              <a:srgbClr val="14304B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496168" y="3701615"/>
            <a:ext cx="11283448" cy="279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FAO crop water information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026619" y="3715341"/>
            <a:ext cx="3459223" cy="320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b="true" sz="1426" u="sng">
                <a:solidFill>
                  <a:srgbClr val="0000FF"/>
                </a:solidFill>
                <a:latin typeface="Aptos Bold"/>
                <a:ea typeface="Aptos Bold"/>
                <a:cs typeface="Aptos Bold"/>
                <a:sym typeface="Aptos Bold"/>
                <a:hlinkClick r:id="rId3" tooltip="https://www.fao.org/4/S2022E/s2022e07.htm"/>
              </a:rPr>
              <a:t>Open source ↗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166774" y="4543549"/>
            <a:ext cx="15785735" cy="796147"/>
            <a:chOff x="0" y="0"/>
            <a:chExt cx="21047646" cy="106153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047583" cy="1061466"/>
            </a:xfrm>
            <a:custGeom>
              <a:avLst/>
              <a:gdLst/>
              <a:ahLst/>
              <a:cxnLst/>
              <a:rect r="r" b="b" t="t" l="l"/>
              <a:pathLst>
                <a:path h="1061466" w="21047583">
                  <a:moveTo>
                    <a:pt x="0" y="176911"/>
                  </a:moveTo>
                  <a:cubicBezTo>
                    <a:pt x="0" y="79248"/>
                    <a:pt x="79248" y="0"/>
                    <a:pt x="176911" y="0"/>
                  </a:cubicBezTo>
                  <a:lnTo>
                    <a:pt x="20870672" y="0"/>
                  </a:lnTo>
                  <a:cubicBezTo>
                    <a:pt x="20968336" y="0"/>
                    <a:pt x="21047583" y="79248"/>
                    <a:pt x="21047583" y="176911"/>
                  </a:cubicBezTo>
                  <a:lnTo>
                    <a:pt x="21047583" y="884555"/>
                  </a:lnTo>
                  <a:cubicBezTo>
                    <a:pt x="21047583" y="982218"/>
                    <a:pt x="20968336" y="1061466"/>
                    <a:pt x="20870672" y="1061466"/>
                  </a:cubicBezTo>
                  <a:lnTo>
                    <a:pt x="176911" y="1061466"/>
                  </a:lnTo>
                  <a:cubicBezTo>
                    <a:pt x="79248" y="1061593"/>
                    <a:pt x="0" y="982345"/>
                    <a:pt x="0" y="884555"/>
                  </a:cubicBezTo>
                  <a:close/>
                </a:path>
              </a:pathLst>
            </a:custGeom>
            <a:solidFill>
              <a:srgbClr val="14304B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496168" y="4772292"/>
            <a:ext cx="11283448" cy="279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FAO crop water requirements overview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026619" y="4786027"/>
            <a:ext cx="3459223" cy="320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b="true" sz="1426" u="sng">
                <a:solidFill>
                  <a:srgbClr val="0000FF"/>
                </a:solidFill>
                <a:latin typeface="Aptos Bold"/>
                <a:ea typeface="Aptos Bold"/>
                <a:cs typeface="Aptos Bold"/>
                <a:sym typeface="Aptos Bold"/>
                <a:hlinkClick r:id="rId4" tooltip="https://www.fao.org/4/s2022e/s2022e02.htm"/>
              </a:rPr>
              <a:t>Open source ↗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166774" y="5614225"/>
            <a:ext cx="15785735" cy="796147"/>
            <a:chOff x="0" y="0"/>
            <a:chExt cx="21047646" cy="106153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047583" cy="1061466"/>
            </a:xfrm>
            <a:custGeom>
              <a:avLst/>
              <a:gdLst/>
              <a:ahLst/>
              <a:cxnLst/>
              <a:rect r="r" b="b" t="t" l="l"/>
              <a:pathLst>
                <a:path h="1061466" w="21047583">
                  <a:moveTo>
                    <a:pt x="0" y="176911"/>
                  </a:moveTo>
                  <a:cubicBezTo>
                    <a:pt x="0" y="79248"/>
                    <a:pt x="79248" y="0"/>
                    <a:pt x="176911" y="0"/>
                  </a:cubicBezTo>
                  <a:lnTo>
                    <a:pt x="20870672" y="0"/>
                  </a:lnTo>
                  <a:cubicBezTo>
                    <a:pt x="20968336" y="0"/>
                    <a:pt x="21047583" y="79248"/>
                    <a:pt x="21047583" y="176911"/>
                  </a:cubicBezTo>
                  <a:lnTo>
                    <a:pt x="21047583" y="884555"/>
                  </a:lnTo>
                  <a:cubicBezTo>
                    <a:pt x="21047583" y="982218"/>
                    <a:pt x="20968336" y="1061466"/>
                    <a:pt x="20870672" y="1061466"/>
                  </a:cubicBezTo>
                  <a:lnTo>
                    <a:pt x="176911" y="1061466"/>
                  </a:lnTo>
                  <a:cubicBezTo>
                    <a:pt x="79248" y="1061593"/>
                    <a:pt x="0" y="982345"/>
                    <a:pt x="0" y="884555"/>
                  </a:cubicBezTo>
                  <a:close/>
                </a:path>
              </a:pathLst>
            </a:custGeom>
            <a:solidFill>
              <a:srgbClr val="14304B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496168" y="5842978"/>
            <a:ext cx="11283448" cy="279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NASA LAADS — MODIS MOD13Q1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026619" y="5856703"/>
            <a:ext cx="3459223" cy="320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b="true" sz="1426" u="sng">
                <a:solidFill>
                  <a:srgbClr val="0000FF"/>
                </a:solidFill>
                <a:latin typeface="Aptos Bold"/>
                <a:ea typeface="Aptos Bold"/>
                <a:cs typeface="Aptos Bold"/>
                <a:sym typeface="Aptos Bold"/>
                <a:hlinkClick r:id="rId5" tooltip="https://ladsweb.modaps.eosdis.nasa.gov/missions-and-measurements/products/MOD13Q1"/>
              </a:rPr>
              <a:t>Open source ↗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166774" y="6684912"/>
            <a:ext cx="15785735" cy="796147"/>
            <a:chOff x="0" y="0"/>
            <a:chExt cx="21047646" cy="106153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047583" cy="1061466"/>
            </a:xfrm>
            <a:custGeom>
              <a:avLst/>
              <a:gdLst/>
              <a:ahLst/>
              <a:cxnLst/>
              <a:rect r="r" b="b" t="t" l="l"/>
              <a:pathLst>
                <a:path h="1061466" w="21047583">
                  <a:moveTo>
                    <a:pt x="0" y="176911"/>
                  </a:moveTo>
                  <a:cubicBezTo>
                    <a:pt x="0" y="79248"/>
                    <a:pt x="79248" y="0"/>
                    <a:pt x="176911" y="0"/>
                  </a:cubicBezTo>
                  <a:lnTo>
                    <a:pt x="20870672" y="0"/>
                  </a:lnTo>
                  <a:cubicBezTo>
                    <a:pt x="20968336" y="0"/>
                    <a:pt x="21047583" y="79248"/>
                    <a:pt x="21047583" y="176911"/>
                  </a:cubicBezTo>
                  <a:lnTo>
                    <a:pt x="21047583" y="884555"/>
                  </a:lnTo>
                  <a:cubicBezTo>
                    <a:pt x="21047583" y="982218"/>
                    <a:pt x="20968336" y="1061466"/>
                    <a:pt x="20870672" y="1061466"/>
                  </a:cubicBezTo>
                  <a:lnTo>
                    <a:pt x="176911" y="1061466"/>
                  </a:lnTo>
                  <a:cubicBezTo>
                    <a:pt x="79248" y="1061593"/>
                    <a:pt x="0" y="982345"/>
                    <a:pt x="0" y="884555"/>
                  </a:cubicBezTo>
                  <a:close/>
                </a:path>
              </a:pathLst>
            </a:custGeom>
            <a:solidFill>
              <a:srgbClr val="14304B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496168" y="6913664"/>
            <a:ext cx="11283448" cy="279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Google Earth Engine MODIS catalog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026619" y="6927390"/>
            <a:ext cx="3459223" cy="320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b="true" sz="1426" u="sng">
                <a:solidFill>
                  <a:srgbClr val="0000FF"/>
                </a:solidFill>
                <a:latin typeface="Aptos Bold"/>
                <a:ea typeface="Aptos Bold"/>
                <a:cs typeface="Aptos Bold"/>
                <a:sym typeface="Aptos Bold"/>
                <a:hlinkClick r:id="rId6" tooltip="https://developers.google.com/earth-engine/datasets/catalog/MODIS_061_MOD13Q1"/>
              </a:rPr>
              <a:t>Open source ↗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166774" y="7755598"/>
            <a:ext cx="15785735" cy="796147"/>
            <a:chOff x="0" y="0"/>
            <a:chExt cx="21047646" cy="106153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047583" cy="1061466"/>
            </a:xfrm>
            <a:custGeom>
              <a:avLst/>
              <a:gdLst/>
              <a:ahLst/>
              <a:cxnLst/>
              <a:rect r="r" b="b" t="t" l="l"/>
              <a:pathLst>
                <a:path h="1061466" w="21047583">
                  <a:moveTo>
                    <a:pt x="0" y="176911"/>
                  </a:moveTo>
                  <a:cubicBezTo>
                    <a:pt x="0" y="79248"/>
                    <a:pt x="79248" y="0"/>
                    <a:pt x="176911" y="0"/>
                  </a:cubicBezTo>
                  <a:lnTo>
                    <a:pt x="20870672" y="0"/>
                  </a:lnTo>
                  <a:cubicBezTo>
                    <a:pt x="20968336" y="0"/>
                    <a:pt x="21047583" y="79248"/>
                    <a:pt x="21047583" y="176911"/>
                  </a:cubicBezTo>
                  <a:lnTo>
                    <a:pt x="21047583" y="884555"/>
                  </a:lnTo>
                  <a:cubicBezTo>
                    <a:pt x="21047583" y="982218"/>
                    <a:pt x="20968336" y="1061466"/>
                    <a:pt x="20870672" y="1061466"/>
                  </a:cubicBezTo>
                  <a:lnTo>
                    <a:pt x="176911" y="1061466"/>
                  </a:lnTo>
                  <a:cubicBezTo>
                    <a:pt x="79248" y="1061593"/>
                    <a:pt x="0" y="982345"/>
                    <a:pt x="0" y="884555"/>
                  </a:cubicBezTo>
                  <a:close/>
                </a:path>
              </a:pathLst>
            </a:custGeom>
            <a:solidFill>
              <a:srgbClr val="14304B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496168" y="7984350"/>
            <a:ext cx="11283448" cy="279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FAO country brief PDF (Egypt)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026619" y="7998076"/>
            <a:ext cx="3459223" cy="320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b="true" sz="1426" u="sng">
                <a:solidFill>
                  <a:srgbClr val="0000FF"/>
                </a:solidFill>
                <a:latin typeface="Aptos Bold"/>
                <a:ea typeface="Aptos Bold"/>
                <a:cs typeface="Aptos Bold"/>
                <a:sym typeface="Aptos Bold"/>
                <a:hlinkClick r:id="rId7" tooltip="https://cb.apps.fao.org/country/EGY/pdf/EGY.pdf"/>
              </a:rPr>
              <a:t>Open source ↗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0C1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7099" y="517007"/>
            <a:ext cx="16362340" cy="622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3"/>
              </a:lnSpc>
            </a:pPr>
            <a:r>
              <a:rPr lang="en-US" sz="3752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14  |  Research Deliverables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33421" y="1345216"/>
            <a:ext cx="1235402" cy="75495"/>
            <a:chOff x="0" y="0"/>
            <a:chExt cx="1647203" cy="1006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47190" cy="100711"/>
            </a:xfrm>
            <a:custGeom>
              <a:avLst/>
              <a:gdLst/>
              <a:ahLst/>
              <a:cxnLst/>
              <a:rect r="r" b="b" t="t" l="l"/>
              <a:pathLst>
                <a:path h="100711" w="1647190">
                  <a:moveTo>
                    <a:pt x="0" y="0"/>
                  </a:moveTo>
                  <a:lnTo>
                    <a:pt x="1647190" y="0"/>
                  </a:lnTo>
                  <a:lnTo>
                    <a:pt x="1647190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1FBEA6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988285" y="1573968"/>
            <a:ext cx="16362340" cy="416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9FB4C5"/>
                </a:solidFill>
                <a:latin typeface="Aptos"/>
                <a:ea typeface="Aptos"/>
                <a:cs typeface="Aptos"/>
                <a:sym typeface="Aptos"/>
              </a:rPr>
              <a:t>What to hand to the development team.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664197" y="9800482"/>
            <a:ext cx="645243" cy="220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9FB4C5"/>
                </a:solidFill>
                <a:latin typeface="Aptos"/>
                <a:ea typeface="Aptos"/>
                <a:cs typeface="Aptos"/>
                <a:sym typeface="Aptos"/>
              </a:rPr>
              <a:t>15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98137" y="2470814"/>
            <a:ext cx="5147520" cy="2882608"/>
            <a:chOff x="0" y="0"/>
            <a:chExt cx="6863359" cy="384347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863334" cy="3843528"/>
            </a:xfrm>
            <a:custGeom>
              <a:avLst/>
              <a:gdLst/>
              <a:ahLst/>
              <a:cxnLst/>
              <a:rect r="r" b="b" t="t" l="l"/>
              <a:pathLst>
                <a:path h="3843528" w="6863334">
                  <a:moveTo>
                    <a:pt x="0" y="640588"/>
                  </a:moveTo>
                  <a:cubicBezTo>
                    <a:pt x="0" y="286766"/>
                    <a:pt x="286766" y="0"/>
                    <a:pt x="640588" y="0"/>
                  </a:cubicBezTo>
                  <a:lnTo>
                    <a:pt x="6222746" y="0"/>
                  </a:lnTo>
                  <a:cubicBezTo>
                    <a:pt x="6576568" y="0"/>
                    <a:pt x="6863334" y="286766"/>
                    <a:pt x="6863334" y="640588"/>
                  </a:cubicBezTo>
                  <a:lnTo>
                    <a:pt x="6863334" y="3202940"/>
                  </a:lnTo>
                  <a:cubicBezTo>
                    <a:pt x="6863334" y="3556762"/>
                    <a:pt x="6576568" y="3843528"/>
                    <a:pt x="6222746" y="3843528"/>
                  </a:cubicBezTo>
                  <a:lnTo>
                    <a:pt x="640588" y="3843528"/>
                  </a:lnTo>
                  <a:cubicBezTo>
                    <a:pt x="286766" y="3843528"/>
                    <a:pt x="0" y="3556635"/>
                    <a:pt x="0" y="3202940"/>
                  </a:cubicBezTo>
                  <a:close/>
                </a:path>
              </a:pathLst>
            </a:custGeom>
            <a:solidFill>
              <a:srgbClr val="14304B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98137" y="2635529"/>
            <a:ext cx="75495" cy="2553167"/>
            <a:chOff x="0" y="0"/>
            <a:chExt cx="100660" cy="340422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0711" cy="3404235"/>
            </a:xfrm>
            <a:custGeom>
              <a:avLst/>
              <a:gdLst/>
              <a:ahLst/>
              <a:cxnLst/>
              <a:rect r="r" b="b" t="t" l="l"/>
              <a:pathLst>
                <a:path h="3404235" w="100711">
                  <a:moveTo>
                    <a:pt x="0" y="0"/>
                  </a:moveTo>
                  <a:lnTo>
                    <a:pt x="100711" y="0"/>
                  </a:lnTo>
                  <a:lnTo>
                    <a:pt x="100711" y="3404235"/>
                  </a:lnTo>
                  <a:lnTo>
                    <a:pt x="0" y="3404235"/>
                  </a:lnTo>
                  <a:close/>
                </a:path>
              </a:pathLst>
            </a:custGeom>
            <a:solidFill>
              <a:srgbClr val="1FBEA6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427540" y="2699556"/>
            <a:ext cx="4557360" cy="416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Raw files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18396" y="3253216"/>
            <a:ext cx="4543606" cy="1985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Original NASA POWER CSV.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Original soil data / extracted values.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Source documents for crop references.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588824" y="2470814"/>
            <a:ext cx="5147520" cy="2882608"/>
            <a:chOff x="0" y="0"/>
            <a:chExt cx="6863359" cy="384347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863334" cy="3843528"/>
            </a:xfrm>
            <a:custGeom>
              <a:avLst/>
              <a:gdLst/>
              <a:ahLst/>
              <a:cxnLst/>
              <a:rect r="r" b="b" t="t" l="l"/>
              <a:pathLst>
                <a:path h="3843528" w="6863334">
                  <a:moveTo>
                    <a:pt x="0" y="640588"/>
                  </a:moveTo>
                  <a:cubicBezTo>
                    <a:pt x="0" y="286766"/>
                    <a:pt x="286766" y="0"/>
                    <a:pt x="640588" y="0"/>
                  </a:cubicBezTo>
                  <a:lnTo>
                    <a:pt x="6222746" y="0"/>
                  </a:lnTo>
                  <a:cubicBezTo>
                    <a:pt x="6576568" y="0"/>
                    <a:pt x="6863334" y="286766"/>
                    <a:pt x="6863334" y="640588"/>
                  </a:cubicBezTo>
                  <a:lnTo>
                    <a:pt x="6863334" y="3202940"/>
                  </a:lnTo>
                  <a:cubicBezTo>
                    <a:pt x="6863334" y="3556762"/>
                    <a:pt x="6576568" y="3843528"/>
                    <a:pt x="6222746" y="3843528"/>
                  </a:cubicBezTo>
                  <a:lnTo>
                    <a:pt x="640588" y="3843528"/>
                  </a:lnTo>
                  <a:cubicBezTo>
                    <a:pt x="286766" y="3843528"/>
                    <a:pt x="0" y="3556635"/>
                    <a:pt x="0" y="3202940"/>
                  </a:cubicBezTo>
                  <a:close/>
                </a:path>
              </a:pathLst>
            </a:custGeom>
            <a:solidFill>
              <a:srgbClr val="14304B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588824" y="2635529"/>
            <a:ext cx="75495" cy="2553167"/>
            <a:chOff x="0" y="0"/>
            <a:chExt cx="100660" cy="340422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0711" cy="3404235"/>
            </a:xfrm>
            <a:custGeom>
              <a:avLst/>
              <a:gdLst/>
              <a:ahLst/>
              <a:cxnLst/>
              <a:rect r="r" b="b" t="t" l="l"/>
              <a:pathLst>
                <a:path h="3404235" w="100711">
                  <a:moveTo>
                    <a:pt x="0" y="0"/>
                  </a:moveTo>
                  <a:lnTo>
                    <a:pt x="100711" y="0"/>
                  </a:lnTo>
                  <a:lnTo>
                    <a:pt x="100711" y="3404235"/>
                  </a:lnTo>
                  <a:lnTo>
                    <a:pt x="0" y="3404235"/>
                  </a:lnTo>
                  <a:close/>
                </a:path>
              </a:pathLst>
            </a:custGeom>
            <a:solidFill>
              <a:srgbClr val="F2B74A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918227" y="2699556"/>
            <a:ext cx="4557360" cy="416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Clean tables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909083" y="3253216"/>
            <a:ext cx="4543606" cy="1985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Climate table by date and location.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Soil table with source metadata.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Crop reference table with evidence.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079519" y="2470814"/>
            <a:ext cx="5147520" cy="2882608"/>
            <a:chOff x="0" y="0"/>
            <a:chExt cx="6863359" cy="384347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863334" cy="3843528"/>
            </a:xfrm>
            <a:custGeom>
              <a:avLst/>
              <a:gdLst/>
              <a:ahLst/>
              <a:cxnLst/>
              <a:rect r="r" b="b" t="t" l="l"/>
              <a:pathLst>
                <a:path h="3843528" w="6863334">
                  <a:moveTo>
                    <a:pt x="0" y="640588"/>
                  </a:moveTo>
                  <a:cubicBezTo>
                    <a:pt x="0" y="286766"/>
                    <a:pt x="286766" y="0"/>
                    <a:pt x="640588" y="0"/>
                  </a:cubicBezTo>
                  <a:lnTo>
                    <a:pt x="6222746" y="0"/>
                  </a:lnTo>
                  <a:cubicBezTo>
                    <a:pt x="6576568" y="0"/>
                    <a:pt x="6863334" y="286766"/>
                    <a:pt x="6863334" y="640588"/>
                  </a:cubicBezTo>
                  <a:lnTo>
                    <a:pt x="6863334" y="3202940"/>
                  </a:lnTo>
                  <a:cubicBezTo>
                    <a:pt x="6863334" y="3556762"/>
                    <a:pt x="6576568" y="3843528"/>
                    <a:pt x="6222746" y="3843528"/>
                  </a:cubicBezTo>
                  <a:lnTo>
                    <a:pt x="640588" y="3843528"/>
                  </a:lnTo>
                  <a:cubicBezTo>
                    <a:pt x="286766" y="3843528"/>
                    <a:pt x="0" y="3556635"/>
                    <a:pt x="0" y="3202940"/>
                  </a:cubicBezTo>
                  <a:close/>
                </a:path>
              </a:pathLst>
            </a:custGeom>
            <a:solidFill>
              <a:srgbClr val="14304B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2079519" y="2635529"/>
            <a:ext cx="75495" cy="2553167"/>
            <a:chOff x="0" y="0"/>
            <a:chExt cx="100660" cy="340422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0711" cy="3404235"/>
            </a:xfrm>
            <a:custGeom>
              <a:avLst/>
              <a:gdLst/>
              <a:ahLst/>
              <a:cxnLst/>
              <a:rect r="r" b="b" t="t" l="l"/>
              <a:pathLst>
                <a:path h="3404235" w="100711">
                  <a:moveTo>
                    <a:pt x="0" y="0"/>
                  </a:moveTo>
                  <a:lnTo>
                    <a:pt x="100711" y="0"/>
                  </a:lnTo>
                  <a:lnTo>
                    <a:pt x="100711" y="3404235"/>
                  </a:lnTo>
                  <a:lnTo>
                    <a:pt x="0" y="3404235"/>
                  </a:lnTo>
                  <a:close/>
                </a:path>
              </a:pathLst>
            </a:custGeom>
            <a:solidFill>
              <a:srgbClr val="B4EFDB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2408913" y="2699556"/>
            <a:ext cx="4557360" cy="416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Documentation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399769" y="3253216"/>
            <a:ext cx="4543606" cy="1985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Data dictionary.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Links and retrieval date.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Known limitations and missing fields.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90266" y="6144968"/>
            <a:ext cx="15676007" cy="416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Suggested folder structure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235402" y="6794725"/>
            <a:ext cx="15648470" cy="1372676"/>
            <a:chOff x="0" y="0"/>
            <a:chExt cx="20864627" cy="183023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0864576" cy="1830197"/>
            </a:xfrm>
            <a:custGeom>
              <a:avLst/>
              <a:gdLst/>
              <a:ahLst/>
              <a:cxnLst/>
              <a:rect r="r" b="b" t="t" l="l"/>
              <a:pathLst>
                <a:path h="1830197" w="20864576">
                  <a:moveTo>
                    <a:pt x="0" y="305054"/>
                  </a:moveTo>
                  <a:cubicBezTo>
                    <a:pt x="0" y="136525"/>
                    <a:pt x="136525" y="0"/>
                    <a:pt x="305054" y="0"/>
                  </a:cubicBezTo>
                  <a:lnTo>
                    <a:pt x="20559522" y="0"/>
                  </a:lnTo>
                  <a:cubicBezTo>
                    <a:pt x="20728051" y="0"/>
                    <a:pt x="20864576" y="136525"/>
                    <a:pt x="20864576" y="305054"/>
                  </a:cubicBezTo>
                  <a:lnTo>
                    <a:pt x="20864576" y="1525143"/>
                  </a:lnTo>
                  <a:cubicBezTo>
                    <a:pt x="20864576" y="1693672"/>
                    <a:pt x="20728051" y="1830197"/>
                    <a:pt x="20559522" y="1830197"/>
                  </a:cubicBezTo>
                  <a:lnTo>
                    <a:pt x="305054" y="1830197"/>
                  </a:lnTo>
                  <a:cubicBezTo>
                    <a:pt x="136525" y="1830197"/>
                    <a:pt x="0" y="1693672"/>
                    <a:pt x="0" y="1525143"/>
                  </a:cubicBezTo>
                  <a:close/>
                </a:path>
              </a:pathLst>
            </a:custGeom>
            <a:solidFill>
              <a:srgbClr val="182A3F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633433" y="7096315"/>
            <a:ext cx="14852399" cy="76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B4EFDB"/>
                </a:solidFill>
                <a:latin typeface="Aptos"/>
                <a:ea typeface="Aptos"/>
                <a:cs typeface="Aptos"/>
                <a:sym typeface="Aptos"/>
              </a:rPr>
              <a:t>FieldShift_Data/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B4EFDB"/>
                </a:solidFill>
                <a:latin typeface="Aptos"/>
                <a:ea typeface="Aptos"/>
                <a:cs typeface="Aptos"/>
                <a:sym typeface="Aptos"/>
              </a:rPr>
              <a:t>  raw/  |  cleaned/  |  metadata/  |  references/  |  README.md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90266" y="8753046"/>
            <a:ext cx="15676007" cy="485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Definition of done: a developer can reproduce the data and understand each variable without a verbal explanation.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0C1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7099" y="517007"/>
            <a:ext cx="16362340" cy="622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3"/>
              </a:lnSpc>
            </a:pPr>
            <a:r>
              <a:rPr lang="en-US" sz="3752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15  |  Recommended 3-Day Sprint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33421" y="1345216"/>
            <a:ext cx="1235402" cy="75495"/>
            <a:chOff x="0" y="0"/>
            <a:chExt cx="1647203" cy="1006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47190" cy="100711"/>
            </a:xfrm>
            <a:custGeom>
              <a:avLst/>
              <a:gdLst/>
              <a:ahLst/>
              <a:cxnLst/>
              <a:rect r="r" b="b" t="t" l="l"/>
              <a:pathLst>
                <a:path h="100711" w="1647190">
                  <a:moveTo>
                    <a:pt x="0" y="0"/>
                  </a:moveTo>
                  <a:lnTo>
                    <a:pt x="1647190" y="0"/>
                  </a:lnTo>
                  <a:lnTo>
                    <a:pt x="1647190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1FBEA6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988285" y="1573968"/>
            <a:ext cx="16362340" cy="416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9FB4C5"/>
                </a:solidFill>
                <a:latin typeface="Aptos"/>
                <a:ea typeface="Aptos"/>
                <a:cs typeface="Aptos"/>
                <a:sym typeface="Aptos"/>
              </a:rPr>
              <a:t>A realistic path to get the first evidence-backed dataset ready.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664197" y="9800482"/>
            <a:ext cx="645243" cy="220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9FB4C5"/>
                </a:solidFill>
                <a:latin typeface="Aptos"/>
                <a:ea typeface="Aptos"/>
                <a:cs typeface="Aptos"/>
                <a:sym typeface="Aptos"/>
              </a:rPr>
              <a:t>16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98137" y="2470814"/>
            <a:ext cx="5147520" cy="3363049"/>
            <a:chOff x="0" y="0"/>
            <a:chExt cx="6863359" cy="44840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863461" cy="4484116"/>
            </a:xfrm>
            <a:custGeom>
              <a:avLst/>
              <a:gdLst/>
              <a:ahLst/>
              <a:cxnLst/>
              <a:rect r="r" b="b" t="t" l="l"/>
              <a:pathLst>
                <a:path h="4484116" w="6863461">
                  <a:moveTo>
                    <a:pt x="0" y="747395"/>
                  </a:moveTo>
                  <a:cubicBezTo>
                    <a:pt x="0" y="334645"/>
                    <a:pt x="334645" y="0"/>
                    <a:pt x="747395" y="0"/>
                  </a:cubicBezTo>
                  <a:lnTo>
                    <a:pt x="6116066" y="0"/>
                  </a:lnTo>
                  <a:cubicBezTo>
                    <a:pt x="6528816" y="0"/>
                    <a:pt x="6863461" y="334645"/>
                    <a:pt x="6863461" y="747395"/>
                  </a:cubicBezTo>
                  <a:lnTo>
                    <a:pt x="6863461" y="3736721"/>
                  </a:lnTo>
                  <a:cubicBezTo>
                    <a:pt x="6863461" y="4149471"/>
                    <a:pt x="6528815" y="4484116"/>
                    <a:pt x="6116066" y="4484116"/>
                  </a:cubicBezTo>
                  <a:lnTo>
                    <a:pt x="747395" y="4484116"/>
                  </a:lnTo>
                  <a:cubicBezTo>
                    <a:pt x="334645" y="4484116"/>
                    <a:pt x="0" y="4149471"/>
                    <a:pt x="0" y="3736721"/>
                  </a:cubicBezTo>
                  <a:close/>
                </a:path>
              </a:pathLst>
            </a:custGeom>
            <a:solidFill>
              <a:srgbClr val="14304B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98137" y="2635529"/>
            <a:ext cx="75495" cy="3033608"/>
            <a:chOff x="0" y="0"/>
            <a:chExt cx="100660" cy="404481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0711" cy="4044823"/>
            </a:xfrm>
            <a:custGeom>
              <a:avLst/>
              <a:gdLst/>
              <a:ahLst/>
              <a:cxnLst/>
              <a:rect r="r" b="b" t="t" l="l"/>
              <a:pathLst>
                <a:path h="4044823" w="100711">
                  <a:moveTo>
                    <a:pt x="0" y="0"/>
                  </a:moveTo>
                  <a:lnTo>
                    <a:pt x="100711" y="0"/>
                  </a:lnTo>
                  <a:lnTo>
                    <a:pt x="100711" y="4044823"/>
                  </a:lnTo>
                  <a:lnTo>
                    <a:pt x="0" y="4044823"/>
                  </a:lnTo>
                  <a:close/>
                </a:path>
              </a:pathLst>
            </a:custGeom>
            <a:solidFill>
              <a:srgbClr val="1FBEA6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427540" y="2699556"/>
            <a:ext cx="4557360" cy="416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DAY 1 — Climate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18396" y="3253216"/>
            <a:ext cx="4543606" cy="246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Open API link.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Save CSV and raw request URL.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Check headers, dates, units and gaps.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Create climate summary.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588824" y="2470814"/>
            <a:ext cx="5147520" cy="3363049"/>
            <a:chOff x="0" y="0"/>
            <a:chExt cx="6863359" cy="44840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863461" cy="4484116"/>
            </a:xfrm>
            <a:custGeom>
              <a:avLst/>
              <a:gdLst/>
              <a:ahLst/>
              <a:cxnLst/>
              <a:rect r="r" b="b" t="t" l="l"/>
              <a:pathLst>
                <a:path h="4484116" w="6863461">
                  <a:moveTo>
                    <a:pt x="0" y="747395"/>
                  </a:moveTo>
                  <a:cubicBezTo>
                    <a:pt x="0" y="334645"/>
                    <a:pt x="334645" y="0"/>
                    <a:pt x="747395" y="0"/>
                  </a:cubicBezTo>
                  <a:lnTo>
                    <a:pt x="6116066" y="0"/>
                  </a:lnTo>
                  <a:cubicBezTo>
                    <a:pt x="6528816" y="0"/>
                    <a:pt x="6863461" y="334645"/>
                    <a:pt x="6863461" y="747395"/>
                  </a:cubicBezTo>
                  <a:lnTo>
                    <a:pt x="6863461" y="3736721"/>
                  </a:lnTo>
                  <a:cubicBezTo>
                    <a:pt x="6863461" y="4149471"/>
                    <a:pt x="6528815" y="4484116"/>
                    <a:pt x="6116066" y="4484116"/>
                  </a:cubicBezTo>
                  <a:lnTo>
                    <a:pt x="747395" y="4484116"/>
                  </a:lnTo>
                  <a:cubicBezTo>
                    <a:pt x="334645" y="4484116"/>
                    <a:pt x="0" y="4149471"/>
                    <a:pt x="0" y="3736721"/>
                  </a:cubicBezTo>
                  <a:close/>
                </a:path>
              </a:pathLst>
            </a:custGeom>
            <a:solidFill>
              <a:srgbClr val="14304B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588824" y="2635529"/>
            <a:ext cx="75495" cy="3033608"/>
            <a:chOff x="0" y="0"/>
            <a:chExt cx="100660" cy="404481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0711" cy="4044823"/>
            </a:xfrm>
            <a:custGeom>
              <a:avLst/>
              <a:gdLst/>
              <a:ahLst/>
              <a:cxnLst/>
              <a:rect r="r" b="b" t="t" l="l"/>
              <a:pathLst>
                <a:path h="4044823" w="100711">
                  <a:moveTo>
                    <a:pt x="0" y="0"/>
                  </a:moveTo>
                  <a:lnTo>
                    <a:pt x="100711" y="0"/>
                  </a:lnTo>
                  <a:lnTo>
                    <a:pt x="100711" y="4044823"/>
                  </a:lnTo>
                  <a:lnTo>
                    <a:pt x="0" y="4044823"/>
                  </a:lnTo>
                  <a:close/>
                </a:path>
              </a:pathLst>
            </a:custGeom>
            <a:solidFill>
              <a:srgbClr val="F2B74A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918227" y="2699556"/>
            <a:ext cx="4557360" cy="416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DAY 2 — Soil &amp; crops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909083" y="3253216"/>
            <a:ext cx="4543606" cy="246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Get soil properties for pilot point.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Build crop reference table.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Cite source for each crop requirement.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Flag unavailable values.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079519" y="2470814"/>
            <a:ext cx="5147520" cy="3363049"/>
            <a:chOff x="0" y="0"/>
            <a:chExt cx="6863359" cy="448406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863461" cy="4484116"/>
            </a:xfrm>
            <a:custGeom>
              <a:avLst/>
              <a:gdLst/>
              <a:ahLst/>
              <a:cxnLst/>
              <a:rect r="r" b="b" t="t" l="l"/>
              <a:pathLst>
                <a:path h="4484116" w="6863461">
                  <a:moveTo>
                    <a:pt x="0" y="747395"/>
                  </a:moveTo>
                  <a:cubicBezTo>
                    <a:pt x="0" y="334645"/>
                    <a:pt x="334645" y="0"/>
                    <a:pt x="747395" y="0"/>
                  </a:cubicBezTo>
                  <a:lnTo>
                    <a:pt x="6116066" y="0"/>
                  </a:lnTo>
                  <a:cubicBezTo>
                    <a:pt x="6528816" y="0"/>
                    <a:pt x="6863461" y="334645"/>
                    <a:pt x="6863461" y="747395"/>
                  </a:cubicBezTo>
                  <a:lnTo>
                    <a:pt x="6863461" y="3736721"/>
                  </a:lnTo>
                  <a:cubicBezTo>
                    <a:pt x="6863461" y="4149471"/>
                    <a:pt x="6528815" y="4484116"/>
                    <a:pt x="6116066" y="4484116"/>
                  </a:cubicBezTo>
                  <a:lnTo>
                    <a:pt x="747395" y="4484116"/>
                  </a:lnTo>
                  <a:cubicBezTo>
                    <a:pt x="334645" y="4484116"/>
                    <a:pt x="0" y="4149471"/>
                    <a:pt x="0" y="3736721"/>
                  </a:cubicBezTo>
                  <a:close/>
                </a:path>
              </a:pathLst>
            </a:custGeom>
            <a:solidFill>
              <a:srgbClr val="14304B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2079519" y="2635529"/>
            <a:ext cx="75495" cy="3033608"/>
            <a:chOff x="0" y="0"/>
            <a:chExt cx="100660" cy="404481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0711" cy="4044823"/>
            </a:xfrm>
            <a:custGeom>
              <a:avLst/>
              <a:gdLst/>
              <a:ahLst/>
              <a:cxnLst/>
              <a:rect r="r" b="b" t="t" l="l"/>
              <a:pathLst>
                <a:path h="4044823" w="100711">
                  <a:moveTo>
                    <a:pt x="0" y="0"/>
                  </a:moveTo>
                  <a:lnTo>
                    <a:pt x="100711" y="0"/>
                  </a:lnTo>
                  <a:lnTo>
                    <a:pt x="100711" y="4044823"/>
                  </a:lnTo>
                  <a:lnTo>
                    <a:pt x="0" y="4044823"/>
                  </a:lnTo>
                  <a:close/>
                </a:path>
              </a:pathLst>
            </a:custGeom>
            <a:solidFill>
              <a:srgbClr val="B4EFDB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2408913" y="2699556"/>
            <a:ext cx="4557360" cy="416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DAY 3 — Handover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399769" y="3253216"/>
            <a:ext cx="4543606" cy="246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Clean and standardize tables.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Write data dictionary and limitations.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Share raw + cleaned files.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•  Propose two rotation scenarios for review.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90266" y="6625400"/>
            <a:ext cx="15676007" cy="416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Priority order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58903" y="7302217"/>
            <a:ext cx="15676007" cy="906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B4EFDB"/>
                </a:solidFill>
                <a:latin typeface="Aptos Bold"/>
                <a:ea typeface="Aptos Bold"/>
                <a:cs typeface="Aptos Bold"/>
                <a:sym typeface="Aptos Bold"/>
              </a:rPr>
              <a:t>1. NASA POWER  →  2. FAO crop calendar &amp; water references  →  3. HWSD soil  →  4. SMAP  →  5. MODIS NDVI/EVI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90266" y="8753046"/>
            <a:ext cx="15676007" cy="416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E5EDF3"/>
                </a:solidFill>
                <a:latin typeface="Aptos"/>
                <a:ea typeface="Aptos"/>
                <a:cs typeface="Aptos"/>
                <a:sym typeface="Aptos"/>
              </a:rPr>
              <a:t>SMAP and MODIS are optional enhancements; do not let them delay a working prototype.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0C1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491323" y="4941618"/>
            <a:ext cx="6039755" cy="6039755"/>
            <a:chOff x="0" y="0"/>
            <a:chExt cx="8053006" cy="80530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053070" cy="8053070"/>
            </a:xfrm>
            <a:custGeom>
              <a:avLst/>
              <a:gdLst/>
              <a:ahLst/>
              <a:cxnLst/>
              <a:rect r="r" b="b" t="t" l="l"/>
              <a:pathLst>
                <a:path h="8053070" w="8053070">
                  <a:moveTo>
                    <a:pt x="0" y="4026535"/>
                  </a:moveTo>
                  <a:cubicBezTo>
                    <a:pt x="0" y="1802765"/>
                    <a:pt x="1802765" y="0"/>
                    <a:pt x="4026535" y="0"/>
                  </a:cubicBezTo>
                  <a:cubicBezTo>
                    <a:pt x="6250305" y="0"/>
                    <a:pt x="8053070" y="1802765"/>
                    <a:pt x="8053070" y="4026535"/>
                  </a:cubicBezTo>
                  <a:cubicBezTo>
                    <a:pt x="8053070" y="6250305"/>
                    <a:pt x="6250305" y="8053070"/>
                    <a:pt x="4026535" y="8053070"/>
                  </a:cubicBezTo>
                  <a:cubicBezTo>
                    <a:pt x="1802765" y="8053070"/>
                    <a:pt x="0" y="6250305"/>
                    <a:pt x="0" y="4026535"/>
                  </a:cubicBezTo>
                  <a:close/>
                </a:path>
              </a:pathLst>
            </a:custGeom>
            <a:solidFill>
              <a:srgbClr val="14304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795362" y="6245657"/>
            <a:ext cx="3431677" cy="3431677"/>
            <a:chOff x="0" y="0"/>
            <a:chExt cx="4575569" cy="457556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575556" cy="4575556"/>
            </a:xfrm>
            <a:custGeom>
              <a:avLst/>
              <a:gdLst/>
              <a:ahLst/>
              <a:cxnLst/>
              <a:rect r="r" b="b" t="t" l="l"/>
              <a:pathLst>
                <a:path h="4575556" w="4575556">
                  <a:moveTo>
                    <a:pt x="0" y="2287778"/>
                  </a:moveTo>
                  <a:cubicBezTo>
                    <a:pt x="0" y="1024255"/>
                    <a:pt x="1024255" y="0"/>
                    <a:pt x="2287778" y="0"/>
                  </a:cubicBezTo>
                  <a:cubicBezTo>
                    <a:pt x="3551301" y="0"/>
                    <a:pt x="4575556" y="1024255"/>
                    <a:pt x="4575556" y="2287778"/>
                  </a:cubicBezTo>
                  <a:cubicBezTo>
                    <a:pt x="4575556" y="3551301"/>
                    <a:pt x="3551301" y="4575556"/>
                    <a:pt x="2287778" y="4575556"/>
                  </a:cubicBezTo>
                  <a:cubicBezTo>
                    <a:pt x="1024255" y="4575556"/>
                    <a:pt x="0" y="3551301"/>
                    <a:pt x="0" y="2287778"/>
                  </a:cubicBezTo>
                  <a:close/>
                </a:path>
              </a:pathLst>
            </a:custGeom>
            <a:solidFill>
              <a:srgbClr val="1FBEA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21638" y="1271978"/>
            <a:ext cx="15676007" cy="416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1FBEA6"/>
                </a:solidFill>
                <a:latin typeface="Aptos Bold"/>
                <a:ea typeface="Aptos Bold"/>
                <a:cs typeface="Aptos Bold"/>
                <a:sym typeface="Aptos Bold"/>
              </a:rPr>
              <a:t>FIELD SHIFT  |  DATA RESEARCH PLAN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21638" y="2370115"/>
            <a:ext cx="11420723" cy="1651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From Earth Data</a:t>
            </a:r>
          </a:p>
          <a:p>
            <a:pPr algn="l">
              <a:lnSpc>
                <a:spcPts val="5404"/>
              </a:lnSpc>
            </a:pPr>
            <a:r>
              <a:rPr lang="en-US" sz="4503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to Better-Informed Decisions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90266" y="5046831"/>
            <a:ext cx="10597115" cy="1308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</a:pPr>
            <a:r>
              <a:rPr lang="en-US" sz="2852" b="true">
                <a:solidFill>
                  <a:srgbClr val="B4EFDB"/>
                </a:solidFill>
                <a:latin typeface="Aptos Bold"/>
                <a:ea typeface="Aptos Bold"/>
                <a:cs typeface="Aptos Bold"/>
                <a:sym typeface="Aptos Bold"/>
              </a:rPr>
              <a:t>Explore. Compare. Adapt.</a:t>
            </a:r>
          </a:p>
          <a:p>
            <a:pPr algn="l">
              <a:lnSpc>
                <a:spcPts val="3422"/>
              </a:lnSpc>
            </a:pPr>
            <a:r>
              <a:rPr lang="en-US" sz="2852" b="true">
                <a:solidFill>
                  <a:srgbClr val="B4EFDB"/>
                </a:solidFill>
                <a:latin typeface="Aptos Bold"/>
                <a:ea typeface="Aptos Bold"/>
                <a:cs typeface="Aptos Bold"/>
                <a:sym typeface="Aptos Bold"/>
              </a:rPr>
              <a:t>Start with reliable data, transparent methods and clear limits.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90266" y="9302115"/>
            <a:ext cx="10871654" cy="279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9FB4C5"/>
                </a:solidFill>
                <a:latin typeface="Aptos"/>
                <a:ea typeface="Aptos"/>
                <a:cs typeface="Aptos"/>
                <a:sym typeface="Aptos"/>
              </a:rPr>
              <a:t>NASA Space Apps Challenge 2026  •  Egypt pilot: Dakahlia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1227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71289" y="1588532"/>
            <a:ext cx="15913960" cy="1120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404"/>
              </a:lnSpc>
            </a:pPr>
            <a:r>
              <a:rPr lang="ar-EG" sz="4503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التغير المناخي وتأثيره على الزراعة في مصر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39926" y="2921146"/>
            <a:ext cx="15639431" cy="1023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02"/>
              </a:lnSpc>
            </a:pPr>
            <a:r>
              <a:rPr lang="ar-EG" sz="3002" b="true">
                <a:solidFill>
                  <a:srgbClr val="A3E1E2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قسم مضاف إلى خطة بيانات</a:t>
            </a:r>
            <a:r>
              <a:rPr lang="en-US" sz="3002" b="true">
                <a:solidFill>
                  <a:srgbClr val="A3E1E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Field Shift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08554" y="4293822"/>
            <a:ext cx="15227627" cy="1983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02"/>
              </a:lnSpc>
            </a:pPr>
            <a:r>
              <a:rPr lang="ar-EG" sz="3002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  <a:rtl val="true"/>
              </a:rPr>
              <a:t>ربط المشكلات الزراعية بالبيانات المناخية وبيانات التربة والمياه، ثم تحويلها إلى مؤشرات مفهومة تساعد المزارع على اتخاذ قرار أفضل بشأن المحصول وتوقيت الزراعة والري</a:t>
            </a:r>
            <a:r>
              <a:rPr lang="en-US" sz="3002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08554" y="8871261"/>
            <a:ext cx="15227627" cy="426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B4CADA"/>
                </a:solidFill>
                <a:latin typeface="Arial"/>
                <a:ea typeface="Arial"/>
                <a:cs typeface="Arial"/>
                <a:sym typeface="Arial"/>
              </a:rPr>
              <a:t>Egypt pilot • Climate risk • Soil &amp; water • Crop decisions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28123" y="303543"/>
            <a:ext cx="16600303" cy="895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863"/>
              </a:lnSpc>
            </a:pPr>
            <a:r>
              <a:rPr lang="en-US" sz="4053" b="true">
                <a:solidFill>
                  <a:srgbClr val="12274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١</a:t>
            </a:r>
            <a:r>
              <a:rPr lang="ar-EG" sz="4053" b="true">
                <a:solidFill>
                  <a:srgbClr val="122743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. المشكلات الزراعية المرتبطة بالمناخ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4962127" y="1345216"/>
            <a:ext cx="2539441" cy="82363"/>
            <a:chOff x="0" y="0"/>
            <a:chExt cx="3385922" cy="1098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385947" cy="109855"/>
            </a:xfrm>
            <a:custGeom>
              <a:avLst/>
              <a:gdLst/>
              <a:ahLst/>
              <a:cxnLst/>
              <a:rect r="r" b="b" t="t" l="l"/>
              <a:pathLst>
                <a:path h="109855" w="3385947">
                  <a:moveTo>
                    <a:pt x="0" y="0"/>
                  </a:moveTo>
                  <a:lnTo>
                    <a:pt x="3385947" y="0"/>
                  </a:lnTo>
                  <a:lnTo>
                    <a:pt x="3385947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008F96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896760" y="1480966"/>
            <a:ext cx="16325764" cy="623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1"/>
              </a:lnSpc>
            </a:pPr>
            <a:r>
              <a:rPr lang="ar-EG" sz="1801">
                <a:solidFill>
                  <a:srgbClr val="697682"/>
                </a:solidFill>
                <a:latin typeface="Calibri (MS)"/>
                <a:ea typeface="Calibri (MS)"/>
                <a:cs typeface="Calibri (MS)"/>
                <a:sym typeface="Calibri (MS)"/>
                <a:rtl val="true"/>
              </a:rPr>
              <a:t>تصنيف عملي للمشكلات التي ينبغي أن يتابعها التطبيق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85092" y="2395023"/>
            <a:ext cx="7975797" cy="2622375"/>
            <a:chOff x="0" y="0"/>
            <a:chExt cx="10634396" cy="3496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634472" cy="3496564"/>
            </a:xfrm>
            <a:custGeom>
              <a:avLst/>
              <a:gdLst/>
              <a:ahLst/>
              <a:cxnLst/>
              <a:rect r="r" b="b" t="t" l="l"/>
              <a:pathLst>
                <a:path h="3496564" w="10634472">
                  <a:moveTo>
                    <a:pt x="0" y="582803"/>
                  </a:moveTo>
                  <a:cubicBezTo>
                    <a:pt x="0" y="260858"/>
                    <a:pt x="260858" y="0"/>
                    <a:pt x="582803" y="0"/>
                  </a:cubicBezTo>
                  <a:lnTo>
                    <a:pt x="10051669" y="0"/>
                  </a:lnTo>
                  <a:cubicBezTo>
                    <a:pt x="10373487" y="0"/>
                    <a:pt x="10634472" y="260858"/>
                    <a:pt x="10634472" y="582803"/>
                  </a:cubicBezTo>
                  <a:lnTo>
                    <a:pt x="10634472" y="2913761"/>
                  </a:lnTo>
                  <a:cubicBezTo>
                    <a:pt x="10634472" y="3235579"/>
                    <a:pt x="10373613" y="3496564"/>
                    <a:pt x="10051669" y="3496564"/>
                  </a:cubicBezTo>
                  <a:lnTo>
                    <a:pt x="582803" y="3496564"/>
                  </a:lnTo>
                  <a:cubicBezTo>
                    <a:pt x="260858" y="3496564"/>
                    <a:pt x="0" y="3235579"/>
                    <a:pt x="0" y="2913761"/>
                  </a:cubicBezTo>
                  <a:close/>
                </a:path>
              </a:pathLst>
            </a:custGeom>
            <a:solidFill>
              <a:srgbClr val="EBF6F7"/>
            </a:solidFill>
            <a:ln w="14299" cap="sq">
              <a:solidFill>
                <a:srgbClr val="D7E7E9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8730196" y="2566902"/>
            <a:ext cx="61770" cy="2278637"/>
            <a:chOff x="0" y="0"/>
            <a:chExt cx="82360" cy="30381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423" cy="3038221"/>
            </a:xfrm>
            <a:custGeom>
              <a:avLst/>
              <a:gdLst/>
              <a:ahLst/>
              <a:cxnLst/>
              <a:rect r="r" b="b" t="t" l="l"/>
              <a:pathLst>
                <a:path h="3038221" w="82423">
                  <a:moveTo>
                    <a:pt x="0" y="0"/>
                  </a:moveTo>
                  <a:lnTo>
                    <a:pt x="82423" y="0"/>
                  </a:lnTo>
                  <a:lnTo>
                    <a:pt x="82423" y="3038221"/>
                  </a:lnTo>
                  <a:lnTo>
                    <a:pt x="0" y="3038221"/>
                  </a:lnTo>
                  <a:close/>
                </a:path>
              </a:pathLst>
            </a:custGeom>
            <a:solidFill>
              <a:srgbClr val="008F96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12466" y="2555853"/>
            <a:ext cx="7293578" cy="496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62"/>
              </a:lnSpc>
            </a:pPr>
            <a:r>
              <a:rPr lang="ar-EG" sz="2551" b="true">
                <a:solidFill>
                  <a:srgbClr val="122743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الملوحة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12466" y="3146098"/>
            <a:ext cx="7293578" cy="1690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1"/>
              </a:lnSpc>
            </a:pPr>
            <a:r>
              <a:rPr lang="ar-EG" sz="2101">
                <a:solidFill>
                  <a:srgbClr val="2B3643"/>
                </a:solidFill>
                <a:latin typeface="Calibri (MS)"/>
                <a:ea typeface="Calibri (MS)"/>
                <a:cs typeface="Calibri (MS)"/>
                <a:sym typeface="Calibri (MS)"/>
                <a:rtl val="true"/>
              </a:rPr>
              <a:t>تراكم الأملاح في التربة أو مياه الري قد يضعف امتصاص الماء والعناصر الغذائية ويقلل إنتاجية المحصول</a:t>
            </a:r>
            <a:r>
              <a:rPr lang="en-US" sz="2101">
                <a:solidFill>
                  <a:srgbClr val="2B3643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327023" y="2395023"/>
            <a:ext cx="7975797" cy="2622375"/>
            <a:chOff x="0" y="0"/>
            <a:chExt cx="10634396" cy="34965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634472" cy="3496564"/>
            </a:xfrm>
            <a:custGeom>
              <a:avLst/>
              <a:gdLst/>
              <a:ahLst/>
              <a:cxnLst/>
              <a:rect r="r" b="b" t="t" l="l"/>
              <a:pathLst>
                <a:path h="3496564" w="10634472">
                  <a:moveTo>
                    <a:pt x="0" y="582803"/>
                  </a:moveTo>
                  <a:cubicBezTo>
                    <a:pt x="0" y="260858"/>
                    <a:pt x="260858" y="0"/>
                    <a:pt x="582803" y="0"/>
                  </a:cubicBezTo>
                  <a:lnTo>
                    <a:pt x="10051669" y="0"/>
                  </a:lnTo>
                  <a:cubicBezTo>
                    <a:pt x="10373487" y="0"/>
                    <a:pt x="10634472" y="260858"/>
                    <a:pt x="10634472" y="582803"/>
                  </a:cubicBezTo>
                  <a:lnTo>
                    <a:pt x="10634472" y="2913761"/>
                  </a:lnTo>
                  <a:cubicBezTo>
                    <a:pt x="10634472" y="3235579"/>
                    <a:pt x="10373613" y="3496564"/>
                    <a:pt x="10051669" y="3496564"/>
                  </a:cubicBezTo>
                  <a:lnTo>
                    <a:pt x="582803" y="3496564"/>
                  </a:lnTo>
                  <a:cubicBezTo>
                    <a:pt x="260858" y="3496564"/>
                    <a:pt x="0" y="3235579"/>
                    <a:pt x="0" y="2913761"/>
                  </a:cubicBezTo>
                  <a:close/>
                </a:path>
              </a:pathLst>
            </a:custGeom>
            <a:solidFill>
              <a:srgbClr val="EBF6F7"/>
            </a:solidFill>
            <a:ln w="14299" cap="sq">
              <a:solidFill>
                <a:srgbClr val="D7E7E9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7172127" y="2566902"/>
            <a:ext cx="61770" cy="2278637"/>
            <a:chOff x="0" y="0"/>
            <a:chExt cx="82360" cy="303818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2423" cy="3038221"/>
            </a:xfrm>
            <a:custGeom>
              <a:avLst/>
              <a:gdLst/>
              <a:ahLst/>
              <a:cxnLst/>
              <a:rect r="r" b="b" t="t" l="l"/>
              <a:pathLst>
                <a:path h="3038221" w="82423">
                  <a:moveTo>
                    <a:pt x="0" y="0"/>
                  </a:moveTo>
                  <a:lnTo>
                    <a:pt x="82423" y="0"/>
                  </a:lnTo>
                  <a:lnTo>
                    <a:pt x="82423" y="3038221"/>
                  </a:lnTo>
                  <a:lnTo>
                    <a:pt x="0" y="3038221"/>
                  </a:lnTo>
                  <a:close/>
                </a:path>
              </a:pathLst>
            </a:custGeom>
            <a:solidFill>
              <a:srgbClr val="E3AB41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654407" y="2555853"/>
            <a:ext cx="7293578" cy="496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62"/>
              </a:lnSpc>
            </a:pPr>
            <a:r>
              <a:rPr lang="ar-EG" sz="2551" b="true">
                <a:solidFill>
                  <a:srgbClr val="122743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الجفاف والإجهاد المائي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654407" y="3146098"/>
            <a:ext cx="7293578" cy="1690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1"/>
              </a:lnSpc>
            </a:pPr>
            <a:r>
              <a:rPr lang="ar-EG" sz="2101">
                <a:solidFill>
                  <a:srgbClr val="2B3643"/>
                </a:solidFill>
                <a:latin typeface="Calibri (MS)"/>
                <a:ea typeface="Calibri (MS)"/>
                <a:cs typeface="Calibri (MS)"/>
                <a:sym typeface="Calibri (MS)"/>
                <a:rtl val="true"/>
              </a:rPr>
              <a:t>فترات الجفاف وارتفاع التبخر يزيدان الضغط على النبات ويرفعان الاحتياج إلى الري</a:t>
            </a:r>
            <a:r>
              <a:rPr lang="en-US" sz="2101">
                <a:solidFill>
                  <a:srgbClr val="2B3643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85092" y="5552170"/>
            <a:ext cx="7975797" cy="2622375"/>
            <a:chOff x="0" y="0"/>
            <a:chExt cx="10634396" cy="34965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634472" cy="3496564"/>
            </a:xfrm>
            <a:custGeom>
              <a:avLst/>
              <a:gdLst/>
              <a:ahLst/>
              <a:cxnLst/>
              <a:rect r="r" b="b" t="t" l="l"/>
              <a:pathLst>
                <a:path h="3496564" w="10634472">
                  <a:moveTo>
                    <a:pt x="0" y="582803"/>
                  </a:moveTo>
                  <a:cubicBezTo>
                    <a:pt x="0" y="260858"/>
                    <a:pt x="260858" y="0"/>
                    <a:pt x="582803" y="0"/>
                  </a:cubicBezTo>
                  <a:lnTo>
                    <a:pt x="10051669" y="0"/>
                  </a:lnTo>
                  <a:cubicBezTo>
                    <a:pt x="10373487" y="0"/>
                    <a:pt x="10634472" y="260858"/>
                    <a:pt x="10634472" y="582803"/>
                  </a:cubicBezTo>
                  <a:lnTo>
                    <a:pt x="10634472" y="2913761"/>
                  </a:lnTo>
                  <a:cubicBezTo>
                    <a:pt x="10634472" y="3235579"/>
                    <a:pt x="10373613" y="3496564"/>
                    <a:pt x="10051669" y="3496564"/>
                  </a:cubicBezTo>
                  <a:lnTo>
                    <a:pt x="582803" y="3496564"/>
                  </a:lnTo>
                  <a:cubicBezTo>
                    <a:pt x="260858" y="3496564"/>
                    <a:pt x="0" y="3235579"/>
                    <a:pt x="0" y="2913761"/>
                  </a:cubicBezTo>
                  <a:close/>
                </a:path>
              </a:pathLst>
            </a:custGeom>
            <a:solidFill>
              <a:srgbClr val="EBF6F7"/>
            </a:solidFill>
            <a:ln w="14299" cap="sq">
              <a:solidFill>
                <a:srgbClr val="D7E7E9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8730196" y="5724039"/>
            <a:ext cx="61770" cy="2278637"/>
            <a:chOff x="0" y="0"/>
            <a:chExt cx="82360" cy="303818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2423" cy="3038221"/>
            </a:xfrm>
            <a:custGeom>
              <a:avLst/>
              <a:gdLst/>
              <a:ahLst/>
              <a:cxnLst/>
              <a:rect r="r" b="b" t="t" l="l"/>
              <a:pathLst>
                <a:path h="3038221" w="82423">
                  <a:moveTo>
                    <a:pt x="0" y="0"/>
                  </a:moveTo>
                  <a:lnTo>
                    <a:pt x="82423" y="0"/>
                  </a:lnTo>
                  <a:lnTo>
                    <a:pt x="82423" y="3038221"/>
                  </a:lnTo>
                  <a:lnTo>
                    <a:pt x="0" y="3038221"/>
                  </a:lnTo>
                  <a:close/>
                </a:path>
              </a:pathLst>
            </a:custGeom>
            <a:solidFill>
              <a:srgbClr val="B44141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212466" y="5712990"/>
            <a:ext cx="7293578" cy="496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62"/>
              </a:lnSpc>
            </a:pPr>
            <a:r>
              <a:rPr lang="ar-EG" sz="2551" b="true">
                <a:solidFill>
                  <a:srgbClr val="122743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تدهور التربة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12466" y="6303245"/>
            <a:ext cx="7293578" cy="1690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1"/>
              </a:lnSpc>
            </a:pPr>
            <a:r>
              <a:rPr lang="ar-EG" sz="2101">
                <a:solidFill>
                  <a:srgbClr val="2B3643"/>
                </a:solidFill>
                <a:latin typeface="Calibri (MS)"/>
                <a:ea typeface="Calibri (MS)"/>
                <a:cs typeface="Calibri (MS)"/>
                <a:sym typeface="Calibri (MS)"/>
                <a:rtl val="true"/>
              </a:rPr>
              <a:t>تراجع جودة التربة بسبب الملوحة أو التعرية أو سوء إدارة المياه والمغذيات؛ لا يُنسب كله إلى المناخ وحده</a:t>
            </a:r>
            <a:r>
              <a:rPr lang="en-US" sz="2101">
                <a:solidFill>
                  <a:srgbClr val="2B3643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327023" y="5552170"/>
            <a:ext cx="7975797" cy="2622375"/>
            <a:chOff x="0" y="0"/>
            <a:chExt cx="10634396" cy="34965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634472" cy="3496564"/>
            </a:xfrm>
            <a:custGeom>
              <a:avLst/>
              <a:gdLst/>
              <a:ahLst/>
              <a:cxnLst/>
              <a:rect r="r" b="b" t="t" l="l"/>
              <a:pathLst>
                <a:path h="3496564" w="10634472">
                  <a:moveTo>
                    <a:pt x="0" y="582803"/>
                  </a:moveTo>
                  <a:cubicBezTo>
                    <a:pt x="0" y="260858"/>
                    <a:pt x="260858" y="0"/>
                    <a:pt x="582803" y="0"/>
                  </a:cubicBezTo>
                  <a:lnTo>
                    <a:pt x="10051669" y="0"/>
                  </a:lnTo>
                  <a:cubicBezTo>
                    <a:pt x="10373487" y="0"/>
                    <a:pt x="10634472" y="260858"/>
                    <a:pt x="10634472" y="582803"/>
                  </a:cubicBezTo>
                  <a:lnTo>
                    <a:pt x="10634472" y="2913761"/>
                  </a:lnTo>
                  <a:cubicBezTo>
                    <a:pt x="10634472" y="3235579"/>
                    <a:pt x="10373613" y="3496564"/>
                    <a:pt x="10051669" y="3496564"/>
                  </a:cubicBezTo>
                  <a:lnTo>
                    <a:pt x="582803" y="3496564"/>
                  </a:lnTo>
                  <a:cubicBezTo>
                    <a:pt x="260858" y="3496564"/>
                    <a:pt x="0" y="3235579"/>
                    <a:pt x="0" y="2913761"/>
                  </a:cubicBezTo>
                  <a:close/>
                </a:path>
              </a:pathLst>
            </a:custGeom>
            <a:solidFill>
              <a:srgbClr val="EBF6F7"/>
            </a:solidFill>
            <a:ln w="14299" cap="sq">
              <a:solidFill>
                <a:srgbClr val="D7E7E9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7172127" y="5724039"/>
            <a:ext cx="61770" cy="2278637"/>
            <a:chOff x="0" y="0"/>
            <a:chExt cx="82360" cy="303818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2423" cy="3038221"/>
            </a:xfrm>
            <a:custGeom>
              <a:avLst/>
              <a:gdLst/>
              <a:ahLst/>
              <a:cxnLst/>
              <a:rect r="r" b="b" t="t" l="l"/>
              <a:pathLst>
                <a:path h="3038221" w="82423">
                  <a:moveTo>
                    <a:pt x="0" y="0"/>
                  </a:moveTo>
                  <a:lnTo>
                    <a:pt x="82423" y="0"/>
                  </a:lnTo>
                  <a:lnTo>
                    <a:pt x="82423" y="3038221"/>
                  </a:lnTo>
                  <a:lnTo>
                    <a:pt x="0" y="3038221"/>
                  </a:lnTo>
                  <a:close/>
                </a:path>
              </a:pathLst>
            </a:custGeom>
            <a:solidFill>
              <a:srgbClr val="008F96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9654407" y="5712990"/>
            <a:ext cx="7293578" cy="496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62"/>
              </a:lnSpc>
            </a:pPr>
            <a:r>
              <a:rPr lang="ar-EG" sz="2551" b="true">
                <a:solidFill>
                  <a:srgbClr val="122743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نقص مياه الري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654407" y="6303245"/>
            <a:ext cx="7293578" cy="1690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1"/>
              </a:lnSpc>
            </a:pPr>
            <a:r>
              <a:rPr lang="ar-EG" sz="2101">
                <a:solidFill>
                  <a:srgbClr val="2B3643"/>
                </a:solidFill>
                <a:latin typeface="Calibri (MS)"/>
                <a:ea typeface="Calibri (MS)"/>
                <a:cs typeface="Calibri (MS)"/>
                <a:sym typeface="Calibri (MS)"/>
                <a:rtl val="true"/>
              </a:rPr>
              <a:t>محدودية المياه المتاحة أو عدم انتظام وصولها قد يغيّر خطة الري ويزيد مخاطر الإجهاد على المحاصيل</a:t>
            </a:r>
            <a:r>
              <a:rPr lang="en-US" sz="2101">
                <a:solidFill>
                  <a:srgbClr val="2B3643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28123" y="9790957"/>
            <a:ext cx="14266755" cy="220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97682"/>
                </a:solidFill>
                <a:latin typeface="Arial"/>
                <a:ea typeface="Arial"/>
                <a:cs typeface="Arial"/>
                <a:sym typeface="Arial"/>
              </a:rPr>
              <a:t>FIELD SHIFT  |  Climate &amp; Agriculture Data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6133416" y="9790957"/>
            <a:ext cx="1226372" cy="220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41"/>
              </a:lnSpc>
            </a:pPr>
            <a:r>
              <a:rPr lang="en-US" sz="1200">
                <a:solidFill>
                  <a:srgbClr val="697682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28123" y="303543"/>
            <a:ext cx="16600303" cy="895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863"/>
              </a:lnSpc>
            </a:pPr>
            <a:r>
              <a:rPr lang="en-US" sz="4053" b="true">
                <a:solidFill>
                  <a:srgbClr val="12274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٢</a:t>
            </a:r>
            <a:r>
              <a:rPr lang="ar-EG" sz="4053" b="true">
                <a:solidFill>
                  <a:srgbClr val="122743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. التقلبات الجوية المفاجئة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4962127" y="1345216"/>
            <a:ext cx="2539441" cy="82363"/>
            <a:chOff x="0" y="0"/>
            <a:chExt cx="3385922" cy="1098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385947" cy="109855"/>
            </a:xfrm>
            <a:custGeom>
              <a:avLst/>
              <a:gdLst/>
              <a:ahLst/>
              <a:cxnLst/>
              <a:rect r="r" b="b" t="t" l="l"/>
              <a:pathLst>
                <a:path h="109855" w="3385947">
                  <a:moveTo>
                    <a:pt x="0" y="0"/>
                  </a:moveTo>
                  <a:lnTo>
                    <a:pt x="3385947" y="0"/>
                  </a:lnTo>
                  <a:lnTo>
                    <a:pt x="3385947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008F96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896760" y="1480966"/>
            <a:ext cx="16325764" cy="623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1"/>
              </a:lnSpc>
            </a:pPr>
            <a:r>
              <a:rPr lang="ar-EG" sz="1801">
                <a:solidFill>
                  <a:srgbClr val="697682"/>
                </a:solidFill>
                <a:latin typeface="Calibri (MS)"/>
                <a:ea typeface="Calibri (MS)"/>
                <a:cs typeface="Calibri (MS)"/>
                <a:sym typeface="Calibri (MS)"/>
                <a:rtl val="true"/>
              </a:rPr>
              <a:t>المخاطر ليست متطابقة في كل منطقة أو موسم؛ تُراجع حسب الموقع والمحصول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85092" y="2326396"/>
            <a:ext cx="8044434" cy="2759640"/>
            <a:chOff x="0" y="0"/>
            <a:chExt cx="10725912" cy="36795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725912" cy="3679571"/>
            </a:xfrm>
            <a:custGeom>
              <a:avLst/>
              <a:gdLst/>
              <a:ahLst/>
              <a:cxnLst/>
              <a:rect r="r" b="b" t="t" l="l"/>
              <a:pathLst>
                <a:path h="3679571" w="10725912">
                  <a:moveTo>
                    <a:pt x="0" y="613283"/>
                  </a:moveTo>
                  <a:cubicBezTo>
                    <a:pt x="0" y="274574"/>
                    <a:pt x="274574" y="0"/>
                    <a:pt x="613283" y="0"/>
                  </a:cubicBezTo>
                  <a:lnTo>
                    <a:pt x="10112629" y="0"/>
                  </a:lnTo>
                  <a:cubicBezTo>
                    <a:pt x="10451338" y="0"/>
                    <a:pt x="10725912" y="274574"/>
                    <a:pt x="10725912" y="613283"/>
                  </a:cubicBezTo>
                  <a:lnTo>
                    <a:pt x="10725912" y="3066288"/>
                  </a:lnTo>
                  <a:cubicBezTo>
                    <a:pt x="10725912" y="3404997"/>
                    <a:pt x="10451338" y="3679571"/>
                    <a:pt x="10112629" y="3679571"/>
                  </a:cubicBezTo>
                  <a:lnTo>
                    <a:pt x="613283" y="3679571"/>
                  </a:lnTo>
                  <a:cubicBezTo>
                    <a:pt x="274574" y="3679571"/>
                    <a:pt x="0" y="3404997"/>
                    <a:pt x="0" y="3066288"/>
                  </a:cubicBezTo>
                  <a:close/>
                </a:path>
              </a:pathLst>
            </a:custGeom>
            <a:solidFill>
              <a:srgbClr val="EBF6F7"/>
            </a:solidFill>
            <a:ln w="14299" cap="sq">
              <a:solidFill>
                <a:srgbClr val="D7E7E9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8798833" y="2498265"/>
            <a:ext cx="61770" cy="2415902"/>
            <a:chOff x="0" y="0"/>
            <a:chExt cx="82360" cy="322120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423" cy="3221228"/>
            </a:xfrm>
            <a:custGeom>
              <a:avLst/>
              <a:gdLst/>
              <a:ahLst/>
              <a:cxnLst/>
              <a:rect r="r" b="b" t="t" l="l"/>
              <a:pathLst>
                <a:path h="3221228" w="82423">
                  <a:moveTo>
                    <a:pt x="0" y="0"/>
                  </a:moveTo>
                  <a:lnTo>
                    <a:pt x="82423" y="0"/>
                  </a:lnTo>
                  <a:lnTo>
                    <a:pt x="82423" y="3221228"/>
                  </a:lnTo>
                  <a:lnTo>
                    <a:pt x="0" y="3221228"/>
                  </a:lnTo>
                  <a:close/>
                </a:path>
              </a:pathLst>
            </a:custGeom>
            <a:solidFill>
              <a:srgbClr val="E3AB41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12466" y="2487216"/>
            <a:ext cx="7362215" cy="496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62"/>
              </a:lnSpc>
            </a:pPr>
            <a:r>
              <a:rPr lang="ar-EG" sz="2551" b="true">
                <a:solidFill>
                  <a:srgbClr val="122743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تغيّر موجات الحر والبرد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12466" y="3106036"/>
            <a:ext cx="7362215" cy="1799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02"/>
              </a:lnSpc>
            </a:pPr>
            <a:r>
              <a:rPr lang="en-US" sz="2251">
                <a:solidFill>
                  <a:srgbClr val="2B3643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ar-EG" sz="2251">
                <a:solidFill>
                  <a:srgbClr val="2B3643"/>
                </a:solidFill>
                <a:latin typeface="Arial"/>
                <a:ea typeface="Arial"/>
                <a:cs typeface="Arial"/>
                <a:sym typeface="Arial"/>
                <a:rtl val="true"/>
              </a:rPr>
              <a:t>تغيّر توقيت الموجات ومدتها وشدتها</a:t>
            </a:r>
          </a:p>
          <a:p>
            <a:pPr algn="r">
              <a:lnSpc>
                <a:spcPts val="2702"/>
              </a:lnSpc>
            </a:pPr>
            <a:r>
              <a:rPr lang="en-US" sz="2251">
                <a:solidFill>
                  <a:srgbClr val="2B3643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ar-EG" sz="2251">
                <a:solidFill>
                  <a:srgbClr val="2B3643"/>
                </a:solidFill>
                <a:latin typeface="Arial"/>
                <a:ea typeface="Arial"/>
                <a:cs typeface="Arial"/>
                <a:sym typeface="Arial"/>
                <a:rtl val="true"/>
              </a:rPr>
              <a:t>إجهاد حراري للنبات وزيادة فقد الماء</a:t>
            </a:r>
          </a:p>
          <a:p>
            <a:pPr algn="r">
              <a:lnSpc>
                <a:spcPts val="2702"/>
              </a:lnSpc>
            </a:pPr>
            <a:r>
              <a:rPr lang="en-US" sz="2251">
                <a:solidFill>
                  <a:srgbClr val="2B3643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ar-EG" sz="2251">
                <a:solidFill>
                  <a:srgbClr val="2B3643"/>
                </a:solidFill>
                <a:latin typeface="Arial"/>
                <a:ea typeface="Arial"/>
                <a:cs typeface="Arial"/>
                <a:sym typeface="Arial"/>
                <a:rtl val="true"/>
              </a:rPr>
              <a:t>احتمال تأثر مراحل الإزهار والعقد وامتلاء الحبوب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327023" y="2326396"/>
            <a:ext cx="8044434" cy="2759640"/>
            <a:chOff x="0" y="0"/>
            <a:chExt cx="10725912" cy="3679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725912" cy="3679571"/>
            </a:xfrm>
            <a:custGeom>
              <a:avLst/>
              <a:gdLst/>
              <a:ahLst/>
              <a:cxnLst/>
              <a:rect r="r" b="b" t="t" l="l"/>
              <a:pathLst>
                <a:path h="3679571" w="10725912">
                  <a:moveTo>
                    <a:pt x="0" y="613283"/>
                  </a:moveTo>
                  <a:cubicBezTo>
                    <a:pt x="0" y="274574"/>
                    <a:pt x="274574" y="0"/>
                    <a:pt x="613283" y="0"/>
                  </a:cubicBezTo>
                  <a:lnTo>
                    <a:pt x="10112629" y="0"/>
                  </a:lnTo>
                  <a:cubicBezTo>
                    <a:pt x="10451338" y="0"/>
                    <a:pt x="10725912" y="274574"/>
                    <a:pt x="10725912" y="613283"/>
                  </a:cubicBezTo>
                  <a:lnTo>
                    <a:pt x="10725912" y="3066288"/>
                  </a:lnTo>
                  <a:cubicBezTo>
                    <a:pt x="10725912" y="3404997"/>
                    <a:pt x="10451338" y="3679571"/>
                    <a:pt x="10112629" y="3679571"/>
                  </a:cubicBezTo>
                  <a:lnTo>
                    <a:pt x="613283" y="3679571"/>
                  </a:lnTo>
                  <a:cubicBezTo>
                    <a:pt x="274574" y="3679571"/>
                    <a:pt x="0" y="3404997"/>
                    <a:pt x="0" y="3066288"/>
                  </a:cubicBezTo>
                  <a:close/>
                </a:path>
              </a:pathLst>
            </a:custGeom>
            <a:solidFill>
              <a:srgbClr val="EBF6F7"/>
            </a:solidFill>
            <a:ln w="14299" cap="sq">
              <a:solidFill>
                <a:srgbClr val="D7E7E9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7240764" y="2498265"/>
            <a:ext cx="61770" cy="2415902"/>
            <a:chOff x="0" y="0"/>
            <a:chExt cx="82360" cy="322120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2423" cy="3221228"/>
            </a:xfrm>
            <a:custGeom>
              <a:avLst/>
              <a:gdLst/>
              <a:ahLst/>
              <a:cxnLst/>
              <a:rect r="r" b="b" t="t" l="l"/>
              <a:pathLst>
                <a:path h="3221228" w="82423">
                  <a:moveTo>
                    <a:pt x="0" y="0"/>
                  </a:moveTo>
                  <a:lnTo>
                    <a:pt x="82423" y="0"/>
                  </a:lnTo>
                  <a:lnTo>
                    <a:pt x="82423" y="3221228"/>
                  </a:lnTo>
                  <a:lnTo>
                    <a:pt x="0" y="3221228"/>
                  </a:lnTo>
                  <a:close/>
                </a:path>
              </a:pathLst>
            </a:custGeom>
            <a:solidFill>
              <a:srgbClr val="B44141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654407" y="2487216"/>
            <a:ext cx="7362215" cy="496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62"/>
              </a:lnSpc>
            </a:pPr>
            <a:r>
              <a:rPr lang="ar-EG" sz="2551" b="true">
                <a:solidFill>
                  <a:srgbClr val="122743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الرياح الشديدة والعواصف الترابية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654407" y="3106036"/>
            <a:ext cx="7362215" cy="1799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02"/>
              </a:lnSpc>
            </a:pPr>
            <a:r>
              <a:rPr lang="en-US" sz="2251">
                <a:solidFill>
                  <a:srgbClr val="2B3643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ar-EG" sz="2251">
                <a:solidFill>
                  <a:srgbClr val="2B3643"/>
                </a:solidFill>
                <a:latin typeface="Arial"/>
                <a:ea typeface="Arial"/>
                <a:cs typeface="Arial"/>
                <a:sym typeface="Arial"/>
                <a:rtl val="true"/>
              </a:rPr>
              <a:t>رقاد بعض المحاصيل أو تكسّر الأفرع</a:t>
            </a:r>
          </a:p>
          <a:p>
            <a:pPr algn="r">
              <a:lnSpc>
                <a:spcPts val="2702"/>
              </a:lnSpc>
            </a:pPr>
            <a:r>
              <a:rPr lang="en-US" sz="2251">
                <a:solidFill>
                  <a:srgbClr val="2B3643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ar-EG" sz="2251">
                <a:solidFill>
                  <a:srgbClr val="2B3643"/>
                </a:solidFill>
                <a:latin typeface="Arial"/>
                <a:ea typeface="Arial"/>
                <a:cs typeface="Arial"/>
                <a:sym typeface="Arial"/>
                <a:rtl val="true"/>
              </a:rPr>
              <a:t>ضرر ميكانيكي وتراكم الأتربة على الأوراق</a:t>
            </a:r>
          </a:p>
          <a:p>
            <a:pPr algn="r">
              <a:lnSpc>
                <a:spcPts val="2702"/>
              </a:lnSpc>
            </a:pPr>
            <a:r>
              <a:rPr lang="en-US" sz="2251">
                <a:solidFill>
                  <a:srgbClr val="2B3643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ar-EG" sz="2251">
                <a:solidFill>
                  <a:srgbClr val="2B3643"/>
                </a:solidFill>
                <a:latin typeface="Arial"/>
                <a:ea typeface="Arial"/>
                <a:cs typeface="Arial"/>
                <a:sym typeface="Arial"/>
                <a:rtl val="true"/>
              </a:rPr>
              <a:t>ارتفاع فقد الماء وصعوبة بعض العمليات الحقلية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85092" y="5483542"/>
            <a:ext cx="8044434" cy="2759640"/>
            <a:chOff x="0" y="0"/>
            <a:chExt cx="10725912" cy="3679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725912" cy="3679571"/>
            </a:xfrm>
            <a:custGeom>
              <a:avLst/>
              <a:gdLst/>
              <a:ahLst/>
              <a:cxnLst/>
              <a:rect r="r" b="b" t="t" l="l"/>
              <a:pathLst>
                <a:path h="3679571" w="10725912">
                  <a:moveTo>
                    <a:pt x="0" y="613283"/>
                  </a:moveTo>
                  <a:cubicBezTo>
                    <a:pt x="0" y="274574"/>
                    <a:pt x="274574" y="0"/>
                    <a:pt x="613283" y="0"/>
                  </a:cubicBezTo>
                  <a:lnTo>
                    <a:pt x="10112629" y="0"/>
                  </a:lnTo>
                  <a:cubicBezTo>
                    <a:pt x="10451338" y="0"/>
                    <a:pt x="10725912" y="274574"/>
                    <a:pt x="10725912" y="613283"/>
                  </a:cubicBezTo>
                  <a:lnTo>
                    <a:pt x="10725912" y="3066288"/>
                  </a:lnTo>
                  <a:cubicBezTo>
                    <a:pt x="10725912" y="3404997"/>
                    <a:pt x="10451338" y="3679571"/>
                    <a:pt x="10112629" y="3679571"/>
                  </a:cubicBezTo>
                  <a:lnTo>
                    <a:pt x="613283" y="3679571"/>
                  </a:lnTo>
                  <a:cubicBezTo>
                    <a:pt x="274574" y="3679571"/>
                    <a:pt x="0" y="3404997"/>
                    <a:pt x="0" y="3066288"/>
                  </a:cubicBezTo>
                  <a:close/>
                </a:path>
              </a:pathLst>
            </a:custGeom>
            <a:solidFill>
              <a:srgbClr val="EBF6F7"/>
            </a:solidFill>
            <a:ln w="14299" cap="sq">
              <a:solidFill>
                <a:srgbClr val="D7E7E9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8798833" y="5655412"/>
            <a:ext cx="61770" cy="2415902"/>
            <a:chOff x="0" y="0"/>
            <a:chExt cx="82360" cy="322120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2423" cy="3221228"/>
            </a:xfrm>
            <a:custGeom>
              <a:avLst/>
              <a:gdLst/>
              <a:ahLst/>
              <a:cxnLst/>
              <a:rect r="r" b="b" t="t" l="l"/>
              <a:pathLst>
                <a:path h="3221228" w="82423">
                  <a:moveTo>
                    <a:pt x="0" y="0"/>
                  </a:moveTo>
                  <a:lnTo>
                    <a:pt x="82423" y="0"/>
                  </a:lnTo>
                  <a:lnTo>
                    <a:pt x="82423" y="3221228"/>
                  </a:lnTo>
                  <a:lnTo>
                    <a:pt x="0" y="3221228"/>
                  </a:lnTo>
                  <a:close/>
                </a:path>
              </a:pathLst>
            </a:custGeom>
            <a:solidFill>
              <a:srgbClr val="008F96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212466" y="5644363"/>
            <a:ext cx="7362215" cy="496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62"/>
              </a:lnSpc>
            </a:pPr>
            <a:r>
              <a:rPr lang="ar-EG" sz="2551" b="true">
                <a:solidFill>
                  <a:srgbClr val="122743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الأمطار الغزيرة والسيول المحلية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12466" y="6263183"/>
            <a:ext cx="7362215" cy="1799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02"/>
              </a:lnSpc>
            </a:pPr>
            <a:r>
              <a:rPr lang="en-US" sz="2251">
                <a:solidFill>
                  <a:srgbClr val="2B3643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ar-EG" sz="2251">
                <a:solidFill>
                  <a:srgbClr val="2B3643"/>
                </a:solidFill>
                <a:latin typeface="Arial"/>
                <a:ea typeface="Arial"/>
                <a:cs typeface="Arial"/>
                <a:sym typeface="Arial"/>
                <a:rtl val="true"/>
              </a:rPr>
              <a:t>تشبع التربة بالماء أو الغمر في المناطق المعرضة</a:t>
            </a:r>
          </a:p>
          <a:p>
            <a:pPr algn="r">
              <a:lnSpc>
                <a:spcPts val="2702"/>
              </a:lnSpc>
            </a:pPr>
            <a:r>
              <a:rPr lang="en-US" sz="2251">
                <a:solidFill>
                  <a:srgbClr val="2B3643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ar-EG" sz="2251">
                <a:solidFill>
                  <a:srgbClr val="2B3643"/>
                </a:solidFill>
                <a:latin typeface="Arial"/>
                <a:ea typeface="Arial"/>
                <a:cs typeface="Arial"/>
                <a:sym typeface="Arial"/>
                <a:rtl val="true"/>
              </a:rPr>
              <a:t>انجراف التربة أو تلف بعض النباتات</a:t>
            </a:r>
          </a:p>
          <a:p>
            <a:pPr algn="r">
              <a:lnSpc>
                <a:spcPts val="2702"/>
              </a:lnSpc>
            </a:pPr>
            <a:r>
              <a:rPr lang="en-US" sz="2251">
                <a:solidFill>
                  <a:srgbClr val="2B3643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ar-EG" sz="2251">
                <a:solidFill>
                  <a:srgbClr val="2B3643"/>
                </a:solidFill>
                <a:latin typeface="Arial"/>
                <a:ea typeface="Arial"/>
                <a:cs typeface="Arial"/>
                <a:sym typeface="Arial"/>
                <a:rtl val="true"/>
              </a:rPr>
              <a:t>تعطّل الوصول إلى الحقول أو تأخر الحصاد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327023" y="5483542"/>
            <a:ext cx="8044434" cy="2759640"/>
            <a:chOff x="0" y="0"/>
            <a:chExt cx="10725912" cy="3679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725912" cy="3679571"/>
            </a:xfrm>
            <a:custGeom>
              <a:avLst/>
              <a:gdLst/>
              <a:ahLst/>
              <a:cxnLst/>
              <a:rect r="r" b="b" t="t" l="l"/>
              <a:pathLst>
                <a:path h="3679571" w="10725912">
                  <a:moveTo>
                    <a:pt x="0" y="613283"/>
                  </a:moveTo>
                  <a:cubicBezTo>
                    <a:pt x="0" y="274574"/>
                    <a:pt x="274574" y="0"/>
                    <a:pt x="613283" y="0"/>
                  </a:cubicBezTo>
                  <a:lnTo>
                    <a:pt x="10112629" y="0"/>
                  </a:lnTo>
                  <a:cubicBezTo>
                    <a:pt x="10451338" y="0"/>
                    <a:pt x="10725912" y="274574"/>
                    <a:pt x="10725912" y="613283"/>
                  </a:cubicBezTo>
                  <a:lnTo>
                    <a:pt x="10725912" y="3066288"/>
                  </a:lnTo>
                  <a:cubicBezTo>
                    <a:pt x="10725912" y="3404997"/>
                    <a:pt x="10451338" y="3679571"/>
                    <a:pt x="10112629" y="3679571"/>
                  </a:cubicBezTo>
                  <a:lnTo>
                    <a:pt x="613283" y="3679571"/>
                  </a:lnTo>
                  <a:cubicBezTo>
                    <a:pt x="274574" y="3679571"/>
                    <a:pt x="0" y="3404997"/>
                    <a:pt x="0" y="3066288"/>
                  </a:cubicBezTo>
                  <a:close/>
                </a:path>
              </a:pathLst>
            </a:custGeom>
            <a:solidFill>
              <a:srgbClr val="EBF6F7"/>
            </a:solidFill>
            <a:ln w="14299" cap="sq">
              <a:solidFill>
                <a:srgbClr val="D7E7E9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7240764" y="5655412"/>
            <a:ext cx="61770" cy="2415902"/>
            <a:chOff x="0" y="0"/>
            <a:chExt cx="82360" cy="322120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2423" cy="3221228"/>
            </a:xfrm>
            <a:custGeom>
              <a:avLst/>
              <a:gdLst/>
              <a:ahLst/>
              <a:cxnLst/>
              <a:rect r="r" b="b" t="t" l="l"/>
              <a:pathLst>
                <a:path h="3221228" w="82423">
                  <a:moveTo>
                    <a:pt x="0" y="0"/>
                  </a:moveTo>
                  <a:lnTo>
                    <a:pt x="82423" y="0"/>
                  </a:lnTo>
                  <a:lnTo>
                    <a:pt x="82423" y="3221228"/>
                  </a:lnTo>
                  <a:lnTo>
                    <a:pt x="0" y="3221228"/>
                  </a:lnTo>
                  <a:close/>
                </a:path>
              </a:pathLst>
            </a:custGeom>
            <a:solidFill>
              <a:srgbClr val="008F96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9654407" y="5644363"/>
            <a:ext cx="7362215" cy="496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62"/>
              </a:lnSpc>
            </a:pPr>
            <a:r>
              <a:rPr lang="ar-EG" sz="2551" b="true">
                <a:solidFill>
                  <a:srgbClr val="122743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الصقيع في المناطق/الفترات المعرضة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654407" y="6263183"/>
            <a:ext cx="7362215" cy="1799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02"/>
              </a:lnSpc>
            </a:pPr>
            <a:r>
              <a:rPr lang="en-US" sz="2251">
                <a:solidFill>
                  <a:srgbClr val="2B3643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ar-EG" sz="2251">
                <a:solidFill>
                  <a:srgbClr val="2B3643"/>
                </a:solidFill>
                <a:latin typeface="Arial"/>
                <a:ea typeface="Arial"/>
                <a:cs typeface="Arial"/>
                <a:sym typeface="Arial"/>
                <a:rtl val="true"/>
              </a:rPr>
              <a:t>ضرر محتمل للأنسجة النباتية الحساسة</a:t>
            </a:r>
          </a:p>
          <a:p>
            <a:pPr algn="r">
              <a:lnSpc>
                <a:spcPts val="2702"/>
              </a:lnSpc>
            </a:pPr>
            <a:r>
              <a:rPr lang="en-US" sz="2251">
                <a:solidFill>
                  <a:srgbClr val="2B3643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ar-EG" sz="2251">
                <a:solidFill>
                  <a:srgbClr val="2B3643"/>
                </a:solidFill>
                <a:latin typeface="Arial"/>
                <a:ea typeface="Arial"/>
                <a:cs typeface="Arial"/>
                <a:sym typeface="Arial"/>
                <a:rtl val="true"/>
              </a:rPr>
              <a:t>الخطر يتوقف على درجة الحرارة ومدة التعرض ونوع المحصول</a:t>
            </a:r>
          </a:p>
          <a:p>
            <a:pPr algn="r">
              <a:lnSpc>
                <a:spcPts val="2702"/>
              </a:lnSpc>
            </a:pPr>
            <a:r>
              <a:rPr lang="en-US" sz="2251">
                <a:solidFill>
                  <a:srgbClr val="2B3643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ar-EG" sz="2251">
                <a:solidFill>
                  <a:srgbClr val="2B3643"/>
                </a:solidFill>
                <a:latin typeface="Arial"/>
                <a:ea typeface="Arial"/>
                <a:cs typeface="Arial"/>
                <a:sym typeface="Arial"/>
                <a:rtl val="true"/>
              </a:rPr>
              <a:t>لا يُفترض حدوثه في كل مناطق مصر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28123" y="9790957"/>
            <a:ext cx="14266755" cy="220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97682"/>
                </a:solidFill>
                <a:latin typeface="Arial"/>
                <a:ea typeface="Arial"/>
                <a:cs typeface="Arial"/>
                <a:sym typeface="Arial"/>
              </a:rPr>
              <a:t>FIELD SHIFT  |  Climate &amp; Agriculture Data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6133416" y="9790957"/>
            <a:ext cx="1226372" cy="220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41"/>
              </a:lnSpc>
            </a:pPr>
            <a:r>
              <a:rPr lang="en-US" sz="1200">
                <a:solidFill>
                  <a:srgbClr val="697682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28123" y="303543"/>
            <a:ext cx="16600303" cy="895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863"/>
              </a:lnSpc>
            </a:pPr>
            <a:r>
              <a:rPr lang="en-US" sz="4053" b="true">
                <a:solidFill>
                  <a:srgbClr val="12274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٣</a:t>
            </a:r>
            <a:r>
              <a:rPr lang="ar-EG" sz="4053" b="true">
                <a:solidFill>
                  <a:srgbClr val="122743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. النتائج المحتملة على المحاصيل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4962127" y="1345216"/>
            <a:ext cx="2539441" cy="82363"/>
            <a:chOff x="0" y="0"/>
            <a:chExt cx="3385922" cy="1098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385947" cy="109855"/>
            </a:xfrm>
            <a:custGeom>
              <a:avLst/>
              <a:gdLst/>
              <a:ahLst/>
              <a:cxnLst/>
              <a:rect r="r" b="b" t="t" l="l"/>
              <a:pathLst>
                <a:path h="109855" w="3385947">
                  <a:moveTo>
                    <a:pt x="0" y="0"/>
                  </a:moveTo>
                  <a:lnTo>
                    <a:pt x="3385947" y="0"/>
                  </a:lnTo>
                  <a:lnTo>
                    <a:pt x="3385947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008F96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896760" y="1480966"/>
            <a:ext cx="16325764" cy="623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1"/>
              </a:lnSpc>
            </a:pPr>
            <a:r>
              <a:rPr lang="ar-EG" sz="1801">
                <a:solidFill>
                  <a:srgbClr val="697682"/>
                </a:solidFill>
                <a:latin typeface="Calibri (MS)"/>
                <a:ea typeface="Calibri (MS)"/>
                <a:cs typeface="Calibri (MS)"/>
                <a:sym typeface="Calibri (MS)"/>
                <a:rtl val="true"/>
              </a:rPr>
              <a:t>سلسلة التأثير: خطر مناخي ← استجابة النبات/التربة/المياه ← قرار زراعي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60872" y="2264912"/>
            <a:ext cx="3363049" cy="658882"/>
            <a:chOff x="0" y="0"/>
            <a:chExt cx="4484065" cy="87851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84116" cy="878459"/>
            </a:xfrm>
            <a:custGeom>
              <a:avLst/>
              <a:gdLst/>
              <a:ahLst/>
              <a:cxnLst/>
              <a:rect r="r" b="b" t="t" l="l"/>
              <a:pathLst>
                <a:path h="878459" w="4484116">
                  <a:moveTo>
                    <a:pt x="0" y="146431"/>
                  </a:moveTo>
                  <a:cubicBezTo>
                    <a:pt x="0" y="65532"/>
                    <a:pt x="65532" y="0"/>
                    <a:pt x="146431" y="0"/>
                  </a:cubicBezTo>
                  <a:lnTo>
                    <a:pt x="4337685" y="0"/>
                  </a:lnTo>
                  <a:cubicBezTo>
                    <a:pt x="4418584" y="0"/>
                    <a:pt x="4484116" y="65532"/>
                    <a:pt x="4484116" y="146431"/>
                  </a:cubicBezTo>
                  <a:lnTo>
                    <a:pt x="4484116" y="732028"/>
                  </a:lnTo>
                  <a:cubicBezTo>
                    <a:pt x="4484116" y="812927"/>
                    <a:pt x="4418584" y="878459"/>
                    <a:pt x="4337685" y="878459"/>
                  </a:cubicBezTo>
                  <a:lnTo>
                    <a:pt x="146431" y="878459"/>
                  </a:lnTo>
                  <a:cubicBezTo>
                    <a:pt x="65532" y="878459"/>
                    <a:pt x="0" y="812927"/>
                    <a:pt x="0" y="732028"/>
                  </a:cubicBezTo>
                  <a:close/>
                </a:path>
              </a:pathLst>
            </a:custGeom>
            <a:solidFill>
              <a:srgbClr val="122743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43838" y="2336225"/>
            <a:ext cx="2997117" cy="454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41"/>
              </a:lnSpc>
            </a:pPr>
            <a:r>
              <a:rPr lang="ar-EG" sz="195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النتيجة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4323921" y="2264912"/>
            <a:ext cx="6177029" cy="658882"/>
            <a:chOff x="0" y="0"/>
            <a:chExt cx="8236039" cy="87851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236077" cy="878459"/>
            </a:xfrm>
            <a:custGeom>
              <a:avLst/>
              <a:gdLst/>
              <a:ahLst/>
              <a:cxnLst/>
              <a:rect r="r" b="b" t="t" l="l"/>
              <a:pathLst>
                <a:path h="878459" w="8236077">
                  <a:moveTo>
                    <a:pt x="0" y="146431"/>
                  </a:moveTo>
                  <a:cubicBezTo>
                    <a:pt x="0" y="65532"/>
                    <a:pt x="65532" y="0"/>
                    <a:pt x="146431" y="0"/>
                  </a:cubicBezTo>
                  <a:lnTo>
                    <a:pt x="8089646" y="0"/>
                  </a:lnTo>
                  <a:cubicBezTo>
                    <a:pt x="8170545" y="0"/>
                    <a:pt x="8236077" y="65532"/>
                    <a:pt x="8236077" y="146431"/>
                  </a:cubicBezTo>
                  <a:lnTo>
                    <a:pt x="8236077" y="732028"/>
                  </a:lnTo>
                  <a:cubicBezTo>
                    <a:pt x="8236077" y="812927"/>
                    <a:pt x="8170545" y="878459"/>
                    <a:pt x="8089646" y="878459"/>
                  </a:cubicBezTo>
                  <a:lnTo>
                    <a:pt x="146431" y="878459"/>
                  </a:lnTo>
                  <a:cubicBezTo>
                    <a:pt x="65532" y="878459"/>
                    <a:pt x="0" y="812927"/>
                    <a:pt x="0" y="732028"/>
                  </a:cubicBezTo>
                  <a:close/>
                </a:path>
              </a:pathLst>
            </a:custGeom>
            <a:solidFill>
              <a:srgbClr val="122743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4506887" y="2336225"/>
            <a:ext cx="5811098" cy="454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41"/>
              </a:lnSpc>
            </a:pPr>
            <a:r>
              <a:rPr lang="ar-EG" sz="195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السبب/المحفّز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500941" y="2264912"/>
            <a:ext cx="6863363" cy="658882"/>
            <a:chOff x="0" y="0"/>
            <a:chExt cx="9151150" cy="87851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51112" cy="878459"/>
            </a:xfrm>
            <a:custGeom>
              <a:avLst/>
              <a:gdLst/>
              <a:ahLst/>
              <a:cxnLst/>
              <a:rect r="r" b="b" t="t" l="l"/>
              <a:pathLst>
                <a:path h="878459" w="9151112">
                  <a:moveTo>
                    <a:pt x="0" y="146431"/>
                  </a:moveTo>
                  <a:cubicBezTo>
                    <a:pt x="0" y="65532"/>
                    <a:pt x="65532" y="0"/>
                    <a:pt x="146431" y="0"/>
                  </a:cubicBezTo>
                  <a:lnTo>
                    <a:pt x="9004681" y="0"/>
                  </a:lnTo>
                  <a:cubicBezTo>
                    <a:pt x="9085580" y="0"/>
                    <a:pt x="9151112" y="65532"/>
                    <a:pt x="9151112" y="146431"/>
                  </a:cubicBezTo>
                  <a:lnTo>
                    <a:pt x="9151112" y="732028"/>
                  </a:lnTo>
                  <a:cubicBezTo>
                    <a:pt x="9151112" y="812927"/>
                    <a:pt x="9085580" y="878459"/>
                    <a:pt x="9004681" y="878459"/>
                  </a:cubicBezTo>
                  <a:lnTo>
                    <a:pt x="146431" y="878459"/>
                  </a:lnTo>
                  <a:cubicBezTo>
                    <a:pt x="65532" y="878459"/>
                    <a:pt x="0" y="812927"/>
                    <a:pt x="0" y="732028"/>
                  </a:cubicBezTo>
                  <a:close/>
                </a:path>
              </a:pathLst>
            </a:custGeom>
            <a:solidFill>
              <a:srgbClr val="122743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0683907" y="2336225"/>
            <a:ext cx="6497431" cy="454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41"/>
              </a:lnSpc>
            </a:pPr>
            <a:r>
              <a:rPr lang="ar-EG" sz="195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استجابة التطبيق المقترحة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53719" y="3053906"/>
            <a:ext cx="3377346" cy="1318336"/>
            <a:chOff x="0" y="0"/>
            <a:chExt cx="4503128" cy="175778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503166" cy="1757807"/>
            </a:xfrm>
            <a:custGeom>
              <a:avLst/>
              <a:gdLst/>
              <a:ahLst/>
              <a:cxnLst/>
              <a:rect r="r" b="b" t="t" l="l"/>
              <a:pathLst>
                <a:path h="1757807" w="4503166">
                  <a:moveTo>
                    <a:pt x="0" y="292989"/>
                  </a:moveTo>
                  <a:cubicBezTo>
                    <a:pt x="0" y="131191"/>
                    <a:pt x="131191" y="0"/>
                    <a:pt x="292989" y="0"/>
                  </a:cubicBezTo>
                  <a:lnTo>
                    <a:pt x="4210177" y="0"/>
                  </a:lnTo>
                  <a:cubicBezTo>
                    <a:pt x="4371975" y="0"/>
                    <a:pt x="4503166" y="131191"/>
                    <a:pt x="4503166" y="292989"/>
                  </a:cubicBezTo>
                  <a:lnTo>
                    <a:pt x="4503166" y="1464818"/>
                  </a:lnTo>
                  <a:cubicBezTo>
                    <a:pt x="4503166" y="1626616"/>
                    <a:pt x="4371975" y="1757807"/>
                    <a:pt x="4210177" y="1757807"/>
                  </a:cubicBezTo>
                  <a:lnTo>
                    <a:pt x="292989" y="1757807"/>
                  </a:lnTo>
                  <a:cubicBezTo>
                    <a:pt x="131191" y="1757807"/>
                    <a:pt x="0" y="1626616"/>
                    <a:pt x="0" y="1464818"/>
                  </a:cubicBezTo>
                  <a:close/>
                </a:path>
              </a:pathLst>
            </a:custGeom>
            <a:solidFill>
              <a:srgbClr val="EBF6F7"/>
            </a:solidFill>
            <a:ln w="14299" cap="sq">
              <a:solidFill>
                <a:srgbClr val="E1E7EA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143838" y="3169348"/>
            <a:ext cx="2997117" cy="1035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1"/>
              </a:lnSpc>
            </a:pPr>
            <a:r>
              <a:rPr lang="ar-EG" sz="1801" b="true">
                <a:solidFill>
                  <a:srgbClr val="122743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تلف النباتات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4316768" y="3053906"/>
            <a:ext cx="6191326" cy="1318336"/>
            <a:chOff x="0" y="0"/>
            <a:chExt cx="8255102" cy="175778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255127" cy="1757807"/>
            </a:xfrm>
            <a:custGeom>
              <a:avLst/>
              <a:gdLst/>
              <a:ahLst/>
              <a:cxnLst/>
              <a:rect r="r" b="b" t="t" l="l"/>
              <a:pathLst>
                <a:path h="1757807" w="8255127">
                  <a:moveTo>
                    <a:pt x="0" y="292989"/>
                  </a:moveTo>
                  <a:cubicBezTo>
                    <a:pt x="0" y="131191"/>
                    <a:pt x="131191" y="0"/>
                    <a:pt x="292989" y="0"/>
                  </a:cubicBezTo>
                  <a:lnTo>
                    <a:pt x="7962138" y="0"/>
                  </a:lnTo>
                  <a:cubicBezTo>
                    <a:pt x="8123936" y="0"/>
                    <a:pt x="8255127" y="131191"/>
                    <a:pt x="8255127" y="292989"/>
                  </a:cubicBezTo>
                  <a:lnTo>
                    <a:pt x="8255127" y="1464818"/>
                  </a:lnTo>
                  <a:cubicBezTo>
                    <a:pt x="8255127" y="1626616"/>
                    <a:pt x="8123936" y="1757807"/>
                    <a:pt x="7962138" y="1757807"/>
                  </a:cubicBezTo>
                  <a:lnTo>
                    <a:pt x="292989" y="1757807"/>
                  </a:lnTo>
                  <a:cubicBezTo>
                    <a:pt x="131191" y="1757807"/>
                    <a:pt x="0" y="1626616"/>
                    <a:pt x="0" y="1464818"/>
                  </a:cubicBezTo>
                  <a:close/>
                </a:path>
              </a:pathLst>
            </a:custGeom>
            <a:solidFill>
              <a:srgbClr val="EBF6F7"/>
            </a:solidFill>
            <a:ln w="14299" cap="sq">
              <a:solidFill>
                <a:srgbClr val="E1E7EA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4506887" y="3169348"/>
            <a:ext cx="5811098" cy="1035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1"/>
              </a:lnSpc>
            </a:pPr>
            <a:r>
              <a:rPr lang="ar-EG" sz="1801">
                <a:solidFill>
                  <a:srgbClr val="2B3643"/>
                </a:solidFill>
                <a:latin typeface="Calibri (MS)"/>
                <a:ea typeface="Calibri (MS)"/>
                <a:cs typeface="Calibri (MS)"/>
                <a:sym typeface="Calibri (MS)"/>
                <a:rtl val="true"/>
              </a:rPr>
              <a:t>حرارة شديدة أو صقيع أو رياح/أمطار قوية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493797" y="3053906"/>
            <a:ext cx="6877660" cy="1318336"/>
            <a:chOff x="0" y="0"/>
            <a:chExt cx="9170213" cy="175778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170289" cy="1757807"/>
            </a:xfrm>
            <a:custGeom>
              <a:avLst/>
              <a:gdLst/>
              <a:ahLst/>
              <a:cxnLst/>
              <a:rect r="r" b="b" t="t" l="l"/>
              <a:pathLst>
                <a:path h="1757807" w="9170289">
                  <a:moveTo>
                    <a:pt x="0" y="292989"/>
                  </a:moveTo>
                  <a:cubicBezTo>
                    <a:pt x="0" y="131191"/>
                    <a:pt x="131191" y="0"/>
                    <a:pt x="292989" y="0"/>
                  </a:cubicBezTo>
                  <a:lnTo>
                    <a:pt x="8877300" y="0"/>
                  </a:lnTo>
                  <a:cubicBezTo>
                    <a:pt x="9039098" y="0"/>
                    <a:pt x="9170289" y="131191"/>
                    <a:pt x="9170289" y="292989"/>
                  </a:cubicBezTo>
                  <a:lnTo>
                    <a:pt x="9170289" y="1464818"/>
                  </a:lnTo>
                  <a:cubicBezTo>
                    <a:pt x="9170289" y="1626616"/>
                    <a:pt x="9039098" y="1757807"/>
                    <a:pt x="8877300" y="1757807"/>
                  </a:cubicBezTo>
                  <a:lnTo>
                    <a:pt x="292989" y="1757807"/>
                  </a:lnTo>
                  <a:cubicBezTo>
                    <a:pt x="131191" y="1757807"/>
                    <a:pt x="0" y="1626616"/>
                    <a:pt x="0" y="1464818"/>
                  </a:cubicBezTo>
                  <a:close/>
                </a:path>
              </a:pathLst>
            </a:custGeom>
            <a:solidFill>
              <a:srgbClr val="EBF6F7"/>
            </a:solidFill>
            <a:ln w="14299" cap="sq">
              <a:solidFill>
                <a:srgbClr val="E1E7EA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10683907" y="3169348"/>
            <a:ext cx="6497431" cy="1035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1"/>
              </a:lnSpc>
            </a:pPr>
            <a:r>
              <a:rPr lang="ar-EG" sz="1801">
                <a:solidFill>
                  <a:srgbClr val="2B3643"/>
                </a:solidFill>
                <a:latin typeface="Calibri (MS)"/>
                <a:ea typeface="Calibri (MS)"/>
                <a:cs typeface="Calibri (MS)"/>
                <a:sym typeface="Calibri (MS)"/>
                <a:rtl val="true"/>
              </a:rPr>
              <a:t>إنذار مبكر، متابعة مرحلة نمو المحصول، إجراءات حماية مناسبة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53719" y="4536396"/>
            <a:ext cx="3377346" cy="1318336"/>
            <a:chOff x="0" y="0"/>
            <a:chExt cx="4503128" cy="175778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503166" cy="1757807"/>
            </a:xfrm>
            <a:custGeom>
              <a:avLst/>
              <a:gdLst/>
              <a:ahLst/>
              <a:cxnLst/>
              <a:rect r="r" b="b" t="t" l="l"/>
              <a:pathLst>
                <a:path h="1757807" w="4503166">
                  <a:moveTo>
                    <a:pt x="0" y="292989"/>
                  </a:moveTo>
                  <a:cubicBezTo>
                    <a:pt x="0" y="131191"/>
                    <a:pt x="131191" y="0"/>
                    <a:pt x="292989" y="0"/>
                  </a:cubicBezTo>
                  <a:lnTo>
                    <a:pt x="4210177" y="0"/>
                  </a:lnTo>
                  <a:cubicBezTo>
                    <a:pt x="4371975" y="0"/>
                    <a:pt x="4503166" y="131191"/>
                    <a:pt x="4503166" y="292989"/>
                  </a:cubicBezTo>
                  <a:lnTo>
                    <a:pt x="4503166" y="1464818"/>
                  </a:lnTo>
                  <a:cubicBezTo>
                    <a:pt x="4503166" y="1626616"/>
                    <a:pt x="4371975" y="1757807"/>
                    <a:pt x="4210177" y="1757807"/>
                  </a:cubicBezTo>
                  <a:lnTo>
                    <a:pt x="292989" y="1757807"/>
                  </a:lnTo>
                  <a:cubicBezTo>
                    <a:pt x="131191" y="1757807"/>
                    <a:pt x="0" y="1626616"/>
                    <a:pt x="0" y="1464818"/>
                  </a:cubicBezTo>
                  <a:close/>
                </a:path>
              </a:pathLst>
            </a:custGeom>
            <a:solidFill>
              <a:srgbClr val="F7F9FA"/>
            </a:solidFill>
            <a:ln w="14299" cap="sq">
              <a:solidFill>
                <a:srgbClr val="E1E7EA"/>
              </a:solidFill>
              <a:prstDash val="solid"/>
              <a:miter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1143838" y="4651839"/>
            <a:ext cx="2997117" cy="1035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1"/>
              </a:lnSpc>
            </a:pPr>
            <a:r>
              <a:rPr lang="ar-EG" sz="1801" b="true">
                <a:solidFill>
                  <a:srgbClr val="122743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انخفاض الإنتاجية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4316768" y="4536396"/>
            <a:ext cx="6191326" cy="1318336"/>
            <a:chOff x="0" y="0"/>
            <a:chExt cx="8255102" cy="175778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255127" cy="1757807"/>
            </a:xfrm>
            <a:custGeom>
              <a:avLst/>
              <a:gdLst/>
              <a:ahLst/>
              <a:cxnLst/>
              <a:rect r="r" b="b" t="t" l="l"/>
              <a:pathLst>
                <a:path h="1757807" w="8255127">
                  <a:moveTo>
                    <a:pt x="0" y="292989"/>
                  </a:moveTo>
                  <a:cubicBezTo>
                    <a:pt x="0" y="131191"/>
                    <a:pt x="131191" y="0"/>
                    <a:pt x="292989" y="0"/>
                  </a:cubicBezTo>
                  <a:lnTo>
                    <a:pt x="7962138" y="0"/>
                  </a:lnTo>
                  <a:cubicBezTo>
                    <a:pt x="8123936" y="0"/>
                    <a:pt x="8255127" y="131191"/>
                    <a:pt x="8255127" y="292989"/>
                  </a:cubicBezTo>
                  <a:lnTo>
                    <a:pt x="8255127" y="1464818"/>
                  </a:lnTo>
                  <a:cubicBezTo>
                    <a:pt x="8255127" y="1626616"/>
                    <a:pt x="8123936" y="1757807"/>
                    <a:pt x="7962138" y="1757807"/>
                  </a:cubicBezTo>
                  <a:lnTo>
                    <a:pt x="292989" y="1757807"/>
                  </a:lnTo>
                  <a:cubicBezTo>
                    <a:pt x="131191" y="1757807"/>
                    <a:pt x="0" y="1626616"/>
                    <a:pt x="0" y="1464818"/>
                  </a:cubicBezTo>
                  <a:close/>
                </a:path>
              </a:pathLst>
            </a:custGeom>
            <a:solidFill>
              <a:srgbClr val="F7F9FA"/>
            </a:solidFill>
            <a:ln w="14299" cap="sq">
              <a:solidFill>
                <a:srgbClr val="E1E7EA"/>
              </a:solidFill>
              <a:prstDash val="solid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4506887" y="4651839"/>
            <a:ext cx="5811098" cy="1035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1"/>
              </a:lnSpc>
            </a:pPr>
            <a:r>
              <a:rPr lang="ar-EG" sz="1801">
                <a:solidFill>
                  <a:srgbClr val="2B3643"/>
                </a:solidFill>
                <a:latin typeface="Calibri (MS)"/>
                <a:ea typeface="Calibri (MS)"/>
                <a:cs typeface="Calibri (MS)"/>
                <a:sym typeface="Calibri (MS)"/>
                <a:rtl val="true"/>
              </a:rPr>
              <a:t>إجهاد حراري أو مائي أو ملوحة مرتفعة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0493797" y="4536396"/>
            <a:ext cx="6877660" cy="1318336"/>
            <a:chOff x="0" y="0"/>
            <a:chExt cx="9170213" cy="175778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170289" cy="1757807"/>
            </a:xfrm>
            <a:custGeom>
              <a:avLst/>
              <a:gdLst/>
              <a:ahLst/>
              <a:cxnLst/>
              <a:rect r="r" b="b" t="t" l="l"/>
              <a:pathLst>
                <a:path h="1757807" w="9170289">
                  <a:moveTo>
                    <a:pt x="0" y="292989"/>
                  </a:moveTo>
                  <a:cubicBezTo>
                    <a:pt x="0" y="131191"/>
                    <a:pt x="131191" y="0"/>
                    <a:pt x="292989" y="0"/>
                  </a:cubicBezTo>
                  <a:lnTo>
                    <a:pt x="8877300" y="0"/>
                  </a:lnTo>
                  <a:cubicBezTo>
                    <a:pt x="9039098" y="0"/>
                    <a:pt x="9170289" y="131191"/>
                    <a:pt x="9170289" y="292989"/>
                  </a:cubicBezTo>
                  <a:lnTo>
                    <a:pt x="9170289" y="1464818"/>
                  </a:lnTo>
                  <a:cubicBezTo>
                    <a:pt x="9170289" y="1626616"/>
                    <a:pt x="9039098" y="1757807"/>
                    <a:pt x="8877300" y="1757807"/>
                  </a:cubicBezTo>
                  <a:lnTo>
                    <a:pt x="292989" y="1757807"/>
                  </a:lnTo>
                  <a:cubicBezTo>
                    <a:pt x="131191" y="1757807"/>
                    <a:pt x="0" y="1626616"/>
                    <a:pt x="0" y="1464818"/>
                  </a:cubicBezTo>
                  <a:close/>
                </a:path>
              </a:pathLst>
            </a:custGeom>
            <a:solidFill>
              <a:srgbClr val="F7F9FA"/>
            </a:solidFill>
            <a:ln w="14299" cap="sq">
              <a:solidFill>
                <a:srgbClr val="E1E7EA"/>
              </a:solidFill>
              <a:prstDash val="solid"/>
              <a:miter/>
            </a:ln>
          </p:spPr>
        </p:sp>
      </p:grpSp>
      <p:sp>
        <p:nvSpPr>
          <p:cNvPr name="TextBox 32" id="32"/>
          <p:cNvSpPr txBox="true"/>
          <p:nvPr/>
        </p:nvSpPr>
        <p:spPr>
          <a:xfrm rot="0">
            <a:off x="10683907" y="4651839"/>
            <a:ext cx="6497431" cy="1035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1"/>
              </a:lnSpc>
            </a:pPr>
            <a:r>
              <a:rPr lang="ar-EG" sz="1801">
                <a:solidFill>
                  <a:srgbClr val="2B3643"/>
                </a:solidFill>
                <a:latin typeface="Calibri (MS)"/>
                <a:ea typeface="Calibri (MS)"/>
                <a:cs typeface="Calibri (MS)"/>
                <a:sym typeface="Calibri (MS)"/>
                <a:rtl val="true"/>
              </a:rPr>
              <a:t>توصية بمحصول/صنف أنسب وإدارة ري أكثر كفاءة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953719" y="6018886"/>
            <a:ext cx="3377346" cy="1318336"/>
            <a:chOff x="0" y="0"/>
            <a:chExt cx="4503128" cy="175778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503166" cy="1757807"/>
            </a:xfrm>
            <a:custGeom>
              <a:avLst/>
              <a:gdLst/>
              <a:ahLst/>
              <a:cxnLst/>
              <a:rect r="r" b="b" t="t" l="l"/>
              <a:pathLst>
                <a:path h="1757807" w="4503166">
                  <a:moveTo>
                    <a:pt x="0" y="292989"/>
                  </a:moveTo>
                  <a:cubicBezTo>
                    <a:pt x="0" y="131191"/>
                    <a:pt x="131191" y="0"/>
                    <a:pt x="292989" y="0"/>
                  </a:cubicBezTo>
                  <a:lnTo>
                    <a:pt x="4210177" y="0"/>
                  </a:lnTo>
                  <a:cubicBezTo>
                    <a:pt x="4371975" y="0"/>
                    <a:pt x="4503166" y="131191"/>
                    <a:pt x="4503166" y="292989"/>
                  </a:cubicBezTo>
                  <a:lnTo>
                    <a:pt x="4503166" y="1464818"/>
                  </a:lnTo>
                  <a:cubicBezTo>
                    <a:pt x="4503166" y="1626616"/>
                    <a:pt x="4371975" y="1757807"/>
                    <a:pt x="4210177" y="1757807"/>
                  </a:cubicBezTo>
                  <a:lnTo>
                    <a:pt x="292989" y="1757807"/>
                  </a:lnTo>
                  <a:cubicBezTo>
                    <a:pt x="131191" y="1757807"/>
                    <a:pt x="0" y="1626616"/>
                    <a:pt x="0" y="1464818"/>
                  </a:cubicBezTo>
                  <a:close/>
                </a:path>
              </a:pathLst>
            </a:custGeom>
            <a:solidFill>
              <a:srgbClr val="EBF6F7"/>
            </a:solidFill>
            <a:ln w="14299" cap="sq">
              <a:solidFill>
                <a:srgbClr val="E1E7EA"/>
              </a:solidFill>
              <a:prstDash val="solid"/>
              <a:miter/>
            </a:ln>
          </p:spPr>
        </p:sp>
      </p:grpSp>
      <p:sp>
        <p:nvSpPr>
          <p:cNvPr name="TextBox 35" id="35"/>
          <p:cNvSpPr txBox="true"/>
          <p:nvPr/>
        </p:nvSpPr>
        <p:spPr>
          <a:xfrm rot="0">
            <a:off x="1143838" y="6134319"/>
            <a:ext cx="2997117" cy="1035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1"/>
              </a:lnSpc>
            </a:pPr>
            <a:r>
              <a:rPr lang="ar-EG" sz="1801" b="true">
                <a:solidFill>
                  <a:srgbClr val="122743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تغيّر مواعيد الزراعة والحصاد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4316768" y="6018886"/>
            <a:ext cx="6191326" cy="1318336"/>
            <a:chOff x="0" y="0"/>
            <a:chExt cx="8255102" cy="175778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255127" cy="1757807"/>
            </a:xfrm>
            <a:custGeom>
              <a:avLst/>
              <a:gdLst/>
              <a:ahLst/>
              <a:cxnLst/>
              <a:rect r="r" b="b" t="t" l="l"/>
              <a:pathLst>
                <a:path h="1757807" w="8255127">
                  <a:moveTo>
                    <a:pt x="0" y="292989"/>
                  </a:moveTo>
                  <a:cubicBezTo>
                    <a:pt x="0" y="131191"/>
                    <a:pt x="131191" y="0"/>
                    <a:pt x="292989" y="0"/>
                  </a:cubicBezTo>
                  <a:lnTo>
                    <a:pt x="7962138" y="0"/>
                  </a:lnTo>
                  <a:cubicBezTo>
                    <a:pt x="8123936" y="0"/>
                    <a:pt x="8255127" y="131191"/>
                    <a:pt x="8255127" y="292989"/>
                  </a:cubicBezTo>
                  <a:lnTo>
                    <a:pt x="8255127" y="1464818"/>
                  </a:lnTo>
                  <a:cubicBezTo>
                    <a:pt x="8255127" y="1626616"/>
                    <a:pt x="8123936" y="1757807"/>
                    <a:pt x="7962138" y="1757807"/>
                  </a:cubicBezTo>
                  <a:lnTo>
                    <a:pt x="292989" y="1757807"/>
                  </a:lnTo>
                  <a:cubicBezTo>
                    <a:pt x="131191" y="1757807"/>
                    <a:pt x="0" y="1626616"/>
                    <a:pt x="0" y="1464818"/>
                  </a:cubicBezTo>
                  <a:close/>
                </a:path>
              </a:pathLst>
            </a:custGeom>
            <a:solidFill>
              <a:srgbClr val="EBF6F7"/>
            </a:solidFill>
            <a:ln w="14299" cap="sq">
              <a:solidFill>
                <a:srgbClr val="E1E7EA"/>
              </a:solidFill>
              <a:prstDash val="solid"/>
              <a:miter/>
            </a:ln>
          </p:spPr>
        </p:sp>
      </p:grpSp>
      <p:sp>
        <p:nvSpPr>
          <p:cNvPr name="TextBox 38" id="38"/>
          <p:cNvSpPr txBox="true"/>
          <p:nvPr/>
        </p:nvSpPr>
        <p:spPr>
          <a:xfrm rot="0">
            <a:off x="4506887" y="6134319"/>
            <a:ext cx="5811098" cy="1035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1"/>
              </a:lnSpc>
            </a:pPr>
            <a:r>
              <a:rPr lang="ar-EG" sz="1801">
                <a:solidFill>
                  <a:srgbClr val="2B3643"/>
                </a:solidFill>
                <a:latin typeface="Calibri (MS)"/>
                <a:ea typeface="Calibri (MS)"/>
                <a:cs typeface="Calibri (MS)"/>
                <a:sym typeface="Calibri (MS)"/>
                <a:rtl val="true"/>
              </a:rPr>
              <a:t>تغيّر درجات الحرارة وتوقيت الموجات الجوية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0493797" y="6018886"/>
            <a:ext cx="6877660" cy="1318336"/>
            <a:chOff x="0" y="0"/>
            <a:chExt cx="9170213" cy="175778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170289" cy="1757807"/>
            </a:xfrm>
            <a:custGeom>
              <a:avLst/>
              <a:gdLst/>
              <a:ahLst/>
              <a:cxnLst/>
              <a:rect r="r" b="b" t="t" l="l"/>
              <a:pathLst>
                <a:path h="1757807" w="9170289">
                  <a:moveTo>
                    <a:pt x="0" y="292989"/>
                  </a:moveTo>
                  <a:cubicBezTo>
                    <a:pt x="0" y="131191"/>
                    <a:pt x="131191" y="0"/>
                    <a:pt x="292989" y="0"/>
                  </a:cubicBezTo>
                  <a:lnTo>
                    <a:pt x="8877300" y="0"/>
                  </a:lnTo>
                  <a:cubicBezTo>
                    <a:pt x="9039098" y="0"/>
                    <a:pt x="9170289" y="131191"/>
                    <a:pt x="9170289" y="292989"/>
                  </a:cubicBezTo>
                  <a:lnTo>
                    <a:pt x="9170289" y="1464818"/>
                  </a:lnTo>
                  <a:cubicBezTo>
                    <a:pt x="9170289" y="1626616"/>
                    <a:pt x="9039098" y="1757807"/>
                    <a:pt x="8877300" y="1757807"/>
                  </a:cubicBezTo>
                  <a:lnTo>
                    <a:pt x="292989" y="1757807"/>
                  </a:lnTo>
                  <a:cubicBezTo>
                    <a:pt x="131191" y="1757807"/>
                    <a:pt x="0" y="1626616"/>
                    <a:pt x="0" y="1464818"/>
                  </a:cubicBezTo>
                  <a:close/>
                </a:path>
              </a:pathLst>
            </a:custGeom>
            <a:solidFill>
              <a:srgbClr val="EBF6F7"/>
            </a:solidFill>
            <a:ln w="14299" cap="sq">
              <a:solidFill>
                <a:srgbClr val="E1E7EA"/>
              </a:solidFill>
              <a:prstDash val="solid"/>
              <a:miter/>
            </a:ln>
          </p:spPr>
        </p:sp>
      </p:grpSp>
      <p:sp>
        <p:nvSpPr>
          <p:cNvPr name="TextBox 41" id="41"/>
          <p:cNvSpPr txBox="true"/>
          <p:nvPr/>
        </p:nvSpPr>
        <p:spPr>
          <a:xfrm rot="0">
            <a:off x="10683907" y="6134319"/>
            <a:ext cx="6497431" cy="1035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1"/>
              </a:lnSpc>
            </a:pPr>
            <a:r>
              <a:rPr lang="ar-EG" sz="1801">
                <a:solidFill>
                  <a:srgbClr val="2B3643"/>
                </a:solidFill>
                <a:latin typeface="Calibri (MS)"/>
                <a:ea typeface="Calibri (MS)"/>
                <a:cs typeface="Calibri (MS)"/>
                <a:sym typeface="Calibri (MS)"/>
                <a:rtl val="true"/>
              </a:rPr>
              <a:t>استخدام توقعات الطقس والتقويم الزراعي وتحديث التوصية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953719" y="7501366"/>
            <a:ext cx="3377346" cy="1318336"/>
            <a:chOff x="0" y="0"/>
            <a:chExt cx="4503128" cy="175778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503166" cy="1757807"/>
            </a:xfrm>
            <a:custGeom>
              <a:avLst/>
              <a:gdLst/>
              <a:ahLst/>
              <a:cxnLst/>
              <a:rect r="r" b="b" t="t" l="l"/>
              <a:pathLst>
                <a:path h="1757807" w="4503166">
                  <a:moveTo>
                    <a:pt x="0" y="292989"/>
                  </a:moveTo>
                  <a:cubicBezTo>
                    <a:pt x="0" y="131191"/>
                    <a:pt x="131191" y="0"/>
                    <a:pt x="292989" y="0"/>
                  </a:cubicBezTo>
                  <a:lnTo>
                    <a:pt x="4210177" y="0"/>
                  </a:lnTo>
                  <a:cubicBezTo>
                    <a:pt x="4371975" y="0"/>
                    <a:pt x="4503166" y="131191"/>
                    <a:pt x="4503166" y="292989"/>
                  </a:cubicBezTo>
                  <a:lnTo>
                    <a:pt x="4503166" y="1464818"/>
                  </a:lnTo>
                  <a:cubicBezTo>
                    <a:pt x="4503166" y="1626616"/>
                    <a:pt x="4371975" y="1757807"/>
                    <a:pt x="4210177" y="1757807"/>
                  </a:cubicBezTo>
                  <a:lnTo>
                    <a:pt x="292989" y="1757807"/>
                  </a:lnTo>
                  <a:cubicBezTo>
                    <a:pt x="131191" y="1757807"/>
                    <a:pt x="0" y="1626616"/>
                    <a:pt x="0" y="1464818"/>
                  </a:cubicBezTo>
                  <a:close/>
                </a:path>
              </a:pathLst>
            </a:custGeom>
            <a:solidFill>
              <a:srgbClr val="F7F9FA"/>
            </a:solidFill>
            <a:ln w="14299" cap="sq">
              <a:solidFill>
                <a:srgbClr val="E1E7EA"/>
              </a:solidFill>
              <a:prstDash val="solid"/>
              <a:miter/>
            </a:ln>
          </p:spPr>
        </p:sp>
      </p:grpSp>
      <p:sp>
        <p:nvSpPr>
          <p:cNvPr name="TextBox 44" id="44"/>
          <p:cNvSpPr txBox="true"/>
          <p:nvPr/>
        </p:nvSpPr>
        <p:spPr>
          <a:xfrm rot="0">
            <a:off x="1143838" y="7616809"/>
            <a:ext cx="2997117" cy="1035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1"/>
              </a:lnSpc>
            </a:pPr>
            <a:r>
              <a:rPr lang="ar-EG" sz="1801" b="true">
                <a:solidFill>
                  <a:srgbClr val="122743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صعوبة التخطيط للري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4316768" y="7501366"/>
            <a:ext cx="6191326" cy="1318336"/>
            <a:chOff x="0" y="0"/>
            <a:chExt cx="8255102" cy="175778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255127" cy="1757807"/>
            </a:xfrm>
            <a:custGeom>
              <a:avLst/>
              <a:gdLst/>
              <a:ahLst/>
              <a:cxnLst/>
              <a:rect r="r" b="b" t="t" l="l"/>
              <a:pathLst>
                <a:path h="1757807" w="8255127">
                  <a:moveTo>
                    <a:pt x="0" y="292989"/>
                  </a:moveTo>
                  <a:cubicBezTo>
                    <a:pt x="0" y="131191"/>
                    <a:pt x="131191" y="0"/>
                    <a:pt x="292989" y="0"/>
                  </a:cubicBezTo>
                  <a:lnTo>
                    <a:pt x="7962138" y="0"/>
                  </a:lnTo>
                  <a:cubicBezTo>
                    <a:pt x="8123936" y="0"/>
                    <a:pt x="8255127" y="131191"/>
                    <a:pt x="8255127" y="292989"/>
                  </a:cubicBezTo>
                  <a:lnTo>
                    <a:pt x="8255127" y="1464818"/>
                  </a:lnTo>
                  <a:cubicBezTo>
                    <a:pt x="8255127" y="1626616"/>
                    <a:pt x="8123936" y="1757807"/>
                    <a:pt x="7962138" y="1757807"/>
                  </a:cubicBezTo>
                  <a:lnTo>
                    <a:pt x="292989" y="1757807"/>
                  </a:lnTo>
                  <a:cubicBezTo>
                    <a:pt x="131191" y="1757807"/>
                    <a:pt x="0" y="1626616"/>
                    <a:pt x="0" y="1464818"/>
                  </a:cubicBezTo>
                  <a:close/>
                </a:path>
              </a:pathLst>
            </a:custGeom>
            <a:solidFill>
              <a:srgbClr val="F7F9FA"/>
            </a:solidFill>
            <a:ln w="14299" cap="sq">
              <a:solidFill>
                <a:srgbClr val="E1E7EA"/>
              </a:solidFill>
              <a:prstDash val="solid"/>
              <a:miter/>
            </a:ln>
          </p:spPr>
        </p:sp>
      </p:grpSp>
      <p:sp>
        <p:nvSpPr>
          <p:cNvPr name="TextBox 47" id="47"/>
          <p:cNvSpPr txBox="true"/>
          <p:nvPr/>
        </p:nvSpPr>
        <p:spPr>
          <a:xfrm rot="0">
            <a:off x="4506887" y="7616809"/>
            <a:ext cx="5811098" cy="1035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1"/>
              </a:lnSpc>
            </a:pPr>
            <a:r>
              <a:rPr lang="ar-EG" sz="1801">
                <a:solidFill>
                  <a:srgbClr val="2B3643"/>
                </a:solidFill>
                <a:latin typeface="Calibri (MS)"/>
                <a:ea typeface="Calibri (MS)"/>
                <a:cs typeface="Calibri (MS)"/>
                <a:sym typeface="Calibri (MS)"/>
                <a:rtl val="true"/>
              </a:rPr>
              <a:t>ارتفاع التبخر أو نقص المياه أو عدم انتظامها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10493797" y="7501366"/>
            <a:ext cx="6877660" cy="1318336"/>
            <a:chOff x="0" y="0"/>
            <a:chExt cx="9170213" cy="175778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170289" cy="1757807"/>
            </a:xfrm>
            <a:custGeom>
              <a:avLst/>
              <a:gdLst/>
              <a:ahLst/>
              <a:cxnLst/>
              <a:rect r="r" b="b" t="t" l="l"/>
              <a:pathLst>
                <a:path h="1757807" w="9170289">
                  <a:moveTo>
                    <a:pt x="0" y="292989"/>
                  </a:moveTo>
                  <a:cubicBezTo>
                    <a:pt x="0" y="131191"/>
                    <a:pt x="131191" y="0"/>
                    <a:pt x="292989" y="0"/>
                  </a:cubicBezTo>
                  <a:lnTo>
                    <a:pt x="8877300" y="0"/>
                  </a:lnTo>
                  <a:cubicBezTo>
                    <a:pt x="9039098" y="0"/>
                    <a:pt x="9170289" y="131191"/>
                    <a:pt x="9170289" y="292989"/>
                  </a:cubicBezTo>
                  <a:lnTo>
                    <a:pt x="9170289" y="1464818"/>
                  </a:lnTo>
                  <a:cubicBezTo>
                    <a:pt x="9170289" y="1626616"/>
                    <a:pt x="9039098" y="1757807"/>
                    <a:pt x="8877300" y="1757807"/>
                  </a:cubicBezTo>
                  <a:lnTo>
                    <a:pt x="292989" y="1757807"/>
                  </a:lnTo>
                  <a:cubicBezTo>
                    <a:pt x="131191" y="1757807"/>
                    <a:pt x="0" y="1626616"/>
                    <a:pt x="0" y="1464818"/>
                  </a:cubicBezTo>
                  <a:close/>
                </a:path>
              </a:pathLst>
            </a:custGeom>
            <a:solidFill>
              <a:srgbClr val="F7F9FA"/>
            </a:solidFill>
            <a:ln w="14299" cap="sq">
              <a:solidFill>
                <a:srgbClr val="E1E7EA"/>
              </a:solidFill>
              <a:prstDash val="solid"/>
              <a:miter/>
            </a:ln>
          </p:spPr>
        </p:sp>
      </p:grpSp>
      <p:sp>
        <p:nvSpPr>
          <p:cNvPr name="TextBox 50" id="50"/>
          <p:cNvSpPr txBox="true"/>
          <p:nvPr/>
        </p:nvSpPr>
        <p:spPr>
          <a:xfrm rot="0">
            <a:off x="10683907" y="7616809"/>
            <a:ext cx="6497431" cy="1035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1"/>
              </a:lnSpc>
            </a:pPr>
            <a:r>
              <a:rPr lang="ar-EG" sz="1801">
                <a:solidFill>
                  <a:srgbClr val="2B3643"/>
                </a:solidFill>
                <a:latin typeface="Calibri (MS)"/>
                <a:ea typeface="Calibri (MS)"/>
                <a:cs typeface="Calibri (MS)"/>
                <a:sym typeface="Calibri (MS)"/>
                <a:rtl val="true"/>
              </a:rPr>
              <a:t>جدولة الري وفق المحصول والتربة والطقس وتوفر المياه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28123" y="303543"/>
            <a:ext cx="16600303" cy="895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863"/>
              </a:lnSpc>
            </a:pPr>
            <a:r>
              <a:rPr lang="en-US" sz="4053" b="true">
                <a:solidFill>
                  <a:srgbClr val="12274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٤</a:t>
            </a:r>
            <a:r>
              <a:rPr lang="ar-EG" sz="4053" b="true">
                <a:solidFill>
                  <a:srgbClr val="122743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. ربط المشكلات ببيانات قابلة للاستخدام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4962127" y="1345216"/>
            <a:ext cx="2539441" cy="82363"/>
            <a:chOff x="0" y="0"/>
            <a:chExt cx="3385922" cy="1098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385947" cy="109855"/>
            </a:xfrm>
            <a:custGeom>
              <a:avLst/>
              <a:gdLst/>
              <a:ahLst/>
              <a:cxnLst/>
              <a:rect r="r" b="b" t="t" l="l"/>
              <a:pathLst>
                <a:path h="109855" w="3385947">
                  <a:moveTo>
                    <a:pt x="0" y="0"/>
                  </a:moveTo>
                  <a:lnTo>
                    <a:pt x="3385947" y="0"/>
                  </a:lnTo>
                  <a:lnTo>
                    <a:pt x="3385947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008F96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896760" y="1480966"/>
            <a:ext cx="16325764" cy="623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1"/>
              </a:lnSpc>
            </a:pPr>
            <a:r>
              <a:rPr lang="ar-EG" sz="1801">
                <a:solidFill>
                  <a:srgbClr val="697682"/>
                </a:solidFill>
                <a:latin typeface="Calibri (MS)"/>
                <a:ea typeface="Calibri (MS)"/>
                <a:cs typeface="Calibri (MS)"/>
                <a:sym typeface="Calibri (MS)"/>
                <a:rtl val="true"/>
              </a:rPr>
              <a:t>التوصيات الأولية لا تستبدل تحليل التربة أو التنبؤات الرسمية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53719" y="2189131"/>
            <a:ext cx="4200954" cy="1194797"/>
            <a:chOff x="0" y="0"/>
            <a:chExt cx="5601272" cy="159306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601335" cy="1593088"/>
            </a:xfrm>
            <a:custGeom>
              <a:avLst/>
              <a:gdLst/>
              <a:ahLst/>
              <a:cxnLst/>
              <a:rect r="r" b="b" t="t" l="l"/>
              <a:pathLst>
                <a:path h="1593088" w="5601335">
                  <a:moveTo>
                    <a:pt x="0" y="265557"/>
                  </a:moveTo>
                  <a:cubicBezTo>
                    <a:pt x="0" y="118872"/>
                    <a:pt x="118872" y="0"/>
                    <a:pt x="265557" y="0"/>
                  </a:cubicBezTo>
                  <a:lnTo>
                    <a:pt x="5335778" y="0"/>
                  </a:lnTo>
                  <a:cubicBezTo>
                    <a:pt x="5482463" y="0"/>
                    <a:pt x="5601335" y="118872"/>
                    <a:pt x="5601335" y="265557"/>
                  </a:cubicBezTo>
                  <a:lnTo>
                    <a:pt x="5601335" y="1327531"/>
                  </a:lnTo>
                  <a:cubicBezTo>
                    <a:pt x="5601335" y="1474216"/>
                    <a:pt x="5482463" y="1593088"/>
                    <a:pt x="5335778" y="1593088"/>
                  </a:cubicBezTo>
                  <a:lnTo>
                    <a:pt x="265557" y="1593088"/>
                  </a:lnTo>
                  <a:cubicBezTo>
                    <a:pt x="118872" y="1593088"/>
                    <a:pt x="0" y="1474216"/>
                    <a:pt x="0" y="1327531"/>
                  </a:cubicBezTo>
                  <a:close/>
                </a:path>
              </a:pathLst>
            </a:custGeom>
            <a:solidFill>
              <a:srgbClr val="EBF6F7"/>
            </a:solidFill>
            <a:ln w="14299" cap="sq">
              <a:solidFill>
                <a:srgbClr val="D7E7E9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5023980" y="2361000"/>
            <a:ext cx="61770" cy="851059"/>
            <a:chOff x="0" y="0"/>
            <a:chExt cx="82360" cy="113474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423" cy="1134745"/>
            </a:xfrm>
            <a:custGeom>
              <a:avLst/>
              <a:gdLst/>
              <a:ahLst/>
              <a:cxnLst/>
              <a:rect r="r" b="b" t="t" l="l"/>
              <a:pathLst>
                <a:path h="1134745" w="82423">
                  <a:moveTo>
                    <a:pt x="0" y="0"/>
                  </a:moveTo>
                  <a:lnTo>
                    <a:pt x="82423" y="0"/>
                  </a:lnTo>
                  <a:lnTo>
                    <a:pt x="82423" y="1134745"/>
                  </a:lnTo>
                  <a:lnTo>
                    <a:pt x="0" y="1134745"/>
                  </a:lnTo>
                  <a:close/>
                </a:path>
              </a:pathLst>
            </a:custGeom>
            <a:solidFill>
              <a:srgbClr val="008F96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81103" y="2349951"/>
            <a:ext cx="3518735" cy="496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62"/>
              </a:lnSpc>
            </a:pPr>
            <a:r>
              <a:rPr lang="ar-EG" sz="2551" b="true">
                <a:solidFill>
                  <a:srgbClr val="122743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الحرارة وموجات الحر/البرد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495211" y="2323614"/>
            <a:ext cx="5893451" cy="906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1"/>
              </a:lnSpc>
            </a:pPr>
            <a:r>
              <a:rPr lang="en-US" sz="1801">
                <a:solidFill>
                  <a:srgbClr val="2B3643"/>
                </a:solidFill>
                <a:latin typeface="Arial"/>
                <a:ea typeface="Arial"/>
                <a:cs typeface="Arial"/>
                <a:sym typeface="Arial"/>
              </a:rPr>
              <a:t>NASA POWER: </a:t>
            </a:r>
            <a:r>
              <a:rPr lang="ar-EG" sz="1801">
                <a:solidFill>
                  <a:srgbClr val="2B3643"/>
                </a:solidFill>
                <a:latin typeface="Arial"/>
                <a:ea typeface="Arial"/>
                <a:cs typeface="Arial"/>
                <a:sym typeface="Arial"/>
                <a:rtl val="true"/>
              </a:rPr>
              <a:t>درجات الحرارة العظمى والصغرى يوميًا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740867" y="2314089"/>
            <a:ext cx="5344382" cy="916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97682"/>
                </a:solidFill>
                <a:latin typeface="Calibri (MS)"/>
                <a:ea typeface="Calibri (MS)"/>
                <a:cs typeface="Calibri (MS)"/>
                <a:sym typeface="Calibri (MS)"/>
              </a:rPr>
              <a:t>°C</a:t>
            </a:r>
            <a:r>
              <a:rPr lang="ar-EG" sz="1651">
                <a:solidFill>
                  <a:srgbClr val="697682"/>
                </a:solidFill>
                <a:latin typeface="Calibri (MS)"/>
                <a:ea typeface="Calibri (MS)"/>
                <a:cs typeface="Calibri (MS)"/>
                <a:sym typeface="Calibri (MS)"/>
                <a:rtl val="true"/>
              </a:rPr>
              <a:t>؛ تقارن بحدود مناسبة للمحصول ومرحلة النمو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53719" y="3589249"/>
            <a:ext cx="4200954" cy="1194797"/>
            <a:chOff x="0" y="0"/>
            <a:chExt cx="5601272" cy="159306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601335" cy="1593088"/>
            </a:xfrm>
            <a:custGeom>
              <a:avLst/>
              <a:gdLst/>
              <a:ahLst/>
              <a:cxnLst/>
              <a:rect r="r" b="b" t="t" l="l"/>
              <a:pathLst>
                <a:path h="1593088" w="5601335">
                  <a:moveTo>
                    <a:pt x="0" y="265557"/>
                  </a:moveTo>
                  <a:cubicBezTo>
                    <a:pt x="0" y="118872"/>
                    <a:pt x="118872" y="0"/>
                    <a:pt x="265557" y="0"/>
                  </a:cubicBezTo>
                  <a:lnTo>
                    <a:pt x="5335778" y="0"/>
                  </a:lnTo>
                  <a:cubicBezTo>
                    <a:pt x="5482463" y="0"/>
                    <a:pt x="5601335" y="118872"/>
                    <a:pt x="5601335" y="265557"/>
                  </a:cubicBezTo>
                  <a:lnTo>
                    <a:pt x="5601335" y="1327531"/>
                  </a:lnTo>
                  <a:cubicBezTo>
                    <a:pt x="5601335" y="1474216"/>
                    <a:pt x="5482463" y="1593088"/>
                    <a:pt x="5335778" y="1593088"/>
                  </a:cubicBezTo>
                  <a:lnTo>
                    <a:pt x="265557" y="1593088"/>
                  </a:lnTo>
                  <a:cubicBezTo>
                    <a:pt x="118872" y="1593088"/>
                    <a:pt x="0" y="1474216"/>
                    <a:pt x="0" y="1327531"/>
                  </a:cubicBezTo>
                  <a:close/>
                </a:path>
              </a:pathLst>
            </a:custGeom>
            <a:solidFill>
              <a:srgbClr val="EBF6F7"/>
            </a:solidFill>
            <a:ln w="14299" cap="sq">
              <a:solidFill>
                <a:srgbClr val="D7E7E9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5023980" y="3761118"/>
            <a:ext cx="61770" cy="851059"/>
            <a:chOff x="0" y="0"/>
            <a:chExt cx="82360" cy="11347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2423" cy="1134745"/>
            </a:xfrm>
            <a:custGeom>
              <a:avLst/>
              <a:gdLst/>
              <a:ahLst/>
              <a:cxnLst/>
              <a:rect r="r" b="b" t="t" l="l"/>
              <a:pathLst>
                <a:path h="1134745" w="82423">
                  <a:moveTo>
                    <a:pt x="0" y="0"/>
                  </a:moveTo>
                  <a:lnTo>
                    <a:pt x="82423" y="0"/>
                  </a:lnTo>
                  <a:lnTo>
                    <a:pt x="82423" y="1134745"/>
                  </a:lnTo>
                  <a:lnTo>
                    <a:pt x="0" y="1134745"/>
                  </a:lnTo>
                  <a:close/>
                </a:path>
              </a:pathLst>
            </a:custGeom>
            <a:solidFill>
              <a:srgbClr val="008F96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281103" y="3750069"/>
            <a:ext cx="3518735" cy="496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62"/>
              </a:lnSpc>
            </a:pPr>
            <a:r>
              <a:rPr lang="ar-EG" sz="2551" b="true">
                <a:solidFill>
                  <a:srgbClr val="122743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الجفاف والضغط المائي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495211" y="3704692"/>
            <a:ext cx="5893451" cy="92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1"/>
              </a:lnSpc>
            </a:pPr>
            <a:r>
              <a:rPr lang="ar-EG" sz="1801">
                <a:solidFill>
                  <a:srgbClr val="2B3643"/>
                </a:solidFill>
                <a:latin typeface="Calibri (MS)"/>
                <a:ea typeface="Calibri (MS)"/>
                <a:cs typeface="Calibri (MS)"/>
                <a:sym typeface="Calibri (MS)"/>
                <a:rtl val="true"/>
              </a:rPr>
              <a:t>بيانات المطر والحرارة؛</a:t>
            </a:r>
            <a:r>
              <a:rPr lang="en-US" sz="1801">
                <a:solidFill>
                  <a:srgbClr val="2B3643"/>
                </a:solidFill>
                <a:latin typeface="Calibri (MS)"/>
                <a:ea typeface="Calibri (MS)"/>
                <a:cs typeface="Calibri (MS)"/>
                <a:sym typeface="Calibri (MS)"/>
              </a:rPr>
              <a:t> SMAP </a:t>
            </a:r>
            <a:r>
              <a:rPr lang="ar-EG" sz="1801">
                <a:solidFill>
                  <a:srgbClr val="2B3643"/>
                </a:solidFill>
                <a:latin typeface="Calibri (MS)"/>
                <a:ea typeface="Calibri (MS)"/>
                <a:cs typeface="Calibri (MS)"/>
                <a:sym typeface="Calibri (MS)"/>
                <a:rtl val="true"/>
              </a:rPr>
              <a:t>عند توافره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740867" y="3714217"/>
            <a:ext cx="5344382" cy="916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ar-EG" sz="1651">
                <a:solidFill>
                  <a:srgbClr val="697682"/>
                </a:solidFill>
                <a:latin typeface="Calibri (MS)"/>
                <a:ea typeface="Calibri (MS)"/>
                <a:cs typeface="Calibri (MS)"/>
                <a:sym typeface="Calibri (MS)"/>
                <a:rtl val="true"/>
              </a:rPr>
              <a:t>رطوبة التربة الفضائية ليست قياسًا مباشرًا لحقل صغير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53719" y="4989376"/>
            <a:ext cx="4200954" cy="1194797"/>
            <a:chOff x="0" y="0"/>
            <a:chExt cx="5601272" cy="159306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601335" cy="1593088"/>
            </a:xfrm>
            <a:custGeom>
              <a:avLst/>
              <a:gdLst/>
              <a:ahLst/>
              <a:cxnLst/>
              <a:rect r="r" b="b" t="t" l="l"/>
              <a:pathLst>
                <a:path h="1593088" w="5601335">
                  <a:moveTo>
                    <a:pt x="0" y="265557"/>
                  </a:moveTo>
                  <a:cubicBezTo>
                    <a:pt x="0" y="118872"/>
                    <a:pt x="118872" y="0"/>
                    <a:pt x="265557" y="0"/>
                  </a:cubicBezTo>
                  <a:lnTo>
                    <a:pt x="5335778" y="0"/>
                  </a:lnTo>
                  <a:cubicBezTo>
                    <a:pt x="5482463" y="0"/>
                    <a:pt x="5601335" y="118872"/>
                    <a:pt x="5601335" y="265557"/>
                  </a:cubicBezTo>
                  <a:lnTo>
                    <a:pt x="5601335" y="1327531"/>
                  </a:lnTo>
                  <a:cubicBezTo>
                    <a:pt x="5601335" y="1474216"/>
                    <a:pt x="5482463" y="1593088"/>
                    <a:pt x="5335778" y="1593088"/>
                  </a:cubicBezTo>
                  <a:lnTo>
                    <a:pt x="265557" y="1593088"/>
                  </a:lnTo>
                  <a:cubicBezTo>
                    <a:pt x="118872" y="1593088"/>
                    <a:pt x="0" y="1474216"/>
                    <a:pt x="0" y="1327531"/>
                  </a:cubicBezTo>
                  <a:close/>
                </a:path>
              </a:pathLst>
            </a:custGeom>
            <a:solidFill>
              <a:srgbClr val="EBF6F7"/>
            </a:solidFill>
            <a:ln w="14299" cap="sq">
              <a:solidFill>
                <a:srgbClr val="D7E7E9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5023980" y="5161245"/>
            <a:ext cx="61770" cy="851059"/>
            <a:chOff x="0" y="0"/>
            <a:chExt cx="82360" cy="113474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2423" cy="1134745"/>
            </a:xfrm>
            <a:custGeom>
              <a:avLst/>
              <a:gdLst/>
              <a:ahLst/>
              <a:cxnLst/>
              <a:rect r="r" b="b" t="t" l="l"/>
              <a:pathLst>
                <a:path h="1134745" w="82423">
                  <a:moveTo>
                    <a:pt x="0" y="0"/>
                  </a:moveTo>
                  <a:lnTo>
                    <a:pt x="82423" y="0"/>
                  </a:lnTo>
                  <a:lnTo>
                    <a:pt x="82423" y="1134745"/>
                  </a:lnTo>
                  <a:lnTo>
                    <a:pt x="0" y="1134745"/>
                  </a:lnTo>
                  <a:close/>
                </a:path>
              </a:pathLst>
            </a:custGeom>
            <a:solidFill>
              <a:srgbClr val="008F96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281103" y="5150196"/>
            <a:ext cx="3518735" cy="496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62"/>
              </a:lnSpc>
            </a:pPr>
            <a:r>
              <a:rPr lang="ar-EG" sz="2551" b="true">
                <a:solidFill>
                  <a:srgbClr val="122743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الملوحة وتدهور التربة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495211" y="5123869"/>
            <a:ext cx="5893451" cy="906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1"/>
              </a:lnSpc>
            </a:pPr>
            <a:r>
              <a:rPr lang="en-US" sz="1801">
                <a:solidFill>
                  <a:srgbClr val="2B3643"/>
                </a:solidFill>
                <a:latin typeface="Arial"/>
                <a:ea typeface="Arial"/>
                <a:cs typeface="Arial"/>
                <a:sym typeface="Arial"/>
              </a:rPr>
              <a:t>HWSD </a:t>
            </a:r>
            <a:r>
              <a:rPr lang="ar-EG" sz="1801">
                <a:solidFill>
                  <a:srgbClr val="2B3643"/>
                </a:solidFill>
                <a:latin typeface="Arial"/>
                <a:ea typeface="Arial"/>
                <a:cs typeface="Arial"/>
                <a:sym typeface="Arial"/>
                <a:rtl val="true"/>
              </a:rPr>
              <a:t>للتوصيف الإقليمي + تحليل عينة حديثة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740867" y="5114344"/>
            <a:ext cx="5344382" cy="916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ar-EG" sz="1651">
                <a:solidFill>
                  <a:srgbClr val="697682"/>
                </a:solidFill>
                <a:latin typeface="Calibri (MS)"/>
                <a:ea typeface="Calibri (MS)"/>
                <a:cs typeface="Calibri (MS)"/>
                <a:sym typeface="Calibri (MS)"/>
                <a:rtl val="true"/>
              </a:rPr>
              <a:t>قاعدة التربة ليست بديلًا عن قياس</a:t>
            </a:r>
            <a:r>
              <a:rPr lang="en-US" sz="1651">
                <a:solidFill>
                  <a:srgbClr val="697682"/>
                </a:solidFill>
                <a:latin typeface="Calibri (MS)"/>
                <a:ea typeface="Calibri (MS)"/>
                <a:cs typeface="Calibri (MS)"/>
                <a:sym typeface="Calibri (MS)"/>
              </a:rPr>
              <a:t> EC </a:t>
            </a:r>
            <a:r>
              <a:rPr lang="ar-EG" sz="1651">
                <a:solidFill>
                  <a:srgbClr val="697682"/>
                </a:solidFill>
                <a:latin typeface="Calibri (MS)"/>
                <a:ea typeface="Calibri (MS)"/>
                <a:cs typeface="Calibri (MS)"/>
                <a:sym typeface="Calibri (MS)"/>
                <a:rtl val="true"/>
              </a:rPr>
              <a:t>في الحقل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53719" y="6389503"/>
            <a:ext cx="4200954" cy="1194797"/>
            <a:chOff x="0" y="0"/>
            <a:chExt cx="5601272" cy="159306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601335" cy="1593088"/>
            </a:xfrm>
            <a:custGeom>
              <a:avLst/>
              <a:gdLst/>
              <a:ahLst/>
              <a:cxnLst/>
              <a:rect r="r" b="b" t="t" l="l"/>
              <a:pathLst>
                <a:path h="1593088" w="5601335">
                  <a:moveTo>
                    <a:pt x="0" y="265557"/>
                  </a:moveTo>
                  <a:cubicBezTo>
                    <a:pt x="0" y="118872"/>
                    <a:pt x="118872" y="0"/>
                    <a:pt x="265557" y="0"/>
                  </a:cubicBezTo>
                  <a:lnTo>
                    <a:pt x="5335778" y="0"/>
                  </a:lnTo>
                  <a:cubicBezTo>
                    <a:pt x="5482463" y="0"/>
                    <a:pt x="5601335" y="118872"/>
                    <a:pt x="5601335" y="265557"/>
                  </a:cubicBezTo>
                  <a:lnTo>
                    <a:pt x="5601335" y="1327531"/>
                  </a:lnTo>
                  <a:cubicBezTo>
                    <a:pt x="5601335" y="1474216"/>
                    <a:pt x="5482463" y="1593088"/>
                    <a:pt x="5335778" y="1593088"/>
                  </a:cubicBezTo>
                  <a:lnTo>
                    <a:pt x="265557" y="1593088"/>
                  </a:lnTo>
                  <a:cubicBezTo>
                    <a:pt x="118872" y="1593088"/>
                    <a:pt x="0" y="1474216"/>
                    <a:pt x="0" y="1327531"/>
                  </a:cubicBezTo>
                  <a:close/>
                </a:path>
              </a:pathLst>
            </a:custGeom>
            <a:solidFill>
              <a:srgbClr val="EBF6F7"/>
            </a:solidFill>
            <a:ln w="14299" cap="sq">
              <a:solidFill>
                <a:srgbClr val="D7E7E9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5023980" y="6561372"/>
            <a:ext cx="61770" cy="851059"/>
            <a:chOff x="0" y="0"/>
            <a:chExt cx="82360" cy="113474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2423" cy="1134745"/>
            </a:xfrm>
            <a:custGeom>
              <a:avLst/>
              <a:gdLst/>
              <a:ahLst/>
              <a:cxnLst/>
              <a:rect r="r" b="b" t="t" l="l"/>
              <a:pathLst>
                <a:path h="1134745" w="82423">
                  <a:moveTo>
                    <a:pt x="0" y="0"/>
                  </a:moveTo>
                  <a:lnTo>
                    <a:pt x="82423" y="0"/>
                  </a:lnTo>
                  <a:lnTo>
                    <a:pt x="82423" y="1134745"/>
                  </a:lnTo>
                  <a:lnTo>
                    <a:pt x="0" y="1134745"/>
                  </a:lnTo>
                  <a:close/>
                </a:path>
              </a:pathLst>
            </a:custGeom>
            <a:solidFill>
              <a:srgbClr val="008F96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281103" y="6550323"/>
            <a:ext cx="3518735" cy="496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62"/>
              </a:lnSpc>
            </a:pPr>
            <a:r>
              <a:rPr lang="ar-EG" sz="2551" b="true">
                <a:solidFill>
                  <a:srgbClr val="122743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الأمطار والرياح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495211" y="6504946"/>
            <a:ext cx="5893451" cy="92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1"/>
              </a:lnSpc>
            </a:pPr>
            <a:r>
              <a:rPr lang="ar-EG" sz="1801">
                <a:solidFill>
                  <a:srgbClr val="2B3643"/>
                </a:solidFill>
                <a:latin typeface="Calibri (MS)"/>
                <a:ea typeface="Calibri (MS)"/>
                <a:cs typeface="Calibri (MS)"/>
                <a:sym typeface="Calibri (MS)"/>
                <a:rtl val="true"/>
              </a:rPr>
              <a:t>مصدر أرصاد محلي أو توقعات رسمية قصيرة المدى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740867" y="6514471"/>
            <a:ext cx="5344382" cy="916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ar-EG" sz="1651">
                <a:solidFill>
                  <a:srgbClr val="697682"/>
                </a:solidFill>
                <a:latin typeface="Calibri (MS)"/>
                <a:ea typeface="Calibri (MS)"/>
                <a:cs typeface="Calibri (MS)"/>
                <a:sym typeface="Calibri (MS)"/>
                <a:rtl val="true"/>
              </a:rPr>
              <a:t>الأحداث المحلية القصوى تحتاج مصدرًا مناسبًا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53719" y="7789631"/>
            <a:ext cx="4200954" cy="1194797"/>
            <a:chOff x="0" y="0"/>
            <a:chExt cx="5601272" cy="159306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601335" cy="1593088"/>
            </a:xfrm>
            <a:custGeom>
              <a:avLst/>
              <a:gdLst/>
              <a:ahLst/>
              <a:cxnLst/>
              <a:rect r="r" b="b" t="t" l="l"/>
              <a:pathLst>
                <a:path h="1593088" w="5601335">
                  <a:moveTo>
                    <a:pt x="0" y="265557"/>
                  </a:moveTo>
                  <a:cubicBezTo>
                    <a:pt x="0" y="118872"/>
                    <a:pt x="118872" y="0"/>
                    <a:pt x="265557" y="0"/>
                  </a:cubicBezTo>
                  <a:lnTo>
                    <a:pt x="5335778" y="0"/>
                  </a:lnTo>
                  <a:cubicBezTo>
                    <a:pt x="5482463" y="0"/>
                    <a:pt x="5601335" y="118872"/>
                    <a:pt x="5601335" y="265557"/>
                  </a:cubicBezTo>
                  <a:lnTo>
                    <a:pt x="5601335" y="1327531"/>
                  </a:lnTo>
                  <a:cubicBezTo>
                    <a:pt x="5601335" y="1474216"/>
                    <a:pt x="5482463" y="1593088"/>
                    <a:pt x="5335778" y="1593088"/>
                  </a:cubicBezTo>
                  <a:lnTo>
                    <a:pt x="265557" y="1593088"/>
                  </a:lnTo>
                  <a:cubicBezTo>
                    <a:pt x="118872" y="1593088"/>
                    <a:pt x="0" y="1474216"/>
                    <a:pt x="0" y="1327531"/>
                  </a:cubicBezTo>
                  <a:close/>
                </a:path>
              </a:pathLst>
            </a:custGeom>
            <a:solidFill>
              <a:srgbClr val="EBF6F7"/>
            </a:solidFill>
            <a:ln w="14299" cap="sq">
              <a:solidFill>
                <a:srgbClr val="D7E7E9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5023980" y="7961500"/>
            <a:ext cx="61770" cy="851059"/>
            <a:chOff x="0" y="0"/>
            <a:chExt cx="82360" cy="113474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2423" cy="1134745"/>
            </a:xfrm>
            <a:custGeom>
              <a:avLst/>
              <a:gdLst/>
              <a:ahLst/>
              <a:cxnLst/>
              <a:rect r="r" b="b" t="t" l="l"/>
              <a:pathLst>
                <a:path h="1134745" w="82423">
                  <a:moveTo>
                    <a:pt x="0" y="0"/>
                  </a:moveTo>
                  <a:lnTo>
                    <a:pt x="82423" y="0"/>
                  </a:lnTo>
                  <a:lnTo>
                    <a:pt x="82423" y="1134745"/>
                  </a:lnTo>
                  <a:lnTo>
                    <a:pt x="0" y="1134745"/>
                  </a:lnTo>
                  <a:close/>
                </a:path>
              </a:pathLst>
            </a:custGeom>
            <a:solidFill>
              <a:srgbClr val="008F96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281103" y="7950451"/>
            <a:ext cx="3518735" cy="496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62"/>
              </a:lnSpc>
            </a:pPr>
            <a:r>
              <a:rPr lang="ar-EG" sz="2551" b="true">
                <a:solidFill>
                  <a:srgbClr val="122743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توقيت الزراعة والحصاد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495211" y="7905074"/>
            <a:ext cx="5893451" cy="92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1"/>
              </a:lnSpc>
            </a:pPr>
            <a:r>
              <a:rPr lang="ar-EG" sz="1801">
                <a:solidFill>
                  <a:srgbClr val="2B3643"/>
                </a:solidFill>
                <a:latin typeface="Calibri (MS)"/>
                <a:ea typeface="Calibri (MS)"/>
                <a:cs typeface="Calibri (MS)"/>
                <a:sym typeface="Calibri (MS)"/>
                <a:rtl val="true"/>
              </a:rPr>
              <a:t>تقويم المحصول + الطقس + مرحلة النمو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740867" y="7914599"/>
            <a:ext cx="5344382" cy="916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ar-EG" sz="1651">
                <a:solidFill>
                  <a:srgbClr val="697682"/>
                </a:solidFill>
                <a:latin typeface="Calibri (MS)"/>
                <a:ea typeface="Calibri (MS)"/>
                <a:cs typeface="Calibri (MS)"/>
                <a:sym typeface="Calibri (MS)"/>
                <a:rtl val="true"/>
              </a:rPr>
              <a:t>التوصية تختلف حسب المحصول والصنف والموقع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828123" y="9790957"/>
            <a:ext cx="14266755" cy="220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97682"/>
                </a:solidFill>
                <a:latin typeface="Arial"/>
                <a:ea typeface="Arial"/>
                <a:cs typeface="Arial"/>
                <a:sym typeface="Arial"/>
              </a:rPr>
              <a:t>FIELD SHIFT  |  Climate &amp; Agriculture Data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6133416" y="9790957"/>
            <a:ext cx="1226372" cy="220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41"/>
              </a:lnSpc>
            </a:pPr>
            <a:r>
              <a:rPr lang="en-US" sz="1200">
                <a:solidFill>
                  <a:srgbClr val="697682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28123" y="303543"/>
            <a:ext cx="16600303" cy="895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863"/>
              </a:lnSpc>
            </a:pPr>
            <a:r>
              <a:rPr lang="en-US" sz="4053" b="true">
                <a:solidFill>
                  <a:srgbClr val="12274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٥</a:t>
            </a:r>
            <a:r>
              <a:rPr lang="ar-EG" sz="4053" b="true">
                <a:solidFill>
                  <a:srgbClr val="122743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. من البيانات إلى تنبيه مفيد للمزارع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4962127" y="1345216"/>
            <a:ext cx="2539441" cy="82363"/>
            <a:chOff x="0" y="0"/>
            <a:chExt cx="3385922" cy="1098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385947" cy="109855"/>
            </a:xfrm>
            <a:custGeom>
              <a:avLst/>
              <a:gdLst/>
              <a:ahLst/>
              <a:cxnLst/>
              <a:rect r="r" b="b" t="t" l="l"/>
              <a:pathLst>
                <a:path h="109855" w="3385947">
                  <a:moveTo>
                    <a:pt x="0" y="0"/>
                  </a:moveTo>
                  <a:lnTo>
                    <a:pt x="3385947" y="0"/>
                  </a:lnTo>
                  <a:lnTo>
                    <a:pt x="3385947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008F96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896760" y="1480966"/>
            <a:ext cx="16325764" cy="623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1"/>
              </a:lnSpc>
            </a:pPr>
            <a:r>
              <a:rPr lang="ar-EG" sz="1801">
                <a:solidFill>
                  <a:srgbClr val="697682"/>
                </a:solidFill>
                <a:latin typeface="Calibri (MS)"/>
                <a:ea typeface="Calibri (MS)"/>
                <a:cs typeface="Calibri (MS)"/>
                <a:sym typeface="Calibri (MS)"/>
                <a:rtl val="true"/>
              </a:rPr>
              <a:t>تسلسل مقترح للنموذج الأولي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647206" y="2470814"/>
            <a:ext cx="851059" cy="851059"/>
            <a:chOff x="0" y="0"/>
            <a:chExt cx="1134745" cy="113474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34745" cy="1134618"/>
            </a:xfrm>
            <a:custGeom>
              <a:avLst/>
              <a:gdLst/>
              <a:ahLst/>
              <a:cxnLst/>
              <a:rect r="r" b="b" t="t" l="l"/>
              <a:pathLst>
                <a:path h="1134618" w="1134745">
                  <a:moveTo>
                    <a:pt x="0" y="567309"/>
                  </a:moveTo>
                  <a:cubicBezTo>
                    <a:pt x="0" y="254000"/>
                    <a:pt x="254000" y="0"/>
                    <a:pt x="567309" y="0"/>
                  </a:cubicBezTo>
                  <a:cubicBezTo>
                    <a:pt x="880618" y="0"/>
                    <a:pt x="1134745" y="254000"/>
                    <a:pt x="1134745" y="567309"/>
                  </a:cubicBezTo>
                  <a:cubicBezTo>
                    <a:pt x="1134745" y="880618"/>
                    <a:pt x="880745" y="1134618"/>
                    <a:pt x="567436" y="1134618"/>
                  </a:cubicBezTo>
                  <a:cubicBezTo>
                    <a:pt x="254127" y="1134618"/>
                    <a:pt x="0" y="880745"/>
                    <a:pt x="0" y="567309"/>
                  </a:cubicBezTo>
                  <a:close/>
                </a:path>
              </a:pathLst>
            </a:custGeom>
            <a:solidFill>
              <a:srgbClr val="008F96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775270" y="2661456"/>
            <a:ext cx="594941" cy="349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١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10552" y="3630435"/>
            <a:ext cx="3102807" cy="3171444"/>
            <a:chOff x="0" y="0"/>
            <a:chExt cx="4137076" cy="422859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137025" cy="4228592"/>
            </a:xfrm>
            <a:custGeom>
              <a:avLst/>
              <a:gdLst/>
              <a:ahLst/>
              <a:cxnLst/>
              <a:rect r="r" b="b" t="t" l="l"/>
              <a:pathLst>
                <a:path h="4228592" w="4137025">
                  <a:moveTo>
                    <a:pt x="0" y="689483"/>
                  </a:moveTo>
                  <a:cubicBezTo>
                    <a:pt x="0" y="308737"/>
                    <a:pt x="308737" y="0"/>
                    <a:pt x="689483" y="0"/>
                  </a:cubicBezTo>
                  <a:lnTo>
                    <a:pt x="3447542" y="0"/>
                  </a:lnTo>
                  <a:cubicBezTo>
                    <a:pt x="3828415" y="0"/>
                    <a:pt x="4137025" y="308737"/>
                    <a:pt x="4137025" y="689483"/>
                  </a:cubicBezTo>
                  <a:lnTo>
                    <a:pt x="4137025" y="3539109"/>
                  </a:lnTo>
                  <a:cubicBezTo>
                    <a:pt x="4137025" y="3919982"/>
                    <a:pt x="3828288" y="4228592"/>
                    <a:pt x="3447542" y="4228592"/>
                  </a:cubicBezTo>
                  <a:lnTo>
                    <a:pt x="689483" y="4228592"/>
                  </a:lnTo>
                  <a:cubicBezTo>
                    <a:pt x="308737" y="4228592"/>
                    <a:pt x="0" y="3919855"/>
                    <a:pt x="0" y="3539109"/>
                  </a:cubicBezTo>
                  <a:close/>
                </a:path>
              </a:pathLst>
            </a:custGeom>
            <a:solidFill>
              <a:srgbClr val="EBF6F7"/>
            </a:solidFill>
            <a:ln w="14299" cap="sq">
              <a:solidFill>
                <a:srgbClr val="D7E7E9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3582676" y="3802304"/>
            <a:ext cx="61770" cy="2827706"/>
            <a:chOff x="0" y="0"/>
            <a:chExt cx="82360" cy="377027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2423" cy="3770249"/>
            </a:xfrm>
            <a:custGeom>
              <a:avLst/>
              <a:gdLst/>
              <a:ahLst/>
              <a:cxnLst/>
              <a:rect r="r" b="b" t="t" l="l"/>
              <a:pathLst>
                <a:path h="3770249" w="82423">
                  <a:moveTo>
                    <a:pt x="0" y="0"/>
                  </a:moveTo>
                  <a:lnTo>
                    <a:pt x="82423" y="0"/>
                  </a:lnTo>
                  <a:lnTo>
                    <a:pt x="82423" y="3770249"/>
                  </a:lnTo>
                  <a:lnTo>
                    <a:pt x="0" y="3770249"/>
                  </a:lnTo>
                  <a:close/>
                </a:path>
              </a:pathLst>
            </a:custGeom>
            <a:solidFill>
              <a:srgbClr val="008F96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37936" y="3791255"/>
            <a:ext cx="2420598" cy="496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62"/>
              </a:lnSpc>
            </a:pPr>
            <a:r>
              <a:rPr lang="ar-EG" sz="2551" b="true">
                <a:solidFill>
                  <a:srgbClr val="122743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تحديد الحقل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37936" y="4381500"/>
            <a:ext cx="2420598" cy="2239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41"/>
              </a:lnSpc>
            </a:pPr>
            <a:r>
              <a:rPr lang="ar-EG" sz="1951">
                <a:solidFill>
                  <a:srgbClr val="2B3643"/>
                </a:solidFill>
                <a:latin typeface="Calibri (MS)"/>
                <a:ea typeface="Calibri (MS)"/>
                <a:cs typeface="Calibri (MS)"/>
                <a:sym typeface="Calibri (MS)"/>
                <a:rtl val="true"/>
              </a:rPr>
              <a:t>إحداثيات دقيقة + المحصول + تاريخ الزراعة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806819" y="2762869"/>
            <a:ext cx="196863" cy="426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b="true">
                <a:solidFill>
                  <a:srgbClr val="E3AB41"/>
                </a:solidFill>
                <a:latin typeface="Arial Bold"/>
                <a:ea typeface="Arial Bold"/>
                <a:cs typeface="Arial Bold"/>
                <a:sym typeface="Arial Bold"/>
              </a:rPr>
              <a:t>←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5188706" y="2470814"/>
            <a:ext cx="851059" cy="851059"/>
            <a:chOff x="0" y="0"/>
            <a:chExt cx="1134745" cy="113474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34745" cy="1134618"/>
            </a:xfrm>
            <a:custGeom>
              <a:avLst/>
              <a:gdLst/>
              <a:ahLst/>
              <a:cxnLst/>
              <a:rect r="r" b="b" t="t" l="l"/>
              <a:pathLst>
                <a:path h="1134618" w="1134745">
                  <a:moveTo>
                    <a:pt x="0" y="567309"/>
                  </a:moveTo>
                  <a:cubicBezTo>
                    <a:pt x="0" y="254000"/>
                    <a:pt x="254000" y="0"/>
                    <a:pt x="567309" y="0"/>
                  </a:cubicBezTo>
                  <a:cubicBezTo>
                    <a:pt x="880618" y="0"/>
                    <a:pt x="1134745" y="254000"/>
                    <a:pt x="1134745" y="567309"/>
                  </a:cubicBezTo>
                  <a:cubicBezTo>
                    <a:pt x="1134745" y="880618"/>
                    <a:pt x="880745" y="1134618"/>
                    <a:pt x="567436" y="1134618"/>
                  </a:cubicBezTo>
                  <a:cubicBezTo>
                    <a:pt x="254127" y="1134618"/>
                    <a:pt x="0" y="880745"/>
                    <a:pt x="0" y="567309"/>
                  </a:cubicBezTo>
                  <a:close/>
                </a:path>
              </a:pathLst>
            </a:custGeom>
            <a:solidFill>
              <a:srgbClr val="008F96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5316760" y="2661456"/>
            <a:ext cx="594941" cy="349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٢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4152052" y="3630435"/>
            <a:ext cx="3102807" cy="3171444"/>
            <a:chOff x="0" y="0"/>
            <a:chExt cx="4137076" cy="422859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137025" cy="4228592"/>
            </a:xfrm>
            <a:custGeom>
              <a:avLst/>
              <a:gdLst/>
              <a:ahLst/>
              <a:cxnLst/>
              <a:rect r="r" b="b" t="t" l="l"/>
              <a:pathLst>
                <a:path h="4228592" w="4137025">
                  <a:moveTo>
                    <a:pt x="0" y="689483"/>
                  </a:moveTo>
                  <a:cubicBezTo>
                    <a:pt x="0" y="308737"/>
                    <a:pt x="308737" y="0"/>
                    <a:pt x="689483" y="0"/>
                  </a:cubicBezTo>
                  <a:lnTo>
                    <a:pt x="3447542" y="0"/>
                  </a:lnTo>
                  <a:cubicBezTo>
                    <a:pt x="3828415" y="0"/>
                    <a:pt x="4137025" y="308737"/>
                    <a:pt x="4137025" y="689483"/>
                  </a:cubicBezTo>
                  <a:lnTo>
                    <a:pt x="4137025" y="3539109"/>
                  </a:lnTo>
                  <a:cubicBezTo>
                    <a:pt x="4137025" y="3919982"/>
                    <a:pt x="3828288" y="4228592"/>
                    <a:pt x="3447542" y="4228592"/>
                  </a:cubicBezTo>
                  <a:lnTo>
                    <a:pt x="689483" y="4228592"/>
                  </a:lnTo>
                  <a:cubicBezTo>
                    <a:pt x="308737" y="4228592"/>
                    <a:pt x="0" y="3919855"/>
                    <a:pt x="0" y="3539109"/>
                  </a:cubicBezTo>
                  <a:close/>
                </a:path>
              </a:pathLst>
            </a:custGeom>
            <a:solidFill>
              <a:srgbClr val="EBF6F7"/>
            </a:solidFill>
            <a:ln w="14299" cap="sq">
              <a:solidFill>
                <a:srgbClr val="D7E7E9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7124167" y="3802304"/>
            <a:ext cx="61770" cy="2827706"/>
            <a:chOff x="0" y="0"/>
            <a:chExt cx="82360" cy="377027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2423" cy="3770249"/>
            </a:xfrm>
            <a:custGeom>
              <a:avLst/>
              <a:gdLst/>
              <a:ahLst/>
              <a:cxnLst/>
              <a:rect r="r" b="b" t="t" l="l"/>
              <a:pathLst>
                <a:path h="3770249" w="82423">
                  <a:moveTo>
                    <a:pt x="0" y="0"/>
                  </a:moveTo>
                  <a:lnTo>
                    <a:pt x="82423" y="0"/>
                  </a:lnTo>
                  <a:lnTo>
                    <a:pt x="82423" y="3770249"/>
                  </a:lnTo>
                  <a:lnTo>
                    <a:pt x="0" y="3770249"/>
                  </a:lnTo>
                  <a:close/>
                </a:path>
              </a:pathLst>
            </a:custGeom>
            <a:solidFill>
              <a:srgbClr val="008F96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4479427" y="3791255"/>
            <a:ext cx="2420598" cy="496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62"/>
              </a:lnSpc>
            </a:pPr>
            <a:r>
              <a:rPr lang="ar-EG" sz="2551" b="true">
                <a:solidFill>
                  <a:srgbClr val="122743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جمع البيانات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479427" y="4381500"/>
            <a:ext cx="2420598" cy="2239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41"/>
              </a:lnSpc>
            </a:pPr>
            <a:r>
              <a:rPr lang="ar-EG" sz="1951">
                <a:solidFill>
                  <a:srgbClr val="2B3643"/>
                </a:solidFill>
                <a:latin typeface="Calibri (MS)"/>
                <a:ea typeface="Calibri (MS)"/>
                <a:cs typeface="Calibri (MS)"/>
                <a:sym typeface="Calibri (MS)"/>
                <a:rtl val="true"/>
              </a:rPr>
              <a:t>طقس + تربة + ماء + تقويم محصول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348318" y="2762869"/>
            <a:ext cx="196863" cy="426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b="true">
                <a:solidFill>
                  <a:srgbClr val="E3AB41"/>
                </a:solidFill>
                <a:latin typeface="Arial Bold"/>
                <a:ea typeface="Arial Bold"/>
                <a:cs typeface="Arial Bold"/>
                <a:sym typeface="Arial Bold"/>
              </a:rPr>
              <a:t>←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8730196" y="2470814"/>
            <a:ext cx="851059" cy="851059"/>
            <a:chOff x="0" y="0"/>
            <a:chExt cx="1134745" cy="113474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34745" cy="1134618"/>
            </a:xfrm>
            <a:custGeom>
              <a:avLst/>
              <a:gdLst/>
              <a:ahLst/>
              <a:cxnLst/>
              <a:rect r="r" b="b" t="t" l="l"/>
              <a:pathLst>
                <a:path h="1134618" w="1134745">
                  <a:moveTo>
                    <a:pt x="0" y="567309"/>
                  </a:moveTo>
                  <a:cubicBezTo>
                    <a:pt x="0" y="254000"/>
                    <a:pt x="254000" y="0"/>
                    <a:pt x="567309" y="0"/>
                  </a:cubicBezTo>
                  <a:cubicBezTo>
                    <a:pt x="880618" y="0"/>
                    <a:pt x="1134745" y="254000"/>
                    <a:pt x="1134745" y="567309"/>
                  </a:cubicBezTo>
                  <a:cubicBezTo>
                    <a:pt x="1134745" y="880618"/>
                    <a:pt x="880745" y="1134618"/>
                    <a:pt x="567436" y="1134618"/>
                  </a:cubicBezTo>
                  <a:cubicBezTo>
                    <a:pt x="254127" y="1134618"/>
                    <a:pt x="0" y="880745"/>
                    <a:pt x="0" y="567309"/>
                  </a:cubicBezTo>
                  <a:close/>
                </a:path>
              </a:pathLst>
            </a:custGeom>
            <a:solidFill>
              <a:srgbClr val="008F96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8858260" y="2661456"/>
            <a:ext cx="594941" cy="349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٣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7693543" y="3630435"/>
            <a:ext cx="3102807" cy="3171444"/>
            <a:chOff x="0" y="0"/>
            <a:chExt cx="4137076" cy="422859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137025" cy="4228592"/>
            </a:xfrm>
            <a:custGeom>
              <a:avLst/>
              <a:gdLst/>
              <a:ahLst/>
              <a:cxnLst/>
              <a:rect r="r" b="b" t="t" l="l"/>
              <a:pathLst>
                <a:path h="4228592" w="4137025">
                  <a:moveTo>
                    <a:pt x="0" y="689483"/>
                  </a:moveTo>
                  <a:cubicBezTo>
                    <a:pt x="0" y="308737"/>
                    <a:pt x="308737" y="0"/>
                    <a:pt x="689483" y="0"/>
                  </a:cubicBezTo>
                  <a:lnTo>
                    <a:pt x="3447542" y="0"/>
                  </a:lnTo>
                  <a:cubicBezTo>
                    <a:pt x="3828415" y="0"/>
                    <a:pt x="4137025" y="308737"/>
                    <a:pt x="4137025" y="689483"/>
                  </a:cubicBezTo>
                  <a:lnTo>
                    <a:pt x="4137025" y="3539109"/>
                  </a:lnTo>
                  <a:cubicBezTo>
                    <a:pt x="4137025" y="3919982"/>
                    <a:pt x="3828288" y="4228592"/>
                    <a:pt x="3447542" y="4228592"/>
                  </a:cubicBezTo>
                  <a:lnTo>
                    <a:pt x="689483" y="4228592"/>
                  </a:lnTo>
                  <a:cubicBezTo>
                    <a:pt x="308737" y="4228592"/>
                    <a:pt x="0" y="3919855"/>
                    <a:pt x="0" y="3539109"/>
                  </a:cubicBezTo>
                  <a:close/>
                </a:path>
              </a:pathLst>
            </a:custGeom>
            <a:solidFill>
              <a:srgbClr val="EBF6F7"/>
            </a:solidFill>
            <a:ln w="14299" cap="sq">
              <a:solidFill>
                <a:srgbClr val="D7E7E9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0665666" y="3802304"/>
            <a:ext cx="61770" cy="2827706"/>
            <a:chOff x="0" y="0"/>
            <a:chExt cx="82360" cy="377027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2423" cy="3770249"/>
            </a:xfrm>
            <a:custGeom>
              <a:avLst/>
              <a:gdLst/>
              <a:ahLst/>
              <a:cxnLst/>
              <a:rect r="r" b="b" t="t" l="l"/>
              <a:pathLst>
                <a:path h="3770249" w="82423">
                  <a:moveTo>
                    <a:pt x="0" y="0"/>
                  </a:moveTo>
                  <a:lnTo>
                    <a:pt x="82423" y="0"/>
                  </a:lnTo>
                  <a:lnTo>
                    <a:pt x="82423" y="3770249"/>
                  </a:lnTo>
                  <a:lnTo>
                    <a:pt x="0" y="3770249"/>
                  </a:lnTo>
                  <a:close/>
                </a:path>
              </a:pathLst>
            </a:custGeom>
            <a:solidFill>
              <a:srgbClr val="008F96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8020926" y="3791255"/>
            <a:ext cx="2420598" cy="496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62"/>
              </a:lnSpc>
            </a:pPr>
            <a:r>
              <a:rPr lang="ar-EG" sz="2551" b="true">
                <a:solidFill>
                  <a:srgbClr val="122743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فحص الجودة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020926" y="4381500"/>
            <a:ext cx="2420598" cy="2239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41"/>
              </a:lnSpc>
            </a:pPr>
            <a:r>
              <a:rPr lang="ar-EG" sz="1951">
                <a:solidFill>
                  <a:srgbClr val="2B3643"/>
                </a:solidFill>
                <a:latin typeface="Calibri (MS)"/>
                <a:ea typeface="Calibri (MS)"/>
                <a:cs typeface="Calibri (MS)"/>
                <a:sym typeface="Calibri (MS)"/>
                <a:rtl val="true"/>
              </a:rPr>
              <a:t>الوحدات والفترة الزمنية والقيم المفقودة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889809" y="2762869"/>
            <a:ext cx="196863" cy="426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b="true">
                <a:solidFill>
                  <a:srgbClr val="E3AB41"/>
                </a:solidFill>
                <a:latin typeface="Arial Bold"/>
                <a:ea typeface="Arial Bold"/>
                <a:cs typeface="Arial Bold"/>
                <a:sym typeface="Arial Bold"/>
              </a:rPr>
              <a:t>←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2271696" y="2470814"/>
            <a:ext cx="851059" cy="851059"/>
            <a:chOff x="0" y="0"/>
            <a:chExt cx="1134745" cy="113474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34745" cy="1134618"/>
            </a:xfrm>
            <a:custGeom>
              <a:avLst/>
              <a:gdLst/>
              <a:ahLst/>
              <a:cxnLst/>
              <a:rect r="r" b="b" t="t" l="l"/>
              <a:pathLst>
                <a:path h="1134618" w="1134745">
                  <a:moveTo>
                    <a:pt x="0" y="567309"/>
                  </a:moveTo>
                  <a:cubicBezTo>
                    <a:pt x="0" y="254000"/>
                    <a:pt x="254000" y="0"/>
                    <a:pt x="567309" y="0"/>
                  </a:cubicBezTo>
                  <a:cubicBezTo>
                    <a:pt x="880618" y="0"/>
                    <a:pt x="1134745" y="254000"/>
                    <a:pt x="1134745" y="567309"/>
                  </a:cubicBezTo>
                  <a:cubicBezTo>
                    <a:pt x="1134745" y="880618"/>
                    <a:pt x="880745" y="1134618"/>
                    <a:pt x="567436" y="1134618"/>
                  </a:cubicBezTo>
                  <a:cubicBezTo>
                    <a:pt x="254127" y="1134618"/>
                    <a:pt x="0" y="880745"/>
                    <a:pt x="0" y="567309"/>
                  </a:cubicBezTo>
                  <a:close/>
                </a:path>
              </a:pathLst>
            </a:custGeom>
            <a:solidFill>
              <a:srgbClr val="008F96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2399750" y="2661456"/>
            <a:ext cx="594941" cy="349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٤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1235042" y="3630435"/>
            <a:ext cx="3102807" cy="3171444"/>
            <a:chOff x="0" y="0"/>
            <a:chExt cx="4137076" cy="422859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137025" cy="4228592"/>
            </a:xfrm>
            <a:custGeom>
              <a:avLst/>
              <a:gdLst/>
              <a:ahLst/>
              <a:cxnLst/>
              <a:rect r="r" b="b" t="t" l="l"/>
              <a:pathLst>
                <a:path h="4228592" w="4137025">
                  <a:moveTo>
                    <a:pt x="0" y="689483"/>
                  </a:moveTo>
                  <a:cubicBezTo>
                    <a:pt x="0" y="308737"/>
                    <a:pt x="308737" y="0"/>
                    <a:pt x="689483" y="0"/>
                  </a:cubicBezTo>
                  <a:lnTo>
                    <a:pt x="3447542" y="0"/>
                  </a:lnTo>
                  <a:cubicBezTo>
                    <a:pt x="3828415" y="0"/>
                    <a:pt x="4137025" y="308737"/>
                    <a:pt x="4137025" y="689483"/>
                  </a:cubicBezTo>
                  <a:lnTo>
                    <a:pt x="4137025" y="3539109"/>
                  </a:lnTo>
                  <a:cubicBezTo>
                    <a:pt x="4137025" y="3919982"/>
                    <a:pt x="3828288" y="4228592"/>
                    <a:pt x="3447542" y="4228592"/>
                  </a:cubicBezTo>
                  <a:lnTo>
                    <a:pt x="689483" y="4228592"/>
                  </a:lnTo>
                  <a:cubicBezTo>
                    <a:pt x="308737" y="4228592"/>
                    <a:pt x="0" y="3919855"/>
                    <a:pt x="0" y="3539109"/>
                  </a:cubicBezTo>
                  <a:close/>
                </a:path>
              </a:pathLst>
            </a:custGeom>
            <a:solidFill>
              <a:srgbClr val="EBF6F7"/>
            </a:solidFill>
            <a:ln w="14299" cap="sq">
              <a:solidFill>
                <a:srgbClr val="D7E7E9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4207157" y="3802304"/>
            <a:ext cx="61770" cy="2827706"/>
            <a:chOff x="0" y="0"/>
            <a:chExt cx="82360" cy="377027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2423" cy="3770249"/>
            </a:xfrm>
            <a:custGeom>
              <a:avLst/>
              <a:gdLst/>
              <a:ahLst/>
              <a:cxnLst/>
              <a:rect r="r" b="b" t="t" l="l"/>
              <a:pathLst>
                <a:path h="3770249" w="82423">
                  <a:moveTo>
                    <a:pt x="0" y="0"/>
                  </a:moveTo>
                  <a:lnTo>
                    <a:pt x="82423" y="0"/>
                  </a:lnTo>
                  <a:lnTo>
                    <a:pt x="82423" y="3770249"/>
                  </a:lnTo>
                  <a:lnTo>
                    <a:pt x="0" y="3770249"/>
                  </a:lnTo>
                  <a:close/>
                </a:path>
              </a:pathLst>
            </a:custGeom>
            <a:solidFill>
              <a:srgbClr val="008F96"/>
            </a:solid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11562417" y="3791255"/>
            <a:ext cx="2420598" cy="496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62"/>
              </a:lnSpc>
            </a:pPr>
            <a:r>
              <a:rPr lang="ar-EG" sz="2551" b="true">
                <a:solidFill>
                  <a:srgbClr val="122743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حساب المؤشرات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562417" y="4381500"/>
            <a:ext cx="2420598" cy="2239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41"/>
              </a:lnSpc>
            </a:pPr>
            <a:r>
              <a:rPr lang="ar-EG" sz="1951">
                <a:solidFill>
                  <a:srgbClr val="2B3643"/>
                </a:solidFill>
                <a:latin typeface="Calibri (MS)"/>
                <a:ea typeface="Calibri (MS)"/>
                <a:cs typeface="Calibri (MS)"/>
                <a:sym typeface="Calibri (MS)"/>
                <a:rtl val="true"/>
              </a:rPr>
              <a:t>حرارة شديدة، ضغط مائي، مخاطر ملوحة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4431308" y="2762869"/>
            <a:ext cx="196863" cy="426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b="true">
                <a:solidFill>
                  <a:srgbClr val="E3AB41"/>
                </a:solidFill>
                <a:latin typeface="Arial Bold"/>
                <a:ea typeface="Arial Bold"/>
                <a:cs typeface="Arial Bold"/>
                <a:sym typeface="Arial Bold"/>
              </a:rPr>
              <a:t>←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15813186" y="2470814"/>
            <a:ext cx="851059" cy="851059"/>
            <a:chOff x="0" y="0"/>
            <a:chExt cx="1134745" cy="1134745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134745" cy="1134618"/>
            </a:xfrm>
            <a:custGeom>
              <a:avLst/>
              <a:gdLst/>
              <a:ahLst/>
              <a:cxnLst/>
              <a:rect r="r" b="b" t="t" l="l"/>
              <a:pathLst>
                <a:path h="1134618" w="1134745">
                  <a:moveTo>
                    <a:pt x="0" y="567309"/>
                  </a:moveTo>
                  <a:cubicBezTo>
                    <a:pt x="0" y="254000"/>
                    <a:pt x="254000" y="0"/>
                    <a:pt x="567309" y="0"/>
                  </a:cubicBezTo>
                  <a:cubicBezTo>
                    <a:pt x="880618" y="0"/>
                    <a:pt x="1134745" y="254000"/>
                    <a:pt x="1134745" y="567309"/>
                  </a:cubicBezTo>
                  <a:cubicBezTo>
                    <a:pt x="1134745" y="880618"/>
                    <a:pt x="880745" y="1134618"/>
                    <a:pt x="567436" y="1134618"/>
                  </a:cubicBezTo>
                  <a:cubicBezTo>
                    <a:pt x="254127" y="1134618"/>
                    <a:pt x="0" y="880745"/>
                    <a:pt x="0" y="567309"/>
                  </a:cubicBezTo>
                  <a:close/>
                </a:path>
              </a:pathLst>
            </a:custGeom>
            <a:solidFill>
              <a:srgbClr val="008F96"/>
            </a:solid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15941240" y="2661456"/>
            <a:ext cx="594941" cy="349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٥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14776533" y="3630435"/>
            <a:ext cx="3102807" cy="3171444"/>
            <a:chOff x="0" y="0"/>
            <a:chExt cx="4137076" cy="422859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137025" cy="4228592"/>
            </a:xfrm>
            <a:custGeom>
              <a:avLst/>
              <a:gdLst/>
              <a:ahLst/>
              <a:cxnLst/>
              <a:rect r="r" b="b" t="t" l="l"/>
              <a:pathLst>
                <a:path h="4228592" w="4137025">
                  <a:moveTo>
                    <a:pt x="0" y="689483"/>
                  </a:moveTo>
                  <a:cubicBezTo>
                    <a:pt x="0" y="308737"/>
                    <a:pt x="308737" y="0"/>
                    <a:pt x="689483" y="0"/>
                  </a:cubicBezTo>
                  <a:lnTo>
                    <a:pt x="3447542" y="0"/>
                  </a:lnTo>
                  <a:cubicBezTo>
                    <a:pt x="3828415" y="0"/>
                    <a:pt x="4137025" y="308737"/>
                    <a:pt x="4137025" y="689483"/>
                  </a:cubicBezTo>
                  <a:lnTo>
                    <a:pt x="4137025" y="3539109"/>
                  </a:lnTo>
                  <a:cubicBezTo>
                    <a:pt x="4137025" y="3919982"/>
                    <a:pt x="3828288" y="4228592"/>
                    <a:pt x="3447542" y="4228592"/>
                  </a:cubicBezTo>
                  <a:lnTo>
                    <a:pt x="689483" y="4228592"/>
                  </a:lnTo>
                  <a:cubicBezTo>
                    <a:pt x="308737" y="4228592"/>
                    <a:pt x="0" y="3919855"/>
                    <a:pt x="0" y="3539109"/>
                  </a:cubicBezTo>
                  <a:close/>
                </a:path>
              </a:pathLst>
            </a:custGeom>
            <a:solidFill>
              <a:srgbClr val="EBF6F7"/>
            </a:solidFill>
            <a:ln w="14299" cap="sq">
              <a:solidFill>
                <a:srgbClr val="D7E7E9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17748656" y="3802304"/>
            <a:ext cx="61770" cy="2827706"/>
            <a:chOff x="0" y="0"/>
            <a:chExt cx="82360" cy="377027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2423" cy="3770249"/>
            </a:xfrm>
            <a:custGeom>
              <a:avLst/>
              <a:gdLst/>
              <a:ahLst/>
              <a:cxnLst/>
              <a:rect r="r" b="b" t="t" l="l"/>
              <a:pathLst>
                <a:path h="3770249" w="82423">
                  <a:moveTo>
                    <a:pt x="0" y="0"/>
                  </a:moveTo>
                  <a:lnTo>
                    <a:pt x="82423" y="0"/>
                  </a:lnTo>
                  <a:lnTo>
                    <a:pt x="82423" y="3770249"/>
                  </a:lnTo>
                  <a:lnTo>
                    <a:pt x="0" y="3770249"/>
                  </a:lnTo>
                  <a:close/>
                </a:path>
              </a:pathLst>
            </a:custGeom>
            <a:solidFill>
              <a:srgbClr val="008F96"/>
            </a:solidFill>
          </p:spPr>
        </p:sp>
      </p:grpSp>
      <p:sp>
        <p:nvSpPr>
          <p:cNvPr name="TextBox 53" id="53"/>
          <p:cNvSpPr txBox="true"/>
          <p:nvPr/>
        </p:nvSpPr>
        <p:spPr>
          <a:xfrm rot="0">
            <a:off x="15103916" y="3791255"/>
            <a:ext cx="2420598" cy="496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62"/>
              </a:lnSpc>
            </a:pPr>
            <a:r>
              <a:rPr lang="ar-EG" sz="2551" b="true">
                <a:solidFill>
                  <a:srgbClr val="122743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إظهار التوصية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5103916" y="4381500"/>
            <a:ext cx="2420598" cy="2239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41"/>
              </a:lnSpc>
            </a:pPr>
            <a:r>
              <a:rPr lang="ar-EG" sz="1951">
                <a:solidFill>
                  <a:srgbClr val="2B3643"/>
                </a:solidFill>
                <a:latin typeface="Calibri (MS)"/>
                <a:ea typeface="Calibri (MS)"/>
                <a:cs typeface="Calibri (MS)"/>
                <a:sym typeface="Calibri (MS)"/>
                <a:rtl val="true"/>
              </a:rPr>
              <a:t>مستوى الخطر وسببه والإجراء والمصدر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102652" y="7597759"/>
            <a:ext cx="16051235" cy="972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02"/>
              </a:lnSpc>
            </a:pPr>
            <a:r>
              <a:rPr lang="ar-EG" sz="2251" b="true">
                <a:solidFill>
                  <a:srgbClr val="B44141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لا يصدر التطبيق حكمًا قطعيًا من مؤشر واحد؛ يعرض مخاطرة أولية مع توضيح عدم اليقين وطلب بيانات محلية عند الحاجة</a:t>
            </a:r>
            <a:r>
              <a:rPr lang="en-US" sz="2251" b="true">
                <a:solidFill>
                  <a:srgbClr val="B4414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.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828123" y="9790957"/>
            <a:ext cx="14266755" cy="220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97682"/>
                </a:solidFill>
                <a:latin typeface="Arial"/>
                <a:ea typeface="Arial"/>
                <a:cs typeface="Arial"/>
                <a:sym typeface="Arial"/>
              </a:rPr>
              <a:t>FIELD SHIFT  |  Climate &amp; Agriculture Data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6133416" y="9790957"/>
            <a:ext cx="1226372" cy="220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41"/>
              </a:lnSpc>
            </a:pPr>
            <a:r>
              <a:rPr lang="en-US" sz="1200">
                <a:solidFill>
                  <a:srgbClr val="697682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28123" y="303543"/>
            <a:ext cx="16600303" cy="895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863"/>
              </a:lnSpc>
            </a:pPr>
            <a:r>
              <a:rPr lang="en-US" sz="4053" b="true">
                <a:solidFill>
                  <a:srgbClr val="12274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٦</a:t>
            </a:r>
            <a:r>
              <a:rPr lang="ar-EG" sz="4053" b="true">
                <a:solidFill>
                  <a:srgbClr val="122743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. مراجع موثوقة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4962127" y="1345216"/>
            <a:ext cx="2539441" cy="82363"/>
            <a:chOff x="0" y="0"/>
            <a:chExt cx="3385922" cy="1098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385947" cy="109855"/>
            </a:xfrm>
            <a:custGeom>
              <a:avLst/>
              <a:gdLst/>
              <a:ahLst/>
              <a:cxnLst/>
              <a:rect r="r" b="b" t="t" l="l"/>
              <a:pathLst>
                <a:path h="109855" w="3385947">
                  <a:moveTo>
                    <a:pt x="0" y="0"/>
                  </a:moveTo>
                  <a:lnTo>
                    <a:pt x="3385947" y="0"/>
                  </a:lnTo>
                  <a:lnTo>
                    <a:pt x="3385947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008F96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896760" y="1480966"/>
            <a:ext cx="16325764" cy="623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1"/>
              </a:lnSpc>
            </a:pPr>
            <a:r>
              <a:rPr lang="ar-EG" sz="1801">
                <a:solidFill>
                  <a:srgbClr val="697682"/>
                </a:solidFill>
                <a:latin typeface="Calibri (MS)"/>
                <a:ea typeface="Calibri (MS)"/>
                <a:cs typeface="Calibri (MS)"/>
                <a:sym typeface="Calibri (MS)"/>
                <a:rtl val="true"/>
              </a:rPr>
              <a:t>مراجع لتوثيق المخاطر ومصادر البيانات التشغيلية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34024" y="2145173"/>
            <a:ext cx="16325764" cy="330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122743"/>
                </a:solidFill>
                <a:latin typeface="Arial Bold"/>
                <a:ea typeface="Arial Bold"/>
                <a:cs typeface="Arial Bold"/>
                <a:sym typeface="Arial Bold"/>
              </a:rPr>
              <a:t>OECD — Policies for the Future of Farming and Food in Egypt (2026)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34024" y="2556967"/>
            <a:ext cx="16325764" cy="302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008F96"/>
                </a:solidFill>
                <a:latin typeface="Arial"/>
                <a:ea typeface="Arial"/>
                <a:cs typeface="Arial"/>
                <a:sym typeface="Arial"/>
              </a:rPr>
              <a:t>https://www.oecd.org/en/publications/policies-for-the-future-of-farming-and-food-in-egypt_cab0cefd-en.html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34024" y="2918069"/>
            <a:ext cx="16325764" cy="339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ar-EG" sz="1651">
                <a:solidFill>
                  <a:srgbClr val="697682"/>
                </a:solidFill>
                <a:latin typeface="Calibri (MS)"/>
                <a:ea typeface="Calibri (MS)"/>
                <a:cs typeface="Calibri (MS)"/>
                <a:sym typeface="Calibri (MS)"/>
                <a:rtl val="true"/>
              </a:rPr>
              <a:t>مخاطر المناخ والدلتا والملوحة والمياه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34024" y="3586477"/>
            <a:ext cx="16325764" cy="330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122743"/>
                </a:solidFill>
                <a:latin typeface="Arial Bold"/>
                <a:ea typeface="Arial Bold"/>
                <a:cs typeface="Arial Bold"/>
                <a:sym typeface="Arial Bold"/>
              </a:rPr>
              <a:t>FAO — Addressing climate change in agrifood systems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34024" y="3998281"/>
            <a:ext cx="16325764" cy="302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008F96"/>
                </a:solidFill>
                <a:latin typeface="Arial"/>
                <a:ea typeface="Arial"/>
                <a:cs typeface="Arial"/>
                <a:sym typeface="Arial"/>
              </a:rPr>
              <a:t>https://www.fao.org/neareast/main-topics/action-areas/addressing-climate-change-in-agrifood-systems/addressing-climate-change-in-agrifood-systems/en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34024" y="4359373"/>
            <a:ext cx="16325764" cy="339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ar-EG" sz="1651">
                <a:solidFill>
                  <a:srgbClr val="697682"/>
                </a:solidFill>
                <a:latin typeface="Calibri (MS)"/>
                <a:ea typeface="Calibri (MS)"/>
                <a:cs typeface="Calibri (MS)"/>
                <a:sym typeface="Calibri (MS)"/>
                <a:rtl val="true"/>
              </a:rPr>
              <a:t>الحرارة والجفاف والأحداث المتطرفة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34024" y="5027781"/>
            <a:ext cx="16325764" cy="330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122743"/>
                </a:solidFill>
                <a:latin typeface="Arial Bold"/>
                <a:ea typeface="Arial Bold"/>
                <a:cs typeface="Arial Bold"/>
                <a:sym typeface="Arial Bold"/>
              </a:rPr>
              <a:t>Knowledge4Policy / IFPRI — Climate change and Egypt’s agriculture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34024" y="5439585"/>
            <a:ext cx="16325764" cy="302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008F96"/>
                </a:solidFill>
                <a:latin typeface="Arial"/>
                <a:ea typeface="Arial"/>
                <a:cs typeface="Arial"/>
                <a:sym typeface="Arial"/>
              </a:rPr>
              <a:t>https://knowledge4policy.ec.europa.eu/publication/climate-change-egypt%E2%80%99s-agriculture_en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34024" y="5800677"/>
            <a:ext cx="16325764" cy="339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ar-EG" sz="1651">
                <a:solidFill>
                  <a:srgbClr val="697682"/>
                </a:solidFill>
                <a:latin typeface="Calibri (MS)"/>
                <a:ea typeface="Calibri (MS)"/>
                <a:cs typeface="Calibri (MS)"/>
                <a:sym typeface="Calibri (MS)"/>
                <a:rtl val="true"/>
              </a:rPr>
              <a:t>الحرارة والإجهاد المائي وملوحة مياه الري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34024" y="6469085"/>
            <a:ext cx="16325764" cy="330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122743"/>
                </a:solidFill>
                <a:latin typeface="Arial Bold"/>
                <a:ea typeface="Arial Bold"/>
                <a:cs typeface="Arial Bold"/>
                <a:sym typeface="Arial Bold"/>
              </a:rPr>
              <a:t>World Bank — Climate Risk Country Profile: Egypt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34024" y="6880889"/>
            <a:ext cx="16325764" cy="302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008F96"/>
                </a:solidFill>
                <a:latin typeface="Arial"/>
                <a:ea typeface="Arial"/>
                <a:cs typeface="Arial"/>
                <a:sym typeface="Arial"/>
              </a:rPr>
              <a:t>https://climateknowledgeportal.worldbank.org/sites/default/files/2021-01/15723-WB_Egypt%20Country%20Profile-WEB.pdf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34024" y="7241981"/>
            <a:ext cx="16325764" cy="339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ar-EG" sz="1651">
                <a:solidFill>
                  <a:srgbClr val="697682"/>
                </a:solidFill>
                <a:latin typeface="Calibri (MS)"/>
                <a:ea typeface="Calibri (MS)"/>
                <a:cs typeface="Calibri (MS)"/>
                <a:sym typeface="Calibri (MS)"/>
                <a:rtl val="true"/>
              </a:rPr>
              <a:t>مخاطر الحرارة والجفاف وتدهور الأراضي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34024" y="7910389"/>
            <a:ext cx="16325764" cy="330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122743"/>
                </a:solidFill>
                <a:latin typeface="Arial Bold"/>
                <a:ea typeface="Arial Bold"/>
                <a:cs typeface="Arial Bold"/>
                <a:sym typeface="Arial Bold"/>
              </a:rPr>
              <a:t>NASA POWER — Daily API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34024" y="8322193"/>
            <a:ext cx="16325764" cy="302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008F96"/>
                </a:solidFill>
                <a:latin typeface="Arial"/>
                <a:ea typeface="Arial"/>
                <a:cs typeface="Arial"/>
                <a:sym typeface="Arial"/>
              </a:rPr>
              <a:t>https://power.larc.nasa.gov/docs/services/api/temporal/daily/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34024" y="8683295"/>
            <a:ext cx="16325764" cy="339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ar-EG" sz="1651">
                <a:solidFill>
                  <a:srgbClr val="697682"/>
                </a:solidFill>
                <a:latin typeface="Calibri (MS)"/>
                <a:ea typeface="Calibri (MS)"/>
                <a:cs typeface="Calibri (MS)"/>
                <a:sym typeface="Calibri (MS)"/>
                <a:rtl val="true"/>
              </a:rPr>
              <a:t>بيانات مناخية يومية قابلة للتنزيل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28123" y="9790957"/>
            <a:ext cx="14266755" cy="220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97682"/>
                </a:solidFill>
                <a:latin typeface="Arial"/>
                <a:ea typeface="Arial"/>
                <a:cs typeface="Arial"/>
                <a:sym typeface="Arial"/>
              </a:rPr>
              <a:t>FIELD SHIFT  |  Climate &amp; Agriculture Data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133416" y="9790957"/>
            <a:ext cx="1226372" cy="220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41"/>
              </a:lnSpc>
            </a:pPr>
            <a:r>
              <a:rPr lang="en-US" sz="1200">
                <a:solidFill>
                  <a:srgbClr val="697682"/>
                </a:solidFill>
                <a:latin typeface="Arial"/>
                <a:ea typeface="Arial"/>
                <a:cs typeface="Arial"/>
                <a:sym typeface="Arial"/>
              </a:rPr>
              <a:t>26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bg>
      <p:bgPr>
        <a:solidFill>
          <a:srgbClr val="1227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71289" y="921248"/>
            <a:ext cx="16051235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03"/>
              </a:lnSpc>
            </a:pPr>
            <a:r>
              <a:rPr lang="ar-EG" sz="375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ملاحظات منهجية ى</a:t>
            </a:r>
            <a:r>
              <a:rPr lang="en-US" sz="375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08554" y="2291963"/>
            <a:ext cx="15502166" cy="3819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62"/>
              </a:lnSpc>
            </a:pPr>
            <a:r>
              <a:rPr lang="en-US" sz="2551" u="sng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ar-EG" sz="2551" u="sng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rtl val="true"/>
              </a:rPr>
              <a:t>التغير المناخي يزيد بعض المخاطر أو يغيّر احتمالاتها، لكن الملوحة وتدهور التربة ونقص مياه الري تتأثر أيضًا بالإدارة الزراعية وجودة المياه والبنية التحتية</a:t>
            </a:r>
            <a:r>
              <a:rPr lang="en-US" sz="2551" u="sng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r">
              <a:lnSpc>
                <a:spcPts val="3062"/>
              </a:lnSpc>
            </a:pPr>
          </a:p>
          <a:p>
            <a:pPr algn="r">
              <a:lnSpc>
                <a:spcPts val="3062"/>
              </a:lnSpc>
            </a:pPr>
            <a:r>
              <a:rPr lang="en-US" sz="2551" u="sng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ar-EG" sz="2551" u="sng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rtl val="true"/>
              </a:rPr>
              <a:t>لا نعمّم الصقيع أو الأمطار الغزيرة على كل مصر؛ يجب تحديد المنطقة والموسم</a:t>
            </a:r>
            <a:r>
              <a:rPr lang="en-US" sz="2551" u="sng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r">
              <a:lnSpc>
                <a:spcPts val="3062"/>
              </a:lnSpc>
            </a:pPr>
          </a:p>
          <a:p>
            <a:pPr algn="r">
              <a:lnSpc>
                <a:spcPts val="3062"/>
              </a:lnSpc>
            </a:pPr>
            <a:r>
              <a:rPr lang="en-US" sz="2551" u="sng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ar-EG" sz="2551" u="sng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rtl val="true"/>
              </a:rPr>
              <a:t>إحداثيات المنصورة في الخطة الأصلية توضيحية وليست إحداثيات حقل فعلي</a:t>
            </a:r>
            <a:r>
              <a:rPr lang="en-US" sz="2551" u="sng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r">
              <a:lnSpc>
                <a:spcPts val="3062"/>
              </a:lnSpc>
            </a:pPr>
          </a:p>
          <a:p>
            <a:pPr algn="r">
              <a:lnSpc>
                <a:spcPts val="3062"/>
              </a:lnSpc>
            </a:pPr>
            <a:r>
              <a:rPr lang="en-US" sz="2551" u="sng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ar-EG" sz="2551" u="sng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rtl val="true"/>
              </a:rPr>
              <a:t>لا نعرض توصيات خاصة بحقل معين قبل تنزيل البيانات والتحقق منها</a:t>
            </a:r>
            <a:r>
              <a:rPr lang="en-US" sz="2551" u="sng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r">
              <a:lnSpc>
                <a:spcPts val="3062"/>
              </a:lnSpc>
            </a:pPr>
          </a:p>
          <a:p>
            <a:pPr algn="r">
              <a:lnSpc>
                <a:spcPts val="3062"/>
              </a:lnSpc>
            </a:pPr>
            <a:r>
              <a:rPr lang="en-US" sz="2551" u="sng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ar-EG" sz="2551" u="sng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rtl val="true"/>
              </a:rPr>
              <a:t>كل توصية يجب أن تعرض مصدرها وتاريخ تحديثها وحدود دقتها</a:t>
            </a:r>
            <a:r>
              <a:rPr lang="en-US" sz="2551" u="sng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08554" y="9077163"/>
            <a:ext cx="15502166" cy="35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A3E1E2"/>
                </a:solidFill>
                <a:latin typeface="Arial"/>
                <a:ea typeface="Arial"/>
                <a:cs typeface="Arial"/>
                <a:sym typeface="Arial"/>
              </a:rPr>
              <a:t>Field Shift • Data-backed decisions • Prototype research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DAHZIsee_mI</dc:identifier>
  <dcterms:modified xsi:type="dcterms:W3CDTF">2011-08-01T06:04:30Z</dcterms:modified>
  <cp:revision>1</cp:revision>
  <dc:title>Field_Shift_Egypt_Climate_Change_Integrated.pptx</dc:title>
</cp:coreProperties>
</file>